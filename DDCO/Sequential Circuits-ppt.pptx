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309" r:id="rId5"/>
    <p:sldId id="310" r:id="rId6"/>
    <p:sldId id="311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1594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29892" y="369570"/>
            <a:ext cx="6877050" cy="1031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33339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33339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33339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33339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25462" y="658812"/>
            <a:ext cx="382905" cy="474980"/>
          </a:xfrm>
          <a:custGeom>
            <a:avLst/>
            <a:gdLst/>
            <a:ahLst/>
            <a:cxnLst/>
            <a:rect l="l" t="t" r="r" b="b"/>
            <a:pathLst>
              <a:path w="382905" h="474980">
                <a:moveTo>
                  <a:pt x="0" y="474662"/>
                </a:moveTo>
                <a:lnTo>
                  <a:pt x="382587" y="474662"/>
                </a:lnTo>
                <a:lnTo>
                  <a:pt x="382587" y="0"/>
                </a:lnTo>
                <a:lnTo>
                  <a:pt x="0" y="0"/>
                </a:lnTo>
                <a:lnTo>
                  <a:pt x="0" y="474662"/>
                </a:lnTo>
                <a:close/>
              </a:path>
            </a:pathLst>
          </a:custGeom>
          <a:solidFill>
            <a:srgbClr val="FFC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8050" y="658812"/>
            <a:ext cx="328612" cy="474662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649287" y="1081087"/>
            <a:ext cx="370205" cy="474980"/>
          </a:xfrm>
          <a:custGeom>
            <a:avLst/>
            <a:gdLst/>
            <a:ahLst/>
            <a:cxnLst/>
            <a:rect l="l" t="t" r="r" b="b"/>
            <a:pathLst>
              <a:path w="370205" h="474980">
                <a:moveTo>
                  <a:pt x="0" y="474662"/>
                </a:moveTo>
                <a:lnTo>
                  <a:pt x="369887" y="474662"/>
                </a:lnTo>
                <a:lnTo>
                  <a:pt x="369887" y="0"/>
                </a:lnTo>
                <a:lnTo>
                  <a:pt x="0" y="0"/>
                </a:lnTo>
                <a:lnTo>
                  <a:pt x="0" y="474662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19175" y="1081087"/>
            <a:ext cx="368300" cy="474662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34950" y="1008126"/>
            <a:ext cx="560387" cy="422275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869950" y="550862"/>
            <a:ext cx="31750" cy="1052830"/>
          </a:xfrm>
          <a:custGeom>
            <a:avLst/>
            <a:gdLst/>
            <a:ahLst/>
            <a:cxnLst/>
            <a:rect l="l" t="t" r="r" b="b"/>
            <a:pathLst>
              <a:path w="31750" h="1052830">
                <a:moveTo>
                  <a:pt x="31750" y="822388"/>
                </a:moveTo>
                <a:lnTo>
                  <a:pt x="0" y="822388"/>
                </a:lnTo>
                <a:lnTo>
                  <a:pt x="0" y="1052512"/>
                </a:lnTo>
                <a:lnTo>
                  <a:pt x="31750" y="1052512"/>
                </a:lnTo>
                <a:lnTo>
                  <a:pt x="31750" y="822388"/>
                </a:lnTo>
                <a:close/>
              </a:path>
              <a:path w="31750" h="1052830">
                <a:moveTo>
                  <a:pt x="31750" y="0"/>
                </a:moveTo>
                <a:lnTo>
                  <a:pt x="0" y="0"/>
                </a:lnTo>
                <a:lnTo>
                  <a:pt x="0" y="790638"/>
                </a:lnTo>
                <a:lnTo>
                  <a:pt x="31750" y="790638"/>
                </a:lnTo>
                <a:lnTo>
                  <a:pt x="31750" y="0"/>
                </a:lnTo>
                <a:close/>
              </a:path>
            </a:pathLst>
          </a:custGeom>
          <a:solidFill>
            <a:srgbClr val="1C1C1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50862" y="1341501"/>
            <a:ext cx="8226425" cy="317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93444" y="-18161"/>
            <a:ext cx="7883728" cy="13686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33339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2742" y="1897761"/>
            <a:ext cx="8288655" cy="3063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88907" y="6586132"/>
            <a:ext cx="314959" cy="240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5179" y="2667000"/>
            <a:ext cx="7883728" cy="1297150"/>
          </a:xfrm>
          <a:prstGeom prst="rect">
            <a:avLst/>
          </a:prstGeom>
        </p:spPr>
        <p:txBody>
          <a:bodyPr vert="horz" wrap="square" lIns="0" tIns="796925" rIns="0" bIns="0" rtlCol="0">
            <a:spAutoFit/>
          </a:bodyPr>
          <a:lstStyle/>
          <a:p>
            <a:pPr marL="97790" algn="ctr">
              <a:lnSpc>
                <a:spcPct val="100000"/>
              </a:lnSpc>
              <a:spcBef>
                <a:spcPts val="105"/>
              </a:spcBef>
            </a:pPr>
            <a:r>
              <a:rPr lang="en-IN" sz="3200" b="1" dirty="0"/>
              <a:t>Sequential</a:t>
            </a:r>
            <a:r>
              <a:rPr lang="en-IN" sz="3200" b="1" spc="-40" dirty="0"/>
              <a:t> </a:t>
            </a:r>
            <a:r>
              <a:rPr lang="en-IN" sz="3200" b="1" spc="-10" dirty="0"/>
              <a:t>Circuits</a:t>
            </a:r>
            <a:endParaRPr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-18161"/>
            <a:ext cx="7883728" cy="696601"/>
          </a:xfrm>
          <a:prstGeom prst="rect">
            <a:avLst/>
          </a:prstGeom>
        </p:spPr>
        <p:txBody>
          <a:bodyPr vert="horz" wrap="square" lIns="0" tIns="263144" rIns="0" bIns="0" rtlCol="0">
            <a:spAutoFit/>
          </a:bodyPr>
          <a:lstStyle/>
          <a:p>
            <a:pPr marL="1270000" marR="5080" indent="-762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Tahoma"/>
                <a:cs typeface="Tahoma"/>
              </a:rPr>
              <a:t>Sequential</a:t>
            </a:r>
            <a:r>
              <a:rPr sz="2800" b="1" spc="-40" dirty="0">
                <a:latin typeface="Tahoma"/>
                <a:cs typeface="Tahoma"/>
              </a:rPr>
              <a:t> </a:t>
            </a:r>
            <a:r>
              <a:rPr sz="2800" b="1" spc="-10" dirty="0">
                <a:latin typeface="Tahoma"/>
                <a:cs typeface="Tahoma"/>
              </a:rPr>
              <a:t>Circuits</a:t>
            </a:r>
            <a:endParaRPr sz="2800" dirty="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4805" y="3919662"/>
            <a:ext cx="7785552" cy="23286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20"/>
              </a:spcBef>
            </a:pPr>
            <a:r>
              <a:rPr dirty="0"/>
              <a:t>Every</a:t>
            </a:r>
            <a:r>
              <a:rPr spc="-40" dirty="0"/>
              <a:t> </a:t>
            </a:r>
            <a:r>
              <a:rPr dirty="0"/>
              <a:t>digital</a:t>
            </a:r>
            <a:r>
              <a:rPr spc="-30" dirty="0"/>
              <a:t> </a:t>
            </a:r>
            <a:r>
              <a:rPr dirty="0"/>
              <a:t>system</a:t>
            </a:r>
            <a:r>
              <a:rPr spc="-3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likely</a:t>
            </a:r>
            <a:r>
              <a:rPr spc="-3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have</a:t>
            </a:r>
            <a:r>
              <a:rPr spc="-40" dirty="0"/>
              <a:t> </a:t>
            </a:r>
            <a:r>
              <a:rPr dirty="0"/>
              <a:t>combinational</a:t>
            </a:r>
            <a:r>
              <a:rPr spc="-55" dirty="0"/>
              <a:t> </a:t>
            </a:r>
            <a:r>
              <a:rPr spc="-10" dirty="0"/>
              <a:t>circuits, </a:t>
            </a:r>
            <a:r>
              <a:rPr dirty="0"/>
              <a:t>most</a:t>
            </a:r>
            <a:r>
              <a:rPr spc="-75" dirty="0"/>
              <a:t> </a:t>
            </a:r>
            <a:r>
              <a:rPr dirty="0"/>
              <a:t>systems</a:t>
            </a:r>
            <a:r>
              <a:rPr spc="-45" dirty="0"/>
              <a:t> </a:t>
            </a:r>
            <a:r>
              <a:rPr dirty="0"/>
              <a:t>encountered</a:t>
            </a:r>
            <a:r>
              <a:rPr spc="-85" dirty="0"/>
              <a:t> </a:t>
            </a:r>
            <a:r>
              <a:rPr dirty="0"/>
              <a:t>in</a:t>
            </a:r>
            <a:r>
              <a:rPr spc="-55" dirty="0"/>
              <a:t> </a:t>
            </a:r>
            <a:r>
              <a:rPr dirty="0"/>
              <a:t>practice</a:t>
            </a:r>
            <a:r>
              <a:rPr spc="-55" dirty="0"/>
              <a:t> </a:t>
            </a:r>
            <a:r>
              <a:rPr dirty="0"/>
              <a:t>also</a:t>
            </a:r>
            <a:r>
              <a:rPr spc="-55" dirty="0"/>
              <a:t> </a:t>
            </a:r>
            <a:r>
              <a:rPr dirty="0"/>
              <a:t>include</a:t>
            </a:r>
            <a:r>
              <a:rPr spc="-45" dirty="0"/>
              <a:t> </a:t>
            </a:r>
            <a:r>
              <a:rPr spc="-10" dirty="0">
                <a:solidFill>
                  <a:srgbClr val="3333CC"/>
                </a:solidFill>
              </a:rPr>
              <a:t>storage </a:t>
            </a:r>
            <a:r>
              <a:rPr dirty="0">
                <a:solidFill>
                  <a:srgbClr val="3333CC"/>
                </a:solidFill>
              </a:rPr>
              <a:t>elements</a:t>
            </a:r>
            <a:r>
              <a:rPr dirty="0"/>
              <a:t>,</a:t>
            </a:r>
            <a:r>
              <a:rPr spc="-55" dirty="0"/>
              <a:t> </a:t>
            </a:r>
            <a:r>
              <a:rPr dirty="0"/>
              <a:t>which</a:t>
            </a:r>
            <a:r>
              <a:rPr spc="-30" dirty="0"/>
              <a:t> </a:t>
            </a:r>
            <a:r>
              <a:rPr dirty="0"/>
              <a:t>require</a:t>
            </a:r>
            <a:r>
              <a:rPr spc="-65" dirty="0"/>
              <a:t> </a:t>
            </a:r>
            <a:r>
              <a:rPr dirty="0"/>
              <a:t>that</a:t>
            </a:r>
            <a:r>
              <a:rPr spc="-30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system</a:t>
            </a:r>
            <a:r>
              <a:rPr spc="-35" dirty="0"/>
              <a:t> </a:t>
            </a:r>
            <a:r>
              <a:rPr dirty="0"/>
              <a:t>be</a:t>
            </a:r>
            <a:r>
              <a:rPr spc="-50" dirty="0"/>
              <a:t> </a:t>
            </a:r>
            <a:r>
              <a:rPr dirty="0"/>
              <a:t>described</a:t>
            </a:r>
            <a:r>
              <a:rPr spc="-30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spc="-20" dirty="0"/>
              <a:t>term </a:t>
            </a:r>
            <a:r>
              <a:rPr dirty="0"/>
              <a:t>of</a:t>
            </a:r>
            <a:r>
              <a:rPr spc="-114" dirty="0"/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</a:rPr>
              <a:t>sequential</a:t>
            </a:r>
            <a:r>
              <a:rPr spc="-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FF0000"/>
                </a:solidFill>
                <a:latin typeface="Arial MT"/>
                <a:cs typeface="Arial MT"/>
              </a:rPr>
              <a:t>logic</a:t>
            </a:r>
            <a:r>
              <a:rPr spc="-1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300" b="1" dirty="0">
                <a:latin typeface="Tahoma"/>
                <a:cs typeface="Tahoma"/>
              </a:rPr>
              <a:t>Synchronous</a:t>
            </a:r>
            <a:r>
              <a:rPr sz="3300" b="1" spc="-70" dirty="0">
                <a:latin typeface="Tahoma"/>
                <a:cs typeface="Tahoma"/>
              </a:rPr>
              <a:t> </a:t>
            </a:r>
            <a:r>
              <a:rPr sz="3300" b="1" dirty="0">
                <a:latin typeface="Tahoma"/>
                <a:cs typeface="Tahoma"/>
              </a:rPr>
              <a:t>Clocked</a:t>
            </a:r>
            <a:r>
              <a:rPr sz="3300" b="1" spc="-40" dirty="0">
                <a:latin typeface="Tahoma"/>
                <a:cs typeface="Tahoma"/>
              </a:rPr>
              <a:t> </a:t>
            </a:r>
            <a:r>
              <a:rPr sz="3300" b="1" spc="-10" dirty="0">
                <a:latin typeface="Tahoma"/>
                <a:cs typeface="Tahoma"/>
              </a:rPr>
              <a:t>Sequential Circuit</a:t>
            </a:r>
            <a:endParaRPr sz="33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641" y="3190583"/>
            <a:ext cx="8033750" cy="346325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742" y="1805178"/>
            <a:ext cx="8315959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2743200" algn="l"/>
              </a:tabLst>
            </a:pPr>
            <a:r>
              <a:rPr sz="2400" dirty="0">
                <a:latin typeface="Tahoma"/>
                <a:cs typeface="Tahoma"/>
              </a:rPr>
              <a:t>A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sequential</a:t>
            </a:r>
            <a:r>
              <a:rPr sz="2400" spc="-10" dirty="0">
                <a:latin typeface="Tahoma"/>
                <a:cs typeface="Tahoma"/>
              </a:rPr>
              <a:t> circuit</a:t>
            </a:r>
            <a:r>
              <a:rPr sz="2400" dirty="0">
                <a:latin typeface="Tahoma"/>
                <a:cs typeface="Tahoma"/>
              </a:rPr>
              <a:t>	may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use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many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flip-flops</a:t>
            </a:r>
            <a:r>
              <a:rPr sz="2400" spc="-6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to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store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as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many </a:t>
            </a:r>
            <a:r>
              <a:rPr sz="2400" dirty="0">
                <a:latin typeface="Tahoma"/>
                <a:cs typeface="Tahoma"/>
              </a:rPr>
              <a:t>bits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as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necessary.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outputs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can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come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either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from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the </a:t>
            </a:r>
            <a:r>
              <a:rPr sz="2400" dirty="0">
                <a:latin typeface="Tahoma"/>
                <a:cs typeface="Tahoma"/>
              </a:rPr>
              <a:t>combinational</a:t>
            </a:r>
            <a:r>
              <a:rPr sz="2400" spc="-7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circuit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or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from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flip-flops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or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both.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57935-8BDE-D877-4565-DDAF1957E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457200"/>
            <a:ext cx="7883728" cy="677108"/>
          </a:xfrm>
        </p:spPr>
        <p:txBody>
          <a:bodyPr/>
          <a:lstStyle/>
          <a:p>
            <a:r>
              <a:rPr lang="en-US" dirty="0"/>
              <a:t>Sequential Circuits Types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106A6B-D5D8-04BF-893B-CF585D06F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24000"/>
            <a:ext cx="8049748" cy="463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736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22A44-1B32-2789-1791-6211A2E21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533400"/>
            <a:ext cx="7883728" cy="677108"/>
          </a:xfrm>
        </p:spPr>
        <p:txBody>
          <a:bodyPr/>
          <a:lstStyle/>
          <a:p>
            <a:r>
              <a:rPr lang="en-US" dirty="0"/>
              <a:t>Sequential Circuits Types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B555D0-13F3-58DD-8592-EFC223794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257" y="1923840"/>
            <a:ext cx="7773485" cy="301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13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9BDA8-12C6-43CF-6A55-8529A75CC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445" y="533400"/>
            <a:ext cx="7883728" cy="615553"/>
          </a:xfrm>
        </p:spPr>
        <p:txBody>
          <a:bodyPr/>
          <a:lstStyle/>
          <a:p>
            <a:r>
              <a:rPr lang="en-US" sz="4000" dirty="0"/>
              <a:t>Difference b/w Latch and Flipflop</a:t>
            </a:r>
            <a:endParaRPr lang="en-IN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58ADBC-D0C5-30BC-9AF5-3CF22C580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47799"/>
            <a:ext cx="7883727" cy="5410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591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71269" y="799287"/>
            <a:ext cx="554990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89985" algn="l"/>
              </a:tabLst>
            </a:pPr>
            <a:r>
              <a:rPr sz="3300" b="1" spc="-10" dirty="0">
                <a:solidFill>
                  <a:srgbClr val="333399"/>
                </a:solidFill>
                <a:latin typeface="Tahoma"/>
                <a:cs typeface="Tahoma"/>
              </a:rPr>
              <a:t>5-</a:t>
            </a:r>
            <a:r>
              <a:rPr sz="3300" b="1" dirty="0">
                <a:solidFill>
                  <a:srgbClr val="333399"/>
                </a:solidFill>
                <a:latin typeface="Tahoma"/>
                <a:cs typeface="Tahoma"/>
              </a:rPr>
              <a:t>2</a:t>
            </a:r>
            <a:r>
              <a:rPr sz="3300" b="1" spc="-25" dirty="0">
                <a:solidFill>
                  <a:srgbClr val="333399"/>
                </a:solidFill>
                <a:latin typeface="Tahoma"/>
                <a:cs typeface="Tahoma"/>
              </a:rPr>
              <a:t> </a:t>
            </a:r>
            <a:r>
              <a:rPr sz="3300" b="1" spc="-10" dirty="0">
                <a:solidFill>
                  <a:srgbClr val="333399"/>
                </a:solidFill>
                <a:latin typeface="Tahoma"/>
                <a:cs typeface="Tahoma"/>
              </a:rPr>
              <a:t>Latches</a:t>
            </a:r>
            <a:r>
              <a:rPr sz="3300" b="1" dirty="0">
                <a:solidFill>
                  <a:srgbClr val="333399"/>
                </a:solidFill>
                <a:latin typeface="Tahoma"/>
                <a:cs typeface="Tahoma"/>
              </a:rPr>
              <a:t>	SR</a:t>
            </a:r>
            <a:r>
              <a:rPr sz="3300" b="1" spc="-25" dirty="0">
                <a:solidFill>
                  <a:srgbClr val="333399"/>
                </a:solidFill>
                <a:latin typeface="Tahoma"/>
                <a:cs typeface="Tahoma"/>
              </a:rPr>
              <a:t> </a:t>
            </a:r>
            <a:r>
              <a:rPr sz="3300" b="1" spc="-10" dirty="0">
                <a:solidFill>
                  <a:srgbClr val="333399"/>
                </a:solidFill>
                <a:latin typeface="Tahoma"/>
                <a:cs typeface="Tahoma"/>
              </a:rPr>
              <a:t>Latch</a:t>
            </a:r>
            <a:endParaRPr sz="33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88005" y="3396764"/>
            <a:ext cx="8379459" cy="3315970"/>
            <a:chOff x="388005" y="3396764"/>
            <a:chExt cx="8379459" cy="33159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8005" y="3396764"/>
              <a:ext cx="8379421" cy="33154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537200" y="4221099"/>
              <a:ext cx="85725" cy="1369060"/>
            </a:xfrm>
            <a:custGeom>
              <a:avLst/>
              <a:gdLst/>
              <a:ahLst/>
              <a:cxnLst/>
              <a:rect l="l" t="t" r="r" b="b"/>
              <a:pathLst>
                <a:path w="85725" h="1369060">
                  <a:moveTo>
                    <a:pt x="28575" y="1282700"/>
                  </a:moveTo>
                  <a:lnTo>
                    <a:pt x="0" y="1282700"/>
                  </a:lnTo>
                  <a:lnTo>
                    <a:pt x="42799" y="1368488"/>
                  </a:lnTo>
                  <a:lnTo>
                    <a:pt x="78544" y="1297051"/>
                  </a:lnTo>
                  <a:lnTo>
                    <a:pt x="28575" y="1297051"/>
                  </a:lnTo>
                  <a:lnTo>
                    <a:pt x="28575" y="1282700"/>
                  </a:lnTo>
                  <a:close/>
                </a:path>
                <a:path w="85725" h="1369060">
                  <a:moveTo>
                    <a:pt x="57150" y="0"/>
                  </a:moveTo>
                  <a:lnTo>
                    <a:pt x="28575" y="0"/>
                  </a:lnTo>
                  <a:lnTo>
                    <a:pt x="28575" y="1297051"/>
                  </a:lnTo>
                  <a:lnTo>
                    <a:pt x="57150" y="1297051"/>
                  </a:lnTo>
                  <a:lnTo>
                    <a:pt x="57150" y="0"/>
                  </a:lnTo>
                  <a:close/>
                </a:path>
                <a:path w="85725" h="1369060">
                  <a:moveTo>
                    <a:pt x="85725" y="1282700"/>
                  </a:moveTo>
                  <a:lnTo>
                    <a:pt x="57150" y="1282700"/>
                  </a:lnTo>
                  <a:lnTo>
                    <a:pt x="57150" y="1297051"/>
                  </a:lnTo>
                  <a:lnTo>
                    <a:pt x="78544" y="1297051"/>
                  </a:lnTo>
                  <a:lnTo>
                    <a:pt x="85725" y="12827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58267" y="1876501"/>
            <a:ext cx="826643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The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SR</a:t>
            </a:r>
            <a:r>
              <a:rPr sz="24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latch</a:t>
            </a:r>
            <a:r>
              <a:rPr sz="2400" spc="-1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is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circuit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with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two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cross-</a:t>
            </a:r>
            <a:r>
              <a:rPr sz="2400" dirty="0">
                <a:latin typeface="Tahoma"/>
                <a:cs typeface="Tahoma"/>
              </a:rPr>
              <a:t>coupled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NOR</a:t>
            </a:r>
            <a:r>
              <a:rPr sz="24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gates</a:t>
            </a:r>
            <a:r>
              <a:rPr sz="2400" spc="-1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or </a:t>
            </a:r>
            <a:r>
              <a:rPr sz="2400" dirty="0">
                <a:latin typeface="Tahoma"/>
                <a:cs typeface="Tahoma"/>
              </a:rPr>
              <a:t>two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cross-</a:t>
            </a:r>
            <a:r>
              <a:rPr sz="2400" dirty="0">
                <a:latin typeface="Tahoma"/>
                <a:cs typeface="Tahoma"/>
              </a:rPr>
              <a:t>coupled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NAND</a:t>
            </a:r>
            <a:r>
              <a:rPr sz="2400" spc="-1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gates</a:t>
            </a:r>
            <a:r>
              <a:rPr sz="2400" dirty="0">
                <a:latin typeface="Tahoma"/>
                <a:cs typeface="Tahoma"/>
              </a:rPr>
              <a:t>.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It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has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two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inputs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labeled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S </a:t>
            </a:r>
            <a:r>
              <a:rPr sz="2400" dirty="0">
                <a:latin typeface="Tahoma"/>
                <a:cs typeface="Tahoma"/>
              </a:rPr>
              <a:t>for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set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and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R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for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reset.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0148" rIns="0" bIns="0" rtlCol="0">
            <a:spAutoFit/>
          </a:bodyPr>
          <a:lstStyle/>
          <a:p>
            <a:pPr marL="448945">
              <a:lnSpc>
                <a:spcPct val="100000"/>
              </a:lnSpc>
              <a:spcBef>
                <a:spcPts val="100"/>
              </a:spcBef>
            </a:pPr>
            <a:r>
              <a:rPr sz="3300" b="1" dirty="0">
                <a:latin typeface="Tahoma"/>
                <a:cs typeface="Tahoma"/>
              </a:rPr>
              <a:t>SR</a:t>
            </a:r>
            <a:r>
              <a:rPr sz="3300" b="1" spc="-55" dirty="0">
                <a:latin typeface="Tahoma"/>
                <a:cs typeface="Tahoma"/>
              </a:rPr>
              <a:t> </a:t>
            </a:r>
            <a:r>
              <a:rPr sz="3300" b="1" dirty="0">
                <a:latin typeface="Tahoma"/>
                <a:cs typeface="Tahoma"/>
              </a:rPr>
              <a:t>Latch</a:t>
            </a:r>
            <a:r>
              <a:rPr sz="3300" b="1" spc="-40" dirty="0">
                <a:latin typeface="Tahoma"/>
                <a:cs typeface="Tahoma"/>
              </a:rPr>
              <a:t> </a:t>
            </a:r>
            <a:r>
              <a:rPr sz="3300" b="1" dirty="0">
                <a:latin typeface="Tahoma"/>
                <a:cs typeface="Tahoma"/>
              </a:rPr>
              <a:t>with</a:t>
            </a:r>
            <a:r>
              <a:rPr sz="3300" b="1" spc="-35" dirty="0">
                <a:latin typeface="Tahoma"/>
                <a:cs typeface="Tahoma"/>
              </a:rPr>
              <a:t> </a:t>
            </a:r>
            <a:r>
              <a:rPr sz="3300" b="1" dirty="0">
                <a:latin typeface="Tahoma"/>
                <a:cs typeface="Tahoma"/>
              </a:rPr>
              <a:t>NAND</a:t>
            </a:r>
            <a:r>
              <a:rPr sz="3300" b="1" spc="-45" dirty="0">
                <a:latin typeface="Tahoma"/>
                <a:cs typeface="Tahoma"/>
              </a:rPr>
              <a:t> </a:t>
            </a:r>
            <a:r>
              <a:rPr sz="3300" b="1" spc="-10" dirty="0">
                <a:latin typeface="Tahoma"/>
                <a:cs typeface="Tahoma"/>
              </a:rPr>
              <a:t>Gates</a:t>
            </a:r>
            <a:endParaRPr sz="33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30846" y="2032102"/>
            <a:ext cx="8379459" cy="4658995"/>
            <a:chOff x="330846" y="2032102"/>
            <a:chExt cx="8379459" cy="46589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0846" y="2032102"/>
              <a:ext cx="8379421" cy="465843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465698" y="3141598"/>
              <a:ext cx="85725" cy="1656080"/>
            </a:xfrm>
            <a:custGeom>
              <a:avLst/>
              <a:gdLst/>
              <a:ahLst/>
              <a:cxnLst/>
              <a:rect l="l" t="t" r="r" b="b"/>
              <a:pathLst>
                <a:path w="85725" h="1656079">
                  <a:moveTo>
                    <a:pt x="28575" y="1570101"/>
                  </a:moveTo>
                  <a:lnTo>
                    <a:pt x="0" y="1570101"/>
                  </a:lnTo>
                  <a:lnTo>
                    <a:pt x="42925" y="1655826"/>
                  </a:lnTo>
                  <a:lnTo>
                    <a:pt x="78623" y="1584325"/>
                  </a:lnTo>
                  <a:lnTo>
                    <a:pt x="28575" y="1584325"/>
                  </a:lnTo>
                  <a:lnTo>
                    <a:pt x="28575" y="1570101"/>
                  </a:lnTo>
                  <a:close/>
                </a:path>
                <a:path w="85725" h="1656079">
                  <a:moveTo>
                    <a:pt x="57150" y="0"/>
                  </a:moveTo>
                  <a:lnTo>
                    <a:pt x="28575" y="0"/>
                  </a:lnTo>
                  <a:lnTo>
                    <a:pt x="28575" y="1584325"/>
                  </a:lnTo>
                  <a:lnTo>
                    <a:pt x="57150" y="1584325"/>
                  </a:lnTo>
                  <a:lnTo>
                    <a:pt x="57150" y="0"/>
                  </a:lnTo>
                  <a:close/>
                </a:path>
                <a:path w="85725" h="1656079">
                  <a:moveTo>
                    <a:pt x="85725" y="1570101"/>
                  </a:moveTo>
                  <a:lnTo>
                    <a:pt x="57150" y="1570101"/>
                  </a:lnTo>
                  <a:lnTo>
                    <a:pt x="57150" y="1584325"/>
                  </a:lnTo>
                  <a:lnTo>
                    <a:pt x="78623" y="1584325"/>
                  </a:lnTo>
                  <a:lnTo>
                    <a:pt x="85725" y="157010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2373" rIns="0" bIns="0" rtlCol="0">
            <a:spAutoFit/>
          </a:bodyPr>
          <a:lstStyle/>
          <a:p>
            <a:pPr marL="448945">
              <a:lnSpc>
                <a:spcPct val="100000"/>
              </a:lnSpc>
              <a:spcBef>
                <a:spcPts val="100"/>
              </a:spcBef>
            </a:pPr>
            <a:r>
              <a:rPr sz="3300" b="1" dirty="0">
                <a:latin typeface="Tahoma"/>
                <a:cs typeface="Tahoma"/>
              </a:rPr>
              <a:t>SR</a:t>
            </a:r>
            <a:r>
              <a:rPr sz="3300" b="1" spc="-50" dirty="0">
                <a:latin typeface="Tahoma"/>
                <a:cs typeface="Tahoma"/>
              </a:rPr>
              <a:t> </a:t>
            </a:r>
            <a:r>
              <a:rPr sz="3300" b="1" dirty="0">
                <a:latin typeface="Tahoma"/>
                <a:cs typeface="Tahoma"/>
              </a:rPr>
              <a:t>Latch</a:t>
            </a:r>
            <a:r>
              <a:rPr sz="3300" b="1" spc="-40" dirty="0">
                <a:latin typeface="Tahoma"/>
                <a:cs typeface="Tahoma"/>
              </a:rPr>
              <a:t> </a:t>
            </a:r>
            <a:r>
              <a:rPr sz="3300" b="1" dirty="0">
                <a:latin typeface="Tahoma"/>
                <a:cs typeface="Tahoma"/>
              </a:rPr>
              <a:t>with</a:t>
            </a:r>
            <a:r>
              <a:rPr sz="3300" b="1" spc="-30" dirty="0">
                <a:latin typeface="Tahoma"/>
                <a:cs typeface="Tahoma"/>
              </a:rPr>
              <a:t> </a:t>
            </a:r>
            <a:r>
              <a:rPr sz="3300" b="1" dirty="0">
                <a:latin typeface="Tahoma"/>
                <a:cs typeface="Tahoma"/>
              </a:rPr>
              <a:t>Control</a:t>
            </a:r>
            <a:r>
              <a:rPr sz="3300" b="1" spc="-50" dirty="0">
                <a:latin typeface="Tahoma"/>
                <a:cs typeface="Tahoma"/>
              </a:rPr>
              <a:t> </a:t>
            </a:r>
            <a:r>
              <a:rPr sz="3300" b="1" spc="-10" dirty="0">
                <a:latin typeface="Tahoma"/>
                <a:cs typeface="Tahoma"/>
              </a:rPr>
              <a:t>Input</a:t>
            </a:r>
            <a:endParaRPr sz="33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75106" y="3471581"/>
            <a:ext cx="8413115" cy="3324225"/>
            <a:chOff x="375106" y="3471581"/>
            <a:chExt cx="8413115" cy="33242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5106" y="3471581"/>
              <a:ext cx="8412907" cy="332409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227826" y="5229225"/>
              <a:ext cx="2305050" cy="215900"/>
            </a:xfrm>
            <a:custGeom>
              <a:avLst/>
              <a:gdLst/>
              <a:ahLst/>
              <a:cxnLst/>
              <a:rect l="l" t="t" r="r" b="b"/>
              <a:pathLst>
                <a:path w="2305050" h="215900">
                  <a:moveTo>
                    <a:pt x="0" y="215900"/>
                  </a:moveTo>
                  <a:lnTo>
                    <a:pt x="2305050" y="215900"/>
                  </a:lnTo>
                  <a:lnTo>
                    <a:pt x="2305050" y="0"/>
                  </a:lnTo>
                  <a:lnTo>
                    <a:pt x="0" y="0"/>
                  </a:lnTo>
                  <a:lnTo>
                    <a:pt x="0" y="215900"/>
                  </a:lnTo>
                  <a:close/>
                </a:path>
              </a:pathLst>
            </a:custGeom>
            <a:ln w="95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58267" y="1660652"/>
            <a:ext cx="834072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8227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The</a:t>
            </a:r>
            <a:r>
              <a:rPr sz="2400" spc="409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operation</a:t>
            </a:r>
            <a:r>
              <a:rPr sz="2400" spc="409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of</a:t>
            </a:r>
            <a:r>
              <a:rPr sz="2400" spc="409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409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basic</a:t>
            </a:r>
            <a:r>
              <a:rPr sz="2400" spc="4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SR</a:t>
            </a:r>
            <a:r>
              <a:rPr sz="2400" spc="4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latch</a:t>
            </a:r>
            <a:r>
              <a:rPr sz="2400" spc="409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can</a:t>
            </a:r>
            <a:r>
              <a:rPr sz="2400" spc="40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be</a:t>
            </a:r>
            <a:r>
              <a:rPr sz="2400" spc="40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modified</a:t>
            </a:r>
            <a:r>
              <a:rPr sz="2400" spc="42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by </a:t>
            </a:r>
            <a:r>
              <a:rPr sz="2400" dirty="0">
                <a:latin typeface="Tahoma"/>
                <a:cs typeface="Tahoma"/>
              </a:rPr>
              <a:t>providing</a:t>
            </a:r>
            <a:r>
              <a:rPr sz="2400" spc="434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an</a:t>
            </a:r>
            <a:r>
              <a:rPr sz="2400" spc="4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additional</a:t>
            </a:r>
            <a:r>
              <a:rPr sz="2400" spc="4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control</a:t>
            </a:r>
            <a:r>
              <a:rPr sz="2400" spc="4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input</a:t>
            </a:r>
            <a:r>
              <a:rPr sz="2400" spc="4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that</a:t>
            </a:r>
            <a:r>
              <a:rPr sz="2400" spc="4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determines</a:t>
            </a:r>
            <a:r>
              <a:rPr sz="2400" spc="43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when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9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state</a:t>
            </a:r>
            <a:r>
              <a:rPr sz="2400" spc="8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of</a:t>
            </a:r>
            <a:r>
              <a:rPr sz="2400" spc="10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9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latch</a:t>
            </a:r>
            <a:r>
              <a:rPr sz="2400" spc="8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can</a:t>
            </a:r>
            <a:r>
              <a:rPr sz="2400" spc="10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be</a:t>
            </a:r>
            <a:r>
              <a:rPr sz="2400" spc="9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changed.</a:t>
            </a:r>
            <a:r>
              <a:rPr sz="2400" spc="9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</a:t>
            </a:r>
            <a:r>
              <a:rPr sz="2400" spc="9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Fig.</a:t>
            </a:r>
            <a:r>
              <a:rPr sz="2400" spc="9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5-</a:t>
            </a:r>
            <a:r>
              <a:rPr sz="2400" dirty="0">
                <a:latin typeface="Tahoma"/>
                <a:cs typeface="Tahoma"/>
              </a:rPr>
              <a:t>5,</a:t>
            </a:r>
            <a:r>
              <a:rPr sz="2400" spc="9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it</a:t>
            </a:r>
            <a:r>
              <a:rPr sz="2400" spc="9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consists </a:t>
            </a:r>
            <a:r>
              <a:rPr sz="2400" dirty="0">
                <a:latin typeface="Tahoma"/>
                <a:cs typeface="Tahoma"/>
              </a:rPr>
              <a:t>of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basic</a:t>
            </a:r>
            <a:r>
              <a:rPr sz="2400" spc="-1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SR</a:t>
            </a:r>
            <a:r>
              <a:rPr sz="24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latch</a:t>
            </a:r>
            <a:r>
              <a:rPr sz="24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and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two</a:t>
            </a:r>
            <a:r>
              <a:rPr sz="2400" spc="-2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additional</a:t>
            </a:r>
            <a:r>
              <a:rPr sz="24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NAND</a:t>
            </a:r>
            <a:r>
              <a:rPr sz="24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ahoma"/>
                <a:cs typeface="Tahoma"/>
              </a:rPr>
              <a:t>gates</a:t>
            </a:r>
            <a:r>
              <a:rPr sz="2400" spc="-10" dirty="0">
                <a:latin typeface="Tahoma"/>
                <a:cs typeface="Tahoma"/>
              </a:rPr>
              <a:t>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-18161"/>
            <a:ext cx="7883728" cy="1876360"/>
          </a:xfrm>
          <a:prstGeom prst="rect">
            <a:avLst/>
          </a:prstGeom>
        </p:spPr>
        <p:txBody>
          <a:bodyPr vert="horz" wrap="square" lIns="0" tIns="852373" rIns="0" bIns="0" rtlCol="0">
            <a:spAutoFit/>
          </a:bodyPr>
          <a:lstStyle/>
          <a:p>
            <a:pPr marL="448945">
              <a:lnSpc>
                <a:spcPct val="100000"/>
              </a:lnSpc>
              <a:spcBef>
                <a:spcPts val="100"/>
              </a:spcBef>
            </a:pPr>
            <a:r>
              <a:rPr sz="3300" b="1" dirty="0">
                <a:latin typeface="Tahoma"/>
                <a:cs typeface="Tahoma"/>
              </a:rPr>
              <a:t>D</a:t>
            </a:r>
            <a:r>
              <a:rPr sz="3300" b="1" spc="-15" dirty="0">
                <a:latin typeface="Tahoma"/>
                <a:cs typeface="Tahoma"/>
              </a:rPr>
              <a:t> </a:t>
            </a:r>
            <a:r>
              <a:rPr sz="3300" b="1" spc="-10" dirty="0">
                <a:latin typeface="Tahoma"/>
                <a:cs typeface="Tahoma"/>
              </a:rPr>
              <a:t>Latch</a:t>
            </a:r>
            <a:r>
              <a:rPr lang="en-US" sz="3300" b="1" spc="-10" dirty="0">
                <a:latin typeface="Tahoma"/>
                <a:cs typeface="Tahoma"/>
              </a:rPr>
              <a:t> (Transparent Latch)</a:t>
            </a:r>
            <a:br>
              <a:rPr lang="en-US" sz="3300" b="1" spc="-10" dirty="0">
                <a:latin typeface="Tahoma"/>
                <a:cs typeface="Tahoma"/>
              </a:rPr>
            </a:br>
            <a:endParaRPr sz="3300" dirty="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215" y="3346746"/>
            <a:ext cx="8255664" cy="345050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29590" y="1731975"/>
            <a:ext cx="810768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One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way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to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eliminate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undesirable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condition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of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the </a:t>
            </a:r>
            <a:r>
              <a:rPr sz="2400" dirty="0">
                <a:latin typeface="Tahoma"/>
                <a:cs typeface="Tahoma"/>
              </a:rPr>
              <a:t>indeterminate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state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SR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latch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is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to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ensure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that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3333CC"/>
                </a:solidFill>
                <a:latin typeface="Tahoma"/>
                <a:cs typeface="Tahoma"/>
              </a:rPr>
              <a:t>inputs</a:t>
            </a:r>
            <a:r>
              <a:rPr sz="2400" spc="-40" dirty="0">
                <a:solidFill>
                  <a:srgbClr val="3333CC"/>
                </a:solidFill>
                <a:latin typeface="Tahoma"/>
                <a:cs typeface="Tahoma"/>
              </a:rPr>
              <a:t> </a:t>
            </a:r>
            <a:r>
              <a:rPr sz="2400" spc="-50" dirty="0">
                <a:solidFill>
                  <a:srgbClr val="3333CC"/>
                </a:solidFill>
                <a:latin typeface="Tahoma"/>
                <a:cs typeface="Tahoma"/>
              </a:rPr>
              <a:t>S </a:t>
            </a:r>
            <a:r>
              <a:rPr sz="2400" dirty="0">
                <a:solidFill>
                  <a:srgbClr val="3333CC"/>
                </a:solidFill>
                <a:latin typeface="Tahoma"/>
                <a:cs typeface="Tahoma"/>
              </a:rPr>
              <a:t>and</a:t>
            </a:r>
            <a:r>
              <a:rPr sz="2400" spc="-40" dirty="0">
                <a:solidFill>
                  <a:srgbClr val="3333CC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3333CC"/>
                </a:solidFill>
                <a:latin typeface="Tahoma"/>
                <a:cs typeface="Tahoma"/>
              </a:rPr>
              <a:t>R</a:t>
            </a:r>
            <a:r>
              <a:rPr sz="2400" spc="-30" dirty="0">
                <a:solidFill>
                  <a:srgbClr val="3333CC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3333CC"/>
                </a:solidFill>
                <a:latin typeface="Tahoma"/>
                <a:cs typeface="Tahoma"/>
              </a:rPr>
              <a:t>are</a:t>
            </a:r>
            <a:r>
              <a:rPr sz="2400" spc="-25" dirty="0">
                <a:solidFill>
                  <a:srgbClr val="3333CC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3333CC"/>
                </a:solidFill>
                <a:latin typeface="Tahoma"/>
                <a:cs typeface="Tahoma"/>
              </a:rPr>
              <a:t>never</a:t>
            </a:r>
            <a:r>
              <a:rPr sz="2400" spc="-20" dirty="0">
                <a:solidFill>
                  <a:srgbClr val="3333CC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3333CC"/>
                </a:solidFill>
                <a:latin typeface="Tahoma"/>
                <a:cs typeface="Tahoma"/>
              </a:rPr>
              <a:t>equal</a:t>
            </a:r>
            <a:r>
              <a:rPr sz="2400" spc="-35" dirty="0">
                <a:solidFill>
                  <a:srgbClr val="3333CC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3333CC"/>
                </a:solidFill>
                <a:latin typeface="Tahoma"/>
                <a:cs typeface="Tahoma"/>
              </a:rPr>
              <a:t>to</a:t>
            </a:r>
            <a:r>
              <a:rPr sz="2400" spc="-20" dirty="0">
                <a:solidFill>
                  <a:srgbClr val="3333CC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3333CC"/>
                </a:solidFill>
                <a:latin typeface="Tahoma"/>
                <a:cs typeface="Tahoma"/>
              </a:rPr>
              <a:t>1</a:t>
            </a:r>
            <a:r>
              <a:rPr sz="2400" spc="-30" dirty="0">
                <a:solidFill>
                  <a:srgbClr val="3333CC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3333CC"/>
                </a:solidFill>
                <a:latin typeface="Tahoma"/>
                <a:cs typeface="Tahoma"/>
              </a:rPr>
              <a:t>at</a:t>
            </a:r>
            <a:r>
              <a:rPr sz="2400" spc="-25" dirty="0">
                <a:solidFill>
                  <a:srgbClr val="3333CC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3333CC"/>
                </a:solidFill>
                <a:latin typeface="Tahoma"/>
                <a:cs typeface="Tahoma"/>
              </a:rPr>
              <a:t>the</a:t>
            </a:r>
            <a:r>
              <a:rPr sz="2400" spc="-30" dirty="0">
                <a:solidFill>
                  <a:srgbClr val="3333CC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3333CC"/>
                </a:solidFill>
                <a:latin typeface="Tahoma"/>
                <a:cs typeface="Tahoma"/>
              </a:rPr>
              <a:t>same</a:t>
            </a:r>
            <a:r>
              <a:rPr sz="2400" spc="-25" dirty="0">
                <a:solidFill>
                  <a:srgbClr val="3333CC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3333CC"/>
                </a:solidFill>
                <a:latin typeface="Tahoma"/>
                <a:cs typeface="Tahoma"/>
              </a:rPr>
              <a:t>time</a:t>
            </a:r>
            <a:r>
              <a:rPr sz="2400" spc="-20" dirty="0">
                <a:solidFill>
                  <a:srgbClr val="3333CC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3333CC"/>
                </a:solidFill>
                <a:latin typeface="Tahoma"/>
                <a:cs typeface="Tahoma"/>
              </a:rPr>
              <a:t>in</a:t>
            </a:r>
            <a:r>
              <a:rPr sz="2400" spc="-25" dirty="0">
                <a:solidFill>
                  <a:srgbClr val="3333CC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3333CC"/>
                </a:solidFill>
                <a:latin typeface="Tahoma"/>
                <a:cs typeface="Tahoma"/>
              </a:rPr>
              <a:t>Fig</a:t>
            </a:r>
            <a:r>
              <a:rPr sz="2400" spc="-15" dirty="0">
                <a:solidFill>
                  <a:srgbClr val="3333CC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3333CC"/>
                </a:solidFill>
                <a:latin typeface="Tahoma"/>
                <a:cs typeface="Tahoma"/>
              </a:rPr>
              <a:t>5-</a:t>
            </a:r>
            <a:r>
              <a:rPr sz="2400" dirty="0">
                <a:solidFill>
                  <a:srgbClr val="3333CC"/>
                </a:solidFill>
                <a:latin typeface="Tahoma"/>
                <a:cs typeface="Tahoma"/>
              </a:rPr>
              <a:t>5</a:t>
            </a:r>
            <a:r>
              <a:rPr sz="2400" dirty="0">
                <a:latin typeface="Tahoma"/>
                <a:cs typeface="Tahoma"/>
              </a:rPr>
              <a:t>.</a:t>
            </a:r>
            <a:r>
              <a:rPr sz="2400" spc="-20" dirty="0">
                <a:latin typeface="Tahoma"/>
                <a:cs typeface="Tahoma"/>
              </a:rPr>
              <a:t> This </a:t>
            </a:r>
            <a:r>
              <a:rPr sz="2400" dirty="0">
                <a:latin typeface="Tahoma"/>
                <a:cs typeface="Tahoma"/>
              </a:rPr>
              <a:t>is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done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D</a:t>
            </a:r>
            <a:r>
              <a:rPr sz="2400" spc="-1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ahoma"/>
                <a:cs typeface="Tahoma"/>
              </a:rPr>
              <a:t>latch</a:t>
            </a:r>
            <a:r>
              <a:rPr sz="2400" spc="-10" dirty="0">
                <a:latin typeface="Tahoma"/>
                <a:cs typeface="Tahoma"/>
              </a:rPr>
              <a:t>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2373" rIns="0" bIns="0" rtlCol="0">
            <a:spAutoFit/>
          </a:bodyPr>
          <a:lstStyle/>
          <a:p>
            <a:pPr marL="448945">
              <a:lnSpc>
                <a:spcPct val="100000"/>
              </a:lnSpc>
              <a:spcBef>
                <a:spcPts val="100"/>
              </a:spcBef>
            </a:pPr>
            <a:r>
              <a:rPr sz="3300" b="1" dirty="0">
                <a:latin typeface="Tahoma"/>
                <a:cs typeface="Tahoma"/>
              </a:rPr>
              <a:t>Graphic</a:t>
            </a:r>
            <a:r>
              <a:rPr sz="3300" b="1" spc="-70" dirty="0">
                <a:latin typeface="Tahoma"/>
                <a:cs typeface="Tahoma"/>
              </a:rPr>
              <a:t> </a:t>
            </a:r>
            <a:r>
              <a:rPr sz="3300" b="1" dirty="0">
                <a:latin typeface="Tahoma"/>
                <a:cs typeface="Tahoma"/>
              </a:rPr>
              <a:t>Symbols</a:t>
            </a:r>
            <a:r>
              <a:rPr sz="3300" b="1" spc="-40" dirty="0">
                <a:latin typeface="Tahoma"/>
                <a:cs typeface="Tahoma"/>
              </a:rPr>
              <a:t> </a:t>
            </a:r>
            <a:r>
              <a:rPr sz="3300" b="1" dirty="0">
                <a:latin typeface="Tahoma"/>
                <a:cs typeface="Tahoma"/>
              </a:rPr>
              <a:t>for</a:t>
            </a:r>
            <a:r>
              <a:rPr sz="3300" b="1" spc="-55" dirty="0">
                <a:latin typeface="Tahoma"/>
                <a:cs typeface="Tahoma"/>
              </a:rPr>
              <a:t> </a:t>
            </a:r>
            <a:r>
              <a:rPr sz="3300" b="1" spc="-10" dirty="0">
                <a:latin typeface="Tahoma"/>
                <a:cs typeface="Tahoma"/>
              </a:rPr>
              <a:t>latches</a:t>
            </a:r>
            <a:endParaRPr sz="33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1581" y="3605980"/>
            <a:ext cx="8133294" cy="320777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82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40" dirty="0"/>
              <a:t> </a:t>
            </a:r>
            <a:r>
              <a:rPr dirty="0"/>
              <a:t>latch</a:t>
            </a:r>
            <a:r>
              <a:rPr spc="-20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dirty="0"/>
              <a:t>designated</a:t>
            </a:r>
            <a:r>
              <a:rPr spc="-35" dirty="0"/>
              <a:t> </a:t>
            </a:r>
            <a:r>
              <a:rPr dirty="0"/>
              <a:t>by</a:t>
            </a:r>
            <a:r>
              <a:rPr spc="-35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rectangular</a:t>
            </a:r>
            <a:r>
              <a:rPr spc="-40" dirty="0"/>
              <a:t> </a:t>
            </a:r>
            <a:r>
              <a:rPr dirty="0"/>
              <a:t>block</a:t>
            </a:r>
            <a:r>
              <a:rPr spc="-30" dirty="0"/>
              <a:t> </a:t>
            </a:r>
            <a:r>
              <a:rPr dirty="0"/>
              <a:t>with</a:t>
            </a:r>
            <a:r>
              <a:rPr spc="-20" dirty="0"/>
              <a:t> </a:t>
            </a:r>
            <a:r>
              <a:rPr dirty="0"/>
              <a:t>inputs</a:t>
            </a:r>
            <a:r>
              <a:rPr spc="-45" dirty="0"/>
              <a:t> </a:t>
            </a:r>
            <a:r>
              <a:rPr spc="-25" dirty="0"/>
              <a:t>on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left</a:t>
            </a:r>
            <a:r>
              <a:rPr spc="-1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outputs</a:t>
            </a:r>
            <a:r>
              <a:rPr spc="-45" dirty="0"/>
              <a:t> </a:t>
            </a:r>
            <a:r>
              <a:rPr dirty="0"/>
              <a:t>on</a:t>
            </a:r>
            <a:r>
              <a:rPr spc="-1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right.</a:t>
            </a:r>
            <a:r>
              <a:rPr spc="-30" dirty="0"/>
              <a:t> </a:t>
            </a:r>
            <a:r>
              <a:rPr dirty="0"/>
              <a:t>One</a:t>
            </a:r>
            <a:r>
              <a:rPr spc="-40" dirty="0"/>
              <a:t> </a:t>
            </a:r>
            <a:r>
              <a:rPr dirty="0"/>
              <a:t>output</a:t>
            </a:r>
            <a:r>
              <a:rPr spc="-40" dirty="0"/>
              <a:t> </a:t>
            </a:r>
            <a:r>
              <a:rPr dirty="0"/>
              <a:t>designates</a:t>
            </a:r>
            <a:r>
              <a:rPr spc="-35" dirty="0"/>
              <a:t> </a:t>
            </a:r>
            <a:r>
              <a:rPr spc="-25" dirty="0"/>
              <a:t>the </a:t>
            </a:r>
            <a:r>
              <a:rPr dirty="0"/>
              <a:t>normal</a:t>
            </a:r>
            <a:r>
              <a:rPr spc="-45" dirty="0"/>
              <a:t> </a:t>
            </a:r>
            <a:r>
              <a:rPr dirty="0"/>
              <a:t>output,</a:t>
            </a:r>
            <a:r>
              <a:rPr spc="-50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other</a:t>
            </a:r>
            <a:r>
              <a:rPr spc="-40" dirty="0"/>
              <a:t> </a:t>
            </a:r>
            <a:r>
              <a:rPr dirty="0"/>
              <a:t>designates</a:t>
            </a:r>
            <a:r>
              <a:rPr spc="-25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spc="-10" dirty="0"/>
              <a:t>complement output.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29892" y="821512"/>
            <a:ext cx="3401695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36675" algn="l"/>
              </a:tabLst>
            </a:pPr>
            <a:r>
              <a:rPr sz="3300" b="1" spc="-10" dirty="0">
                <a:latin typeface="Tahoma"/>
                <a:cs typeface="Tahoma"/>
              </a:rPr>
              <a:t>5-</a:t>
            </a:r>
            <a:r>
              <a:rPr sz="3300" b="1" spc="-50" dirty="0">
                <a:latin typeface="Tahoma"/>
                <a:cs typeface="Tahoma"/>
              </a:rPr>
              <a:t>3</a:t>
            </a:r>
            <a:r>
              <a:rPr sz="3300" b="1" dirty="0">
                <a:latin typeface="Tahoma"/>
                <a:cs typeface="Tahoma"/>
              </a:rPr>
              <a:t>	</a:t>
            </a:r>
            <a:r>
              <a:rPr sz="3300" b="1" spc="-10" dirty="0">
                <a:latin typeface="Tahoma"/>
                <a:cs typeface="Tahoma"/>
              </a:rPr>
              <a:t>Flip-Flops</a:t>
            </a:r>
            <a:endParaRPr sz="33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12700" marR="5080" indent="382270" algn="just">
              <a:lnSpc>
                <a:spcPct val="105600"/>
              </a:lnSpc>
              <a:spcBef>
                <a:spcPts val="334"/>
              </a:spcBef>
            </a:pPr>
            <a:r>
              <a:rPr dirty="0"/>
              <a:t>The</a:t>
            </a:r>
            <a:r>
              <a:rPr spc="65" dirty="0"/>
              <a:t> </a:t>
            </a:r>
            <a:r>
              <a:rPr dirty="0"/>
              <a:t>state</a:t>
            </a:r>
            <a:r>
              <a:rPr spc="75" dirty="0"/>
              <a:t> </a:t>
            </a:r>
            <a:r>
              <a:rPr dirty="0"/>
              <a:t>of</a:t>
            </a:r>
            <a:r>
              <a:rPr spc="65" dirty="0"/>
              <a:t> </a:t>
            </a:r>
            <a:r>
              <a:rPr dirty="0"/>
              <a:t>a</a:t>
            </a:r>
            <a:r>
              <a:rPr spc="70" dirty="0"/>
              <a:t> </a:t>
            </a:r>
            <a:r>
              <a:rPr dirty="0"/>
              <a:t>latch</a:t>
            </a:r>
            <a:r>
              <a:rPr spc="65" dirty="0"/>
              <a:t> </a:t>
            </a:r>
            <a:r>
              <a:rPr dirty="0"/>
              <a:t>or</a:t>
            </a:r>
            <a:r>
              <a:rPr spc="65" dirty="0"/>
              <a:t> </a:t>
            </a:r>
            <a:r>
              <a:rPr spc="-10" dirty="0"/>
              <a:t>flip-</a:t>
            </a:r>
            <a:r>
              <a:rPr dirty="0"/>
              <a:t>flop</a:t>
            </a:r>
            <a:r>
              <a:rPr spc="70" dirty="0"/>
              <a:t> </a:t>
            </a:r>
            <a:r>
              <a:rPr dirty="0"/>
              <a:t>is</a:t>
            </a:r>
            <a:r>
              <a:rPr spc="80" dirty="0"/>
              <a:t> </a:t>
            </a:r>
            <a:r>
              <a:rPr dirty="0"/>
              <a:t>switched</a:t>
            </a:r>
            <a:r>
              <a:rPr spc="60" dirty="0"/>
              <a:t> </a:t>
            </a:r>
            <a:r>
              <a:rPr dirty="0"/>
              <a:t>by</a:t>
            </a:r>
            <a:r>
              <a:rPr spc="70" dirty="0"/>
              <a:t> </a:t>
            </a:r>
            <a:r>
              <a:rPr dirty="0"/>
              <a:t>a</a:t>
            </a:r>
            <a:r>
              <a:rPr spc="65" dirty="0"/>
              <a:t> </a:t>
            </a:r>
            <a:r>
              <a:rPr dirty="0"/>
              <a:t>change</a:t>
            </a:r>
            <a:r>
              <a:rPr spc="70" dirty="0"/>
              <a:t> </a:t>
            </a:r>
            <a:r>
              <a:rPr spc="-25" dirty="0"/>
              <a:t>in </a:t>
            </a:r>
            <a:r>
              <a:rPr dirty="0"/>
              <a:t>the</a:t>
            </a:r>
            <a:r>
              <a:rPr spc="170" dirty="0"/>
              <a:t> </a:t>
            </a:r>
            <a:r>
              <a:rPr dirty="0"/>
              <a:t>control</a:t>
            </a:r>
            <a:r>
              <a:rPr spc="165" dirty="0"/>
              <a:t> </a:t>
            </a:r>
            <a:r>
              <a:rPr dirty="0"/>
              <a:t>input.</a:t>
            </a:r>
            <a:r>
              <a:rPr spc="160" dirty="0"/>
              <a:t> </a:t>
            </a:r>
            <a:r>
              <a:rPr dirty="0"/>
              <a:t>This</a:t>
            </a:r>
            <a:r>
              <a:rPr spc="160" dirty="0"/>
              <a:t> </a:t>
            </a:r>
            <a:r>
              <a:rPr dirty="0"/>
              <a:t>momentary</a:t>
            </a:r>
            <a:r>
              <a:rPr spc="170" dirty="0"/>
              <a:t> </a:t>
            </a:r>
            <a:r>
              <a:rPr dirty="0"/>
              <a:t>change</a:t>
            </a:r>
            <a:r>
              <a:rPr spc="160" dirty="0"/>
              <a:t> </a:t>
            </a:r>
            <a:r>
              <a:rPr dirty="0"/>
              <a:t>is</a:t>
            </a:r>
            <a:r>
              <a:rPr spc="170" dirty="0"/>
              <a:t> </a:t>
            </a:r>
            <a:r>
              <a:rPr dirty="0"/>
              <a:t>called</a:t>
            </a:r>
            <a:r>
              <a:rPr spc="170" dirty="0"/>
              <a:t> </a:t>
            </a:r>
            <a:r>
              <a:rPr dirty="0"/>
              <a:t>a</a:t>
            </a:r>
            <a:r>
              <a:rPr spc="165" dirty="0"/>
              <a:t> </a:t>
            </a:r>
            <a:r>
              <a:rPr spc="-10" dirty="0">
                <a:solidFill>
                  <a:srgbClr val="FF0000"/>
                </a:solidFill>
                <a:latin typeface="Arial MT"/>
                <a:cs typeface="Arial MT"/>
              </a:rPr>
              <a:t>trigger </a:t>
            </a:r>
            <a:r>
              <a:rPr dirty="0"/>
              <a:t>and</a:t>
            </a:r>
            <a:r>
              <a:rPr spc="80" dirty="0"/>
              <a:t> </a:t>
            </a:r>
            <a:r>
              <a:rPr dirty="0"/>
              <a:t>the</a:t>
            </a:r>
            <a:r>
              <a:rPr spc="75" dirty="0"/>
              <a:t> </a:t>
            </a:r>
            <a:r>
              <a:rPr dirty="0"/>
              <a:t>transition</a:t>
            </a:r>
            <a:r>
              <a:rPr spc="85" dirty="0"/>
              <a:t> </a:t>
            </a:r>
            <a:r>
              <a:rPr dirty="0"/>
              <a:t>it</a:t>
            </a:r>
            <a:r>
              <a:rPr spc="80" dirty="0"/>
              <a:t> </a:t>
            </a:r>
            <a:r>
              <a:rPr dirty="0"/>
              <a:t>cause</a:t>
            </a:r>
            <a:r>
              <a:rPr spc="80" dirty="0"/>
              <a:t> </a:t>
            </a:r>
            <a:r>
              <a:rPr dirty="0"/>
              <a:t>is</a:t>
            </a:r>
            <a:r>
              <a:rPr spc="85" dirty="0"/>
              <a:t> </a:t>
            </a:r>
            <a:r>
              <a:rPr dirty="0"/>
              <a:t>said</a:t>
            </a:r>
            <a:r>
              <a:rPr spc="85" dirty="0"/>
              <a:t> </a:t>
            </a:r>
            <a:r>
              <a:rPr dirty="0"/>
              <a:t>to</a:t>
            </a:r>
            <a:r>
              <a:rPr spc="80" dirty="0"/>
              <a:t> </a:t>
            </a:r>
            <a:r>
              <a:rPr dirty="0"/>
              <a:t>trigger</a:t>
            </a:r>
            <a:r>
              <a:rPr spc="75" dirty="0"/>
              <a:t> </a:t>
            </a:r>
            <a:r>
              <a:rPr dirty="0"/>
              <a:t>the</a:t>
            </a:r>
            <a:r>
              <a:rPr spc="75" dirty="0"/>
              <a:t> </a:t>
            </a:r>
            <a:r>
              <a:rPr spc="-10" dirty="0"/>
              <a:t>flip-</a:t>
            </a:r>
            <a:r>
              <a:rPr dirty="0"/>
              <a:t>flop.</a:t>
            </a:r>
            <a:r>
              <a:rPr spc="80" dirty="0"/>
              <a:t> </a:t>
            </a:r>
            <a:r>
              <a:rPr spc="-25" dirty="0"/>
              <a:t>The </a:t>
            </a:r>
            <a:r>
              <a:rPr dirty="0"/>
              <a:t>D</a:t>
            </a:r>
            <a:r>
              <a:rPr spc="-5" dirty="0"/>
              <a:t> </a:t>
            </a:r>
            <a:r>
              <a:rPr dirty="0"/>
              <a:t>latch</a:t>
            </a:r>
            <a:r>
              <a:rPr spc="-10" dirty="0"/>
              <a:t> </a:t>
            </a:r>
            <a:r>
              <a:rPr dirty="0"/>
              <a:t>with</a:t>
            </a:r>
            <a:r>
              <a:rPr spc="-10" dirty="0"/>
              <a:t> </a:t>
            </a:r>
            <a:r>
              <a:rPr dirty="0"/>
              <a:t>pulses</a:t>
            </a:r>
            <a:r>
              <a:rPr spc="-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dirty="0"/>
              <a:t>its</a:t>
            </a:r>
            <a:r>
              <a:rPr spc="-5" dirty="0"/>
              <a:t> </a:t>
            </a:r>
            <a:r>
              <a:rPr dirty="0"/>
              <a:t>control input</a:t>
            </a:r>
            <a:r>
              <a:rPr spc="-5" dirty="0"/>
              <a:t> </a:t>
            </a:r>
            <a:r>
              <a:rPr dirty="0"/>
              <a:t>is</a:t>
            </a:r>
            <a:r>
              <a:rPr spc="-5" dirty="0"/>
              <a:t> </a:t>
            </a:r>
            <a:r>
              <a:rPr dirty="0"/>
              <a:t>essentially</a:t>
            </a:r>
            <a:r>
              <a:rPr spc="-15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spc="-10" dirty="0"/>
              <a:t>flip-</a:t>
            </a:r>
            <a:r>
              <a:rPr spc="-20" dirty="0"/>
              <a:t>flop</a:t>
            </a:r>
          </a:p>
          <a:p>
            <a:pPr marL="12700" marR="5080" algn="just">
              <a:lnSpc>
                <a:spcPct val="100000"/>
              </a:lnSpc>
            </a:pPr>
            <a:r>
              <a:rPr dirty="0"/>
              <a:t>that</a:t>
            </a:r>
            <a:r>
              <a:rPr spc="465" dirty="0"/>
              <a:t> </a:t>
            </a:r>
            <a:r>
              <a:rPr dirty="0"/>
              <a:t>is</a:t>
            </a:r>
            <a:r>
              <a:rPr spc="455" dirty="0"/>
              <a:t> </a:t>
            </a:r>
            <a:r>
              <a:rPr dirty="0"/>
              <a:t>triggered</a:t>
            </a:r>
            <a:r>
              <a:rPr spc="470" dirty="0"/>
              <a:t> </a:t>
            </a:r>
            <a:r>
              <a:rPr dirty="0"/>
              <a:t>every</a:t>
            </a:r>
            <a:r>
              <a:rPr spc="459" dirty="0"/>
              <a:t> </a:t>
            </a:r>
            <a:r>
              <a:rPr dirty="0"/>
              <a:t>time</a:t>
            </a:r>
            <a:r>
              <a:rPr spc="459" dirty="0"/>
              <a:t> </a:t>
            </a:r>
            <a:r>
              <a:rPr dirty="0"/>
              <a:t>the</a:t>
            </a:r>
            <a:r>
              <a:rPr spc="450" dirty="0"/>
              <a:t> </a:t>
            </a:r>
            <a:r>
              <a:rPr dirty="0"/>
              <a:t>pulse</a:t>
            </a:r>
            <a:r>
              <a:rPr spc="455" dirty="0"/>
              <a:t> </a:t>
            </a:r>
            <a:r>
              <a:rPr dirty="0"/>
              <a:t>goes</a:t>
            </a:r>
            <a:r>
              <a:rPr spc="459" dirty="0"/>
              <a:t> </a:t>
            </a:r>
            <a:r>
              <a:rPr dirty="0"/>
              <a:t>to</a:t>
            </a:r>
            <a:r>
              <a:rPr spc="459" dirty="0"/>
              <a:t> </a:t>
            </a:r>
            <a:r>
              <a:rPr dirty="0"/>
              <a:t>the</a:t>
            </a:r>
            <a:r>
              <a:rPr spc="459" dirty="0"/>
              <a:t> </a:t>
            </a:r>
            <a:r>
              <a:rPr dirty="0">
                <a:solidFill>
                  <a:srgbClr val="FF0000"/>
                </a:solidFill>
              </a:rPr>
              <a:t>logic</a:t>
            </a:r>
            <a:r>
              <a:rPr spc="459" dirty="0">
                <a:solidFill>
                  <a:srgbClr val="FF0000"/>
                </a:solidFill>
              </a:rPr>
              <a:t> </a:t>
            </a:r>
            <a:r>
              <a:rPr spc="-50" dirty="0">
                <a:solidFill>
                  <a:srgbClr val="FF0000"/>
                </a:solidFill>
              </a:rPr>
              <a:t>1 </a:t>
            </a:r>
            <a:r>
              <a:rPr dirty="0">
                <a:solidFill>
                  <a:srgbClr val="FF0000"/>
                </a:solidFill>
              </a:rPr>
              <a:t>level</a:t>
            </a:r>
            <a:r>
              <a:rPr dirty="0"/>
              <a:t>.</a:t>
            </a:r>
            <a:r>
              <a:rPr spc="385" dirty="0"/>
              <a:t> </a:t>
            </a:r>
            <a:r>
              <a:rPr dirty="0"/>
              <a:t>As</a:t>
            </a:r>
            <a:r>
              <a:rPr spc="380" dirty="0"/>
              <a:t> </a:t>
            </a:r>
            <a:r>
              <a:rPr dirty="0"/>
              <a:t>long</a:t>
            </a:r>
            <a:r>
              <a:rPr spc="390" dirty="0"/>
              <a:t> </a:t>
            </a:r>
            <a:r>
              <a:rPr dirty="0"/>
              <a:t>as</a:t>
            </a:r>
            <a:r>
              <a:rPr spc="380" dirty="0"/>
              <a:t> </a:t>
            </a:r>
            <a:r>
              <a:rPr dirty="0"/>
              <a:t>the</a:t>
            </a:r>
            <a:r>
              <a:rPr spc="375" dirty="0"/>
              <a:t> </a:t>
            </a:r>
            <a:r>
              <a:rPr dirty="0"/>
              <a:t>pulse</a:t>
            </a:r>
            <a:r>
              <a:rPr spc="385" dirty="0"/>
              <a:t> </a:t>
            </a:r>
            <a:r>
              <a:rPr dirty="0"/>
              <a:t>input</a:t>
            </a:r>
            <a:r>
              <a:rPr spc="375" dirty="0"/>
              <a:t> </a:t>
            </a:r>
            <a:r>
              <a:rPr dirty="0"/>
              <a:t>remains</a:t>
            </a:r>
            <a:r>
              <a:rPr spc="395" dirty="0"/>
              <a:t> </a:t>
            </a:r>
            <a:r>
              <a:rPr dirty="0"/>
              <a:t>in</a:t>
            </a:r>
            <a:r>
              <a:rPr spc="390" dirty="0"/>
              <a:t> </a:t>
            </a:r>
            <a:r>
              <a:rPr dirty="0"/>
              <a:t>the</a:t>
            </a:r>
            <a:r>
              <a:rPr spc="390" dirty="0"/>
              <a:t> </a:t>
            </a:r>
            <a:r>
              <a:rPr dirty="0"/>
              <a:t>level,</a:t>
            </a:r>
            <a:r>
              <a:rPr spc="385" dirty="0"/>
              <a:t> </a:t>
            </a:r>
            <a:r>
              <a:rPr spc="-25" dirty="0"/>
              <a:t>any </a:t>
            </a:r>
            <a:r>
              <a:rPr dirty="0"/>
              <a:t>changes</a:t>
            </a:r>
            <a:r>
              <a:rPr spc="465" dirty="0"/>
              <a:t> </a:t>
            </a:r>
            <a:r>
              <a:rPr dirty="0"/>
              <a:t>in</a:t>
            </a:r>
            <a:r>
              <a:rPr spc="465" dirty="0"/>
              <a:t> </a:t>
            </a:r>
            <a:r>
              <a:rPr dirty="0"/>
              <a:t>the</a:t>
            </a:r>
            <a:r>
              <a:rPr spc="459" dirty="0"/>
              <a:t> </a:t>
            </a:r>
            <a:r>
              <a:rPr dirty="0"/>
              <a:t>data</a:t>
            </a:r>
            <a:r>
              <a:rPr spc="455" dirty="0"/>
              <a:t> </a:t>
            </a:r>
            <a:r>
              <a:rPr dirty="0"/>
              <a:t>input</a:t>
            </a:r>
            <a:r>
              <a:rPr spc="480" dirty="0"/>
              <a:t> </a:t>
            </a:r>
            <a:r>
              <a:rPr dirty="0"/>
              <a:t>will</a:t>
            </a:r>
            <a:r>
              <a:rPr spc="459" dirty="0"/>
              <a:t> </a:t>
            </a:r>
            <a:r>
              <a:rPr dirty="0"/>
              <a:t>change</a:t>
            </a:r>
            <a:r>
              <a:rPr spc="480" dirty="0"/>
              <a:t> </a:t>
            </a:r>
            <a:r>
              <a:rPr dirty="0"/>
              <a:t>the</a:t>
            </a:r>
            <a:r>
              <a:rPr spc="465" dirty="0"/>
              <a:t> </a:t>
            </a:r>
            <a:r>
              <a:rPr dirty="0"/>
              <a:t>output</a:t>
            </a:r>
            <a:r>
              <a:rPr spc="465" dirty="0"/>
              <a:t> </a:t>
            </a:r>
            <a:r>
              <a:rPr dirty="0"/>
              <a:t>and</a:t>
            </a:r>
            <a:r>
              <a:rPr spc="470" dirty="0"/>
              <a:t> </a:t>
            </a:r>
            <a:r>
              <a:rPr spc="-25" dirty="0"/>
              <a:t>the </a:t>
            </a:r>
            <a:r>
              <a:rPr dirty="0"/>
              <a:t>state</a:t>
            </a:r>
            <a:r>
              <a:rPr spc="-5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spc="-10" dirty="0"/>
              <a:t>latch.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268046" rIns="0" bIns="0" rtlCol="0">
            <a:spAutoFit/>
          </a:bodyPr>
          <a:lstStyle/>
          <a:p>
            <a:pPr marL="209550">
              <a:lnSpc>
                <a:spcPct val="100000"/>
              </a:lnSpc>
              <a:spcBef>
                <a:spcPts val="105"/>
              </a:spcBef>
            </a:pPr>
            <a:r>
              <a:rPr sz="3500" b="1" dirty="0">
                <a:latin typeface="Tahoma"/>
                <a:cs typeface="Tahoma"/>
              </a:rPr>
              <a:t>Clock</a:t>
            </a:r>
            <a:r>
              <a:rPr sz="3500" b="1" spc="-35" dirty="0">
                <a:latin typeface="Tahoma"/>
                <a:cs typeface="Tahoma"/>
              </a:rPr>
              <a:t> </a:t>
            </a:r>
            <a:r>
              <a:rPr sz="3500" b="1" dirty="0">
                <a:latin typeface="Tahoma"/>
                <a:cs typeface="Tahoma"/>
              </a:rPr>
              <a:t>Response</a:t>
            </a:r>
            <a:r>
              <a:rPr sz="3500" b="1" spc="-40" dirty="0">
                <a:latin typeface="Tahoma"/>
                <a:cs typeface="Tahoma"/>
              </a:rPr>
              <a:t> </a:t>
            </a:r>
            <a:r>
              <a:rPr sz="3500" b="1" dirty="0">
                <a:latin typeface="Tahoma"/>
                <a:cs typeface="Tahoma"/>
              </a:rPr>
              <a:t>in</a:t>
            </a:r>
            <a:r>
              <a:rPr sz="3500" b="1" spc="-25" dirty="0">
                <a:latin typeface="Tahoma"/>
                <a:cs typeface="Tahoma"/>
              </a:rPr>
              <a:t> </a:t>
            </a:r>
            <a:r>
              <a:rPr sz="3500" b="1" spc="-10" dirty="0">
                <a:latin typeface="Tahoma"/>
                <a:cs typeface="Tahoma"/>
              </a:rPr>
              <a:t>Latch</a:t>
            </a:r>
            <a:endParaRPr sz="35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394" y="4307681"/>
            <a:ext cx="7997987" cy="139448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47217" y="2020900"/>
            <a:ext cx="760730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In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Fig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(a)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positive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level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response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control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input </a:t>
            </a:r>
            <a:r>
              <a:rPr sz="2400" dirty="0">
                <a:latin typeface="Tahoma"/>
                <a:cs typeface="Tahoma"/>
              </a:rPr>
              <a:t>allows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changes,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output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when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input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changes </a:t>
            </a:r>
            <a:r>
              <a:rPr sz="2400" dirty="0">
                <a:latin typeface="Tahoma"/>
                <a:cs typeface="Tahoma"/>
              </a:rPr>
              <a:t>while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clock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pulse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stays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at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logic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1.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7296" rIns="0" bIns="0" rtlCol="0">
            <a:spAutoFit/>
          </a:bodyPr>
          <a:lstStyle/>
          <a:p>
            <a:pPr marL="645795">
              <a:lnSpc>
                <a:spcPct val="100000"/>
              </a:lnSpc>
              <a:spcBef>
                <a:spcPts val="95"/>
              </a:spcBef>
            </a:pPr>
            <a:r>
              <a:rPr sz="3100" b="1" dirty="0">
                <a:latin typeface="Tahoma"/>
                <a:cs typeface="Tahoma"/>
              </a:rPr>
              <a:t>Clock</a:t>
            </a:r>
            <a:r>
              <a:rPr sz="3100" b="1" spc="-80" dirty="0">
                <a:latin typeface="Tahoma"/>
                <a:cs typeface="Tahoma"/>
              </a:rPr>
              <a:t> </a:t>
            </a:r>
            <a:r>
              <a:rPr sz="3100" b="1" dirty="0">
                <a:latin typeface="Tahoma"/>
                <a:cs typeface="Tahoma"/>
              </a:rPr>
              <a:t>Response</a:t>
            </a:r>
            <a:r>
              <a:rPr sz="3100" b="1" spc="-50" dirty="0">
                <a:latin typeface="Tahoma"/>
                <a:cs typeface="Tahoma"/>
              </a:rPr>
              <a:t> </a:t>
            </a:r>
            <a:r>
              <a:rPr sz="3100" b="1" dirty="0">
                <a:latin typeface="Tahoma"/>
                <a:cs typeface="Tahoma"/>
              </a:rPr>
              <a:t>in</a:t>
            </a:r>
            <a:r>
              <a:rPr sz="3100" b="1" spc="-65" dirty="0">
                <a:latin typeface="Tahoma"/>
                <a:cs typeface="Tahoma"/>
              </a:rPr>
              <a:t> </a:t>
            </a:r>
            <a:r>
              <a:rPr sz="3100" b="1" spc="-25" dirty="0">
                <a:latin typeface="Tahoma"/>
                <a:cs typeface="Tahoma"/>
              </a:rPr>
              <a:t>Flip-</a:t>
            </a:r>
            <a:r>
              <a:rPr sz="3100" b="1" spc="-20" dirty="0">
                <a:latin typeface="Tahoma"/>
                <a:cs typeface="Tahoma"/>
              </a:rPr>
              <a:t>Flop</a:t>
            </a:r>
            <a:endParaRPr sz="31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4061" y="2246577"/>
            <a:ext cx="8288397" cy="419350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2373" rIns="0" bIns="0" rtlCol="0">
            <a:spAutoFit/>
          </a:bodyPr>
          <a:lstStyle/>
          <a:p>
            <a:pPr marL="448945">
              <a:lnSpc>
                <a:spcPct val="100000"/>
              </a:lnSpc>
              <a:spcBef>
                <a:spcPts val="100"/>
              </a:spcBef>
            </a:pPr>
            <a:r>
              <a:rPr sz="3300" b="1" spc="-10" dirty="0">
                <a:latin typeface="Tahoma"/>
                <a:cs typeface="Tahoma"/>
              </a:rPr>
              <a:t>Edge-</a:t>
            </a:r>
            <a:r>
              <a:rPr sz="3300" b="1" dirty="0">
                <a:latin typeface="Tahoma"/>
                <a:cs typeface="Tahoma"/>
              </a:rPr>
              <a:t>Triggered</a:t>
            </a:r>
            <a:r>
              <a:rPr sz="3300" b="1" spc="-5" dirty="0">
                <a:latin typeface="Tahoma"/>
                <a:cs typeface="Tahoma"/>
              </a:rPr>
              <a:t> </a:t>
            </a:r>
            <a:r>
              <a:rPr sz="3300" b="1" dirty="0">
                <a:latin typeface="Tahoma"/>
                <a:cs typeface="Tahoma"/>
              </a:rPr>
              <a:t>D</a:t>
            </a:r>
            <a:r>
              <a:rPr sz="3300" b="1" spc="-10" dirty="0">
                <a:latin typeface="Tahoma"/>
                <a:cs typeface="Tahoma"/>
              </a:rPr>
              <a:t> Flip-</a:t>
            </a:r>
            <a:r>
              <a:rPr sz="3300" b="1" spc="-20" dirty="0">
                <a:latin typeface="Tahoma"/>
                <a:cs typeface="Tahoma"/>
              </a:rPr>
              <a:t>Flop</a:t>
            </a:r>
            <a:endParaRPr sz="33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7316" y="3425314"/>
            <a:ext cx="8586470" cy="2955925"/>
            <a:chOff x="167316" y="3425314"/>
            <a:chExt cx="8586470" cy="29559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316" y="3425314"/>
              <a:ext cx="8256400" cy="295575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732651" y="6092824"/>
              <a:ext cx="2016125" cy="215900"/>
            </a:xfrm>
            <a:custGeom>
              <a:avLst/>
              <a:gdLst/>
              <a:ahLst/>
              <a:cxnLst/>
              <a:rect l="l" t="t" r="r" b="b"/>
              <a:pathLst>
                <a:path w="2016125" h="215900">
                  <a:moveTo>
                    <a:pt x="0" y="215900"/>
                  </a:moveTo>
                  <a:lnTo>
                    <a:pt x="0" y="0"/>
                  </a:lnTo>
                  <a:lnTo>
                    <a:pt x="215900" y="0"/>
                  </a:lnTo>
                  <a:lnTo>
                    <a:pt x="215900" y="215900"/>
                  </a:lnTo>
                  <a:lnTo>
                    <a:pt x="360299" y="215900"/>
                  </a:lnTo>
                  <a:lnTo>
                    <a:pt x="360299" y="0"/>
                  </a:lnTo>
                  <a:lnTo>
                    <a:pt x="504825" y="0"/>
                  </a:lnTo>
                  <a:lnTo>
                    <a:pt x="576199" y="0"/>
                  </a:lnTo>
                  <a:lnTo>
                    <a:pt x="576199" y="215900"/>
                  </a:lnTo>
                  <a:lnTo>
                    <a:pt x="720725" y="215900"/>
                  </a:lnTo>
                  <a:lnTo>
                    <a:pt x="720725" y="0"/>
                  </a:lnTo>
                  <a:lnTo>
                    <a:pt x="936625" y="0"/>
                  </a:lnTo>
                  <a:lnTo>
                    <a:pt x="936625" y="215900"/>
                  </a:lnTo>
                  <a:lnTo>
                    <a:pt x="1152525" y="215900"/>
                  </a:lnTo>
                  <a:lnTo>
                    <a:pt x="1152525" y="0"/>
                  </a:lnTo>
                  <a:lnTo>
                    <a:pt x="1368425" y="0"/>
                  </a:lnTo>
                  <a:lnTo>
                    <a:pt x="1368425" y="215900"/>
                  </a:lnTo>
                  <a:lnTo>
                    <a:pt x="1584325" y="215900"/>
                  </a:lnTo>
                  <a:lnTo>
                    <a:pt x="1584325" y="0"/>
                  </a:lnTo>
                  <a:lnTo>
                    <a:pt x="1800225" y="0"/>
                  </a:lnTo>
                  <a:lnTo>
                    <a:pt x="1800225" y="215900"/>
                  </a:lnTo>
                  <a:lnTo>
                    <a:pt x="2016125" y="2159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29590" y="1876501"/>
            <a:ext cx="8249284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7909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The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first</a:t>
            </a:r>
            <a:r>
              <a:rPr sz="24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latch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is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called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master</a:t>
            </a:r>
            <a:r>
              <a:rPr sz="2400" spc="-1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and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second</a:t>
            </a:r>
            <a:r>
              <a:rPr sz="2400" spc="-1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the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slave</a:t>
            </a:r>
            <a:r>
              <a:rPr sz="2400" dirty="0">
                <a:latin typeface="Tahoma"/>
                <a:cs typeface="Tahoma"/>
              </a:rPr>
              <a:t>.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circuit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samples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input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and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changes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its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output </a:t>
            </a:r>
            <a:r>
              <a:rPr sz="2400" dirty="0">
                <a:latin typeface="Tahoma"/>
                <a:cs typeface="Tahoma"/>
              </a:rPr>
              <a:t>Q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only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at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negative-</a:t>
            </a:r>
            <a:r>
              <a:rPr sz="2400" dirty="0">
                <a:latin typeface="Tahoma"/>
                <a:cs typeface="Tahoma"/>
              </a:rPr>
              <a:t>edge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of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controlling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clock.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164707" y="5117338"/>
            <a:ext cx="2033905" cy="1236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100"/>
              </a:spcBef>
              <a:tabLst>
                <a:tab pos="595630" algn="l"/>
              </a:tabLst>
            </a:pPr>
            <a:r>
              <a:rPr sz="1800" spc="-50" dirty="0">
                <a:latin typeface="Tahoma"/>
                <a:cs typeface="Tahoma"/>
              </a:rPr>
              <a:t>D</a:t>
            </a:r>
            <a:r>
              <a:rPr sz="1800" dirty="0">
                <a:latin typeface="Tahoma"/>
                <a:cs typeface="Tahoma"/>
              </a:rPr>
              <a:t>	1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1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0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0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1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1 </a:t>
            </a:r>
            <a:r>
              <a:rPr sz="1800" spc="-50" dirty="0">
                <a:latin typeface="Tahoma"/>
                <a:cs typeface="Tahoma"/>
              </a:rPr>
              <a:t>…</a:t>
            </a:r>
            <a:endParaRPr sz="1800" dirty="0">
              <a:latin typeface="Tahoma"/>
              <a:cs typeface="Tahoma"/>
            </a:endParaRPr>
          </a:p>
          <a:p>
            <a:pPr marL="155575">
              <a:lnSpc>
                <a:spcPct val="100000"/>
              </a:lnSpc>
              <a:tabLst>
                <a:tab pos="570865" algn="l"/>
              </a:tabLst>
            </a:pPr>
            <a:r>
              <a:rPr sz="1800" spc="-50" dirty="0">
                <a:latin typeface="Tahoma"/>
                <a:cs typeface="Tahoma"/>
              </a:rPr>
              <a:t>Y</a:t>
            </a:r>
            <a:r>
              <a:rPr sz="1800" dirty="0">
                <a:latin typeface="Tahoma"/>
                <a:cs typeface="Tahoma"/>
              </a:rPr>
              <a:t>	1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1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0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0</a:t>
            </a:r>
            <a:r>
              <a:rPr sz="1800" spc="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1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1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…</a:t>
            </a:r>
            <a:endParaRPr sz="1800" dirty="0">
              <a:latin typeface="Tahoma"/>
              <a:cs typeface="Tahoma"/>
            </a:endParaRPr>
          </a:p>
          <a:p>
            <a:pPr marL="155575">
              <a:lnSpc>
                <a:spcPct val="100000"/>
              </a:lnSpc>
              <a:tabLst>
                <a:tab pos="601345" algn="l"/>
              </a:tabLst>
            </a:pPr>
            <a:r>
              <a:rPr sz="1800" spc="-50" dirty="0">
                <a:latin typeface="Tahoma"/>
                <a:cs typeface="Tahoma"/>
              </a:rPr>
              <a:t>Q</a:t>
            </a:r>
            <a:r>
              <a:rPr sz="1800" dirty="0">
                <a:latin typeface="Tahoma"/>
                <a:cs typeface="Tahoma"/>
              </a:rPr>
              <a:t>	?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1 1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0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0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1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….</a:t>
            </a:r>
            <a:endParaRPr sz="18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1800" spc="-25" dirty="0">
                <a:latin typeface="Tahoma"/>
                <a:cs typeface="Tahoma"/>
              </a:rPr>
              <a:t>CLK</a:t>
            </a:r>
            <a:endParaRPr sz="1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4390" rIns="0" bIns="0" rtlCol="0">
            <a:spAutoFit/>
          </a:bodyPr>
          <a:lstStyle/>
          <a:p>
            <a:pPr marL="448945">
              <a:lnSpc>
                <a:spcPct val="100000"/>
              </a:lnSpc>
              <a:spcBef>
                <a:spcPts val="95"/>
              </a:spcBef>
            </a:pPr>
            <a:r>
              <a:rPr sz="2800" b="1" spc="-35" dirty="0">
                <a:latin typeface="Tahoma"/>
                <a:cs typeface="Tahoma"/>
              </a:rPr>
              <a:t>D-</a:t>
            </a:r>
            <a:r>
              <a:rPr sz="2800" b="1" dirty="0">
                <a:latin typeface="Tahoma"/>
                <a:cs typeface="Tahoma"/>
              </a:rPr>
              <a:t>Type</a:t>
            </a:r>
            <a:r>
              <a:rPr sz="2800" b="1" spc="-10" dirty="0">
                <a:latin typeface="Tahoma"/>
                <a:cs typeface="Tahoma"/>
              </a:rPr>
              <a:t> </a:t>
            </a:r>
            <a:r>
              <a:rPr sz="2800" b="1" spc="-25" dirty="0">
                <a:latin typeface="Tahoma"/>
                <a:cs typeface="Tahoma"/>
              </a:rPr>
              <a:t>Positive-Edge-</a:t>
            </a:r>
            <a:r>
              <a:rPr sz="2800" b="1" dirty="0">
                <a:latin typeface="Tahoma"/>
                <a:cs typeface="Tahoma"/>
              </a:rPr>
              <a:t>Triggered</a:t>
            </a:r>
            <a:r>
              <a:rPr sz="2800" b="1" spc="35" dirty="0">
                <a:latin typeface="Tahoma"/>
                <a:cs typeface="Tahoma"/>
              </a:rPr>
              <a:t> </a:t>
            </a:r>
            <a:r>
              <a:rPr sz="2800" b="1" spc="-20" dirty="0">
                <a:latin typeface="Tahoma"/>
                <a:cs typeface="Tahoma"/>
              </a:rPr>
              <a:t>Flip-Flop</a:t>
            </a:r>
            <a:endParaRPr sz="28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7380" y="3244385"/>
            <a:ext cx="6128940" cy="34698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29590" y="1660652"/>
            <a:ext cx="821309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8321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Another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more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efficient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construction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of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an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edge-triggered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D </a:t>
            </a:r>
            <a:r>
              <a:rPr sz="2400" dirty="0">
                <a:latin typeface="Tahoma"/>
                <a:cs typeface="Tahoma"/>
              </a:rPr>
              <a:t>flip-flop</a:t>
            </a:r>
            <a:r>
              <a:rPr sz="2400" spc="-9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uses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three</a:t>
            </a:r>
            <a:r>
              <a:rPr sz="2400" spc="-5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SR</a:t>
            </a:r>
            <a:r>
              <a:rPr sz="2400" spc="-5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latches</a:t>
            </a:r>
            <a:r>
              <a:rPr sz="2400" dirty="0">
                <a:latin typeface="Tahoma"/>
                <a:cs typeface="Tahoma"/>
              </a:rPr>
              <a:t>.</a:t>
            </a:r>
            <a:r>
              <a:rPr sz="2400" spc="-40" dirty="0">
                <a:latin typeface="Tahoma"/>
                <a:cs typeface="Tahoma"/>
              </a:rPr>
              <a:t> Two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latches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respond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to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the </a:t>
            </a:r>
            <a:r>
              <a:rPr sz="2400" dirty="0">
                <a:latin typeface="Tahoma"/>
                <a:cs typeface="Tahoma"/>
              </a:rPr>
              <a:t>external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D(data)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and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CLK(clock)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inputs.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third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latch </a:t>
            </a:r>
            <a:r>
              <a:rPr sz="2400" dirty="0">
                <a:latin typeface="Tahoma"/>
                <a:cs typeface="Tahoma"/>
              </a:rPr>
              <a:t>provides</a:t>
            </a:r>
            <a:r>
              <a:rPr sz="2400" spc="-7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outputs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for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flip-</a:t>
            </a:r>
            <a:r>
              <a:rPr sz="2400" spc="-10" dirty="0">
                <a:latin typeface="Tahoma"/>
                <a:cs typeface="Tahoma"/>
              </a:rPr>
              <a:t>flop.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73658" rIns="0" bIns="0" rtlCol="0">
            <a:spAutoFit/>
          </a:bodyPr>
          <a:lstStyle/>
          <a:p>
            <a:pPr marL="448945">
              <a:lnSpc>
                <a:spcPct val="100000"/>
              </a:lnSpc>
              <a:spcBef>
                <a:spcPts val="95"/>
              </a:spcBef>
            </a:pPr>
            <a:r>
              <a:rPr sz="2500" b="1" dirty="0">
                <a:latin typeface="Tahoma"/>
                <a:cs typeface="Tahoma"/>
              </a:rPr>
              <a:t>Graphic</a:t>
            </a:r>
            <a:r>
              <a:rPr sz="2500" b="1" spc="-55" dirty="0">
                <a:latin typeface="Tahoma"/>
                <a:cs typeface="Tahoma"/>
              </a:rPr>
              <a:t> </a:t>
            </a:r>
            <a:r>
              <a:rPr sz="2500" b="1" dirty="0">
                <a:latin typeface="Tahoma"/>
                <a:cs typeface="Tahoma"/>
              </a:rPr>
              <a:t>Symbol</a:t>
            </a:r>
            <a:r>
              <a:rPr sz="2500" b="1" spc="-45" dirty="0">
                <a:latin typeface="Tahoma"/>
                <a:cs typeface="Tahoma"/>
              </a:rPr>
              <a:t> </a:t>
            </a:r>
            <a:r>
              <a:rPr sz="2500" b="1" dirty="0">
                <a:latin typeface="Tahoma"/>
                <a:cs typeface="Tahoma"/>
              </a:rPr>
              <a:t>for</a:t>
            </a:r>
            <a:r>
              <a:rPr sz="2500" b="1" spc="-45" dirty="0">
                <a:latin typeface="Tahoma"/>
                <a:cs typeface="Tahoma"/>
              </a:rPr>
              <a:t> </a:t>
            </a:r>
            <a:r>
              <a:rPr sz="2500" b="1" spc="-20" dirty="0">
                <a:latin typeface="Tahoma"/>
                <a:cs typeface="Tahoma"/>
              </a:rPr>
              <a:t>Edge-</a:t>
            </a:r>
            <a:r>
              <a:rPr sz="2500" b="1" dirty="0">
                <a:latin typeface="Tahoma"/>
                <a:cs typeface="Tahoma"/>
              </a:rPr>
              <a:t>Triggered</a:t>
            </a:r>
            <a:r>
              <a:rPr sz="2500" b="1" spc="-25" dirty="0">
                <a:latin typeface="Tahoma"/>
                <a:cs typeface="Tahoma"/>
              </a:rPr>
              <a:t> </a:t>
            </a:r>
            <a:r>
              <a:rPr sz="2500" b="1" dirty="0">
                <a:latin typeface="Tahoma"/>
                <a:cs typeface="Tahoma"/>
              </a:rPr>
              <a:t>D</a:t>
            </a:r>
            <a:r>
              <a:rPr sz="2500" b="1" spc="-55" dirty="0">
                <a:latin typeface="Tahoma"/>
                <a:cs typeface="Tahoma"/>
              </a:rPr>
              <a:t> </a:t>
            </a:r>
            <a:r>
              <a:rPr sz="2500" b="1" spc="-10" dirty="0">
                <a:latin typeface="Tahoma"/>
                <a:cs typeface="Tahoma"/>
              </a:rPr>
              <a:t>Flip-</a:t>
            </a:r>
            <a:r>
              <a:rPr sz="2500" b="1" spc="-20" dirty="0">
                <a:latin typeface="Tahoma"/>
                <a:cs typeface="Tahoma"/>
              </a:rPr>
              <a:t>Flop</a:t>
            </a:r>
            <a:endParaRPr sz="25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9911" y="2032248"/>
            <a:ext cx="8133468" cy="474049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29892" y="727964"/>
            <a:ext cx="695007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78020" algn="l"/>
              </a:tabLst>
            </a:pPr>
            <a:r>
              <a:rPr sz="3300" b="1" dirty="0">
                <a:latin typeface="Tahoma"/>
                <a:cs typeface="Tahoma"/>
              </a:rPr>
              <a:t>Other</a:t>
            </a:r>
            <a:r>
              <a:rPr sz="3300" b="1" spc="25" dirty="0">
                <a:latin typeface="Tahoma"/>
                <a:cs typeface="Tahoma"/>
              </a:rPr>
              <a:t> </a:t>
            </a:r>
            <a:r>
              <a:rPr sz="3300" b="1" spc="-25" dirty="0">
                <a:latin typeface="Tahoma"/>
                <a:cs typeface="Tahoma"/>
              </a:rPr>
              <a:t>Flip-</a:t>
            </a:r>
            <a:r>
              <a:rPr sz="3300" b="1" spc="-10" dirty="0">
                <a:latin typeface="Tahoma"/>
                <a:cs typeface="Tahoma"/>
              </a:rPr>
              <a:t>Flops</a:t>
            </a:r>
            <a:r>
              <a:rPr sz="3300" b="1" dirty="0">
                <a:latin typeface="Tahoma"/>
                <a:cs typeface="Tahoma"/>
              </a:rPr>
              <a:t>	JK</a:t>
            </a:r>
            <a:r>
              <a:rPr sz="3300" b="1" spc="-25" dirty="0">
                <a:latin typeface="Tahoma"/>
                <a:cs typeface="Tahoma"/>
              </a:rPr>
              <a:t> </a:t>
            </a:r>
            <a:r>
              <a:rPr sz="3300" b="1" spc="-20" dirty="0">
                <a:latin typeface="Tahoma"/>
                <a:cs typeface="Tahoma"/>
              </a:rPr>
              <a:t>Flip-Flop</a:t>
            </a:r>
            <a:endParaRPr sz="33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6837" y="3495239"/>
            <a:ext cx="7948925" cy="316510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742" y="1660652"/>
            <a:ext cx="7950834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There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are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three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operations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that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can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performed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with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a </a:t>
            </a:r>
            <a:r>
              <a:rPr sz="2400" dirty="0">
                <a:latin typeface="Tahoma"/>
                <a:cs typeface="Tahoma"/>
              </a:rPr>
              <a:t>flip-flop:</a:t>
            </a:r>
            <a:r>
              <a:rPr sz="2400" spc="-7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set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it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to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1,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reset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it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to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0,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or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complement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its</a:t>
            </a:r>
            <a:r>
              <a:rPr sz="2400" spc="-10" dirty="0">
                <a:latin typeface="Tahoma"/>
                <a:cs typeface="Tahoma"/>
              </a:rPr>
              <a:t> output.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JK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flip-flop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performs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all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three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operations.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circuit </a:t>
            </a:r>
            <a:r>
              <a:rPr sz="2400" dirty="0">
                <a:latin typeface="Tahoma"/>
                <a:cs typeface="Tahoma"/>
              </a:rPr>
              <a:t>diagram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of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JK</a:t>
            </a:r>
            <a:r>
              <a:rPr sz="2400" spc="-1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ahoma"/>
                <a:cs typeface="Tahoma"/>
              </a:rPr>
              <a:t>flip-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flop</a:t>
            </a:r>
            <a:r>
              <a:rPr sz="24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constructed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with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a</a:t>
            </a:r>
            <a:r>
              <a:rPr sz="2400" spc="-1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D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ahoma"/>
                <a:cs typeface="Tahoma"/>
              </a:rPr>
              <a:t>flip-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flop</a:t>
            </a:r>
            <a:r>
              <a:rPr sz="24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and </a:t>
            </a:r>
            <a:r>
              <a:rPr sz="2400" spc="-10" dirty="0">
                <a:solidFill>
                  <a:srgbClr val="FF0000"/>
                </a:solidFill>
                <a:latin typeface="Tahoma"/>
                <a:cs typeface="Tahoma"/>
              </a:rPr>
              <a:t>gates</a:t>
            </a:r>
            <a:r>
              <a:rPr sz="2400" spc="-10" dirty="0">
                <a:latin typeface="Tahoma"/>
                <a:cs typeface="Tahoma"/>
              </a:rPr>
              <a:t>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0148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3300" b="1" dirty="0">
                <a:latin typeface="Tahoma"/>
                <a:cs typeface="Tahoma"/>
              </a:rPr>
              <a:t>JK</a:t>
            </a:r>
            <a:r>
              <a:rPr sz="3300" b="1" spc="-5" dirty="0">
                <a:latin typeface="Tahoma"/>
                <a:cs typeface="Tahoma"/>
              </a:rPr>
              <a:t> </a:t>
            </a:r>
            <a:r>
              <a:rPr sz="3300" b="1" spc="-10" dirty="0">
                <a:latin typeface="Tahoma"/>
                <a:cs typeface="Tahoma"/>
              </a:rPr>
              <a:t>Flip-</a:t>
            </a:r>
            <a:r>
              <a:rPr sz="3300" b="1" spc="-20" dirty="0">
                <a:latin typeface="Tahoma"/>
                <a:cs typeface="Tahoma"/>
              </a:rPr>
              <a:t>Flop</a:t>
            </a:r>
            <a:endParaRPr sz="33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4112" y="3840162"/>
            <a:ext cx="2501396" cy="25908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29590" y="1731975"/>
            <a:ext cx="797115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The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J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input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sets the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flip-flop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to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1,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K input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resets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it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to</a:t>
            </a:r>
            <a:r>
              <a:rPr sz="2400" spc="-25" dirty="0">
                <a:latin typeface="Tahoma"/>
                <a:cs typeface="Tahoma"/>
              </a:rPr>
              <a:t> 0, </a:t>
            </a:r>
            <a:r>
              <a:rPr sz="2400" dirty="0">
                <a:latin typeface="Tahoma"/>
                <a:cs typeface="Tahoma"/>
              </a:rPr>
              <a:t>and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when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both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inputs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are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enabled,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output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spc="-35" dirty="0">
                <a:latin typeface="Tahoma"/>
                <a:cs typeface="Tahoma"/>
              </a:rPr>
              <a:t>is </a:t>
            </a:r>
            <a:r>
              <a:rPr sz="2400" dirty="0">
                <a:latin typeface="Tahoma"/>
                <a:cs typeface="Tahoma"/>
              </a:rPr>
              <a:t>complemented.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This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can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verified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by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investigating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the </a:t>
            </a:r>
            <a:r>
              <a:rPr sz="2400" dirty="0">
                <a:latin typeface="Tahoma"/>
                <a:cs typeface="Tahoma"/>
              </a:rPr>
              <a:t>circuit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applied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to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input: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3276600" y="3213100"/>
            <a:ext cx="2735580" cy="431800"/>
          </a:xfrm>
          <a:prstGeom prst="rect">
            <a:avLst/>
          </a:prstGeom>
          <a:ln w="9525">
            <a:solidFill>
              <a:srgbClr val="3333C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08279">
              <a:lnSpc>
                <a:spcPts val="2840"/>
              </a:lnSpc>
            </a:pP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D</a:t>
            </a:r>
            <a:r>
              <a:rPr sz="24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=</a:t>
            </a:r>
            <a:r>
              <a:rPr sz="2400" spc="-1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J</a:t>
            </a:r>
            <a:r>
              <a:rPr sz="2400" spc="-1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Q`</a:t>
            </a:r>
            <a:r>
              <a:rPr sz="24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+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K`</a:t>
            </a:r>
            <a:r>
              <a:rPr sz="2400" spc="-1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Tahoma"/>
                <a:cs typeface="Tahoma"/>
              </a:rPr>
              <a:t>Q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1564FDC-CE6D-02BA-85DE-759047E70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833" y="3960790"/>
            <a:ext cx="3915321" cy="242921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442417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100"/>
              </a:spcBef>
            </a:pPr>
            <a:r>
              <a:rPr sz="3300" b="1" dirty="0">
                <a:latin typeface="Tahoma"/>
                <a:cs typeface="Tahoma"/>
              </a:rPr>
              <a:t>T</a:t>
            </a:r>
            <a:r>
              <a:rPr sz="3300" b="1" spc="-15" dirty="0">
                <a:latin typeface="Tahoma"/>
                <a:cs typeface="Tahoma"/>
              </a:rPr>
              <a:t> </a:t>
            </a:r>
            <a:r>
              <a:rPr sz="3300" b="1" spc="-10" dirty="0">
                <a:latin typeface="Tahoma"/>
                <a:cs typeface="Tahoma"/>
              </a:rPr>
              <a:t>Flip-</a:t>
            </a:r>
            <a:r>
              <a:rPr sz="3300" b="1" spc="-20" dirty="0">
                <a:latin typeface="Tahoma"/>
                <a:cs typeface="Tahoma"/>
              </a:rPr>
              <a:t>Flop</a:t>
            </a:r>
            <a:endParaRPr sz="33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2858" y="3627283"/>
            <a:ext cx="3068204" cy="26848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8267" y="1660652"/>
            <a:ext cx="768477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8321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The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T(toggle)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flip-flop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is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 complementing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flip-flop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and </a:t>
            </a:r>
            <a:r>
              <a:rPr sz="2400" dirty="0">
                <a:latin typeface="Tahoma"/>
                <a:cs typeface="Tahoma"/>
              </a:rPr>
              <a:t>can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obtained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from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JK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flip-flop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when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inputs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J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and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K </a:t>
            </a:r>
            <a:r>
              <a:rPr sz="2400" dirty="0">
                <a:latin typeface="Tahoma"/>
                <a:cs typeface="Tahoma"/>
              </a:rPr>
              <a:t>are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tied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together.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6E1477-F1DC-79C0-7A75-36D259D4A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9159" y="3707066"/>
            <a:ext cx="5681453" cy="160159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0148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3300" b="1" dirty="0">
                <a:latin typeface="Tahoma"/>
                <a:cs typeface="Tahoma"/>
              </a:rPr>
              <a:t>T</a:t>
            </a:r>
            <a:r>
              <a:rPr sz="3300" b="1" spc="-15" dirty="0">
                <a:latin typeface="Tahoma"/>
                <a:cs typeface="Tahoma"/>
              </a:rPr>
              <a:t> </a:t>
            </a:r>
            <a:r>
              <a:rPr sz="3300" b="1" spc="-10" dirty="0">
                <a:latin typeface="Tahoma"/>
                <a:cs typeface="Tahoma"/>
              </a:rPr>
              <a:t>Flip-</a:t>
            </a:r>
            <a:r>
              <a:rPr sz="3300" b="1" spc="-20" dirty="0">
                <a:latin typeface="Tahoma"/>
                <a:cs typeface="Tahoma"/>
              </a:rPr>
              <a:t>Flop</a:t>
            </a:r>
            <a:endParaRPr sz="3300" dirty="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1017" y="4055181"/>
            <a:ext cx="3604558" cy="262454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8175" y="4352925"/>
            <a:ext cx="2200275" cy="21812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82015" y="1827403"/>
            <a:ext cx="7919720" cy="173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The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flip-flop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can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be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constructed with a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flip-flop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and</a:t>
            </a:r>
            <a:r>
              <a:rPr sz="2400" spc="-25" dirty="0">
                <a:latin typeface="Tahoma"/>
                <a:cs typeface="Tahoma"/>
              </a:rPr>
              <a:t> an </a:t>
            </a:r>
            <a:r>
              <a:rPr sz="2400" spc="-20" dirty="0">
                <a:latin typeface="Tahoma"/>
                <a:cs typeface="Tahoma"/>
              </a:rPr>
              <a:t>exclusive-</a:t>
            </a:r>
            <a:r>
              <a:rPr sz="2400" dirty="0">
                <a:latin typeface="Tahoma"/>
                <a:cs typeface="Tahoma"/>
              </a:rPr>
              <a:t>OR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gates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as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shown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Fig. (b).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expression </a:t>
            </a:r>
            <a:r>
              <a:rPr sz="2400" dirty="0">
                <a:latin typeface="Tahoma"/>
                <a:cs typeface="Tahoma"/>
              </a:rPr>
              <a:t>for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input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is</a:t>
            </a:r>
            <a:endParaRPr sz="2400" dirty="0">
              <a:latin typeface="Tahoma"/>
              <a:cs typeface="Tahoma"/>
            </a:endParaRPr>
          </a:p>
          <a:p>
            <a:pPr marL="429895" algn="ctr">
              <a:lnSpc>
                <a:spcPct val="100000"/>
              </a:lnSpc>
              <a:spcBef>
                <a:spcPts val="1960"/>
              </a:spcBef>
              <a:tabLst>
                <a:tab pos="1797050" algn="l"/>
              </a:tabLst>
            </a:pP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D</a:t>
            </a:r>
            <a:r>
              <a:rPr sz="24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=</a:t>
            </a:r>
            <a:r>
              <a:rPr sz="2400" spc="-1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Tahoma"/>
                <a:cs typeface="Tahoma"/>
              </a:rPr>
              <a:t>T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	Q</a:t>
            </a:r>
            <a:r>
              <a:rPr sz="24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=</a:t>
            </a:r>
            <a:r>
              <a:rPr sz="24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TQ`</a:t>
            </a:r>
            <a:r>
              <a:rPr sz="2400" spc="-2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+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Tahoma"/>
                <a:cs typeface="Tahoma"/>
              </a:rPr>
              <a:t>T`Q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708400" y="3213100"/>
            <a:ext cx="288925" cy="288925"/>
          </a:xfrm>
          <a:custGeom>
            <a:avLst/>
            <a:gdLst/>
            <a:ahLst/>
            <a:cxnLst/>
            <a:rect l="l" t="t" r="r" b="b"/>
            <a:pathLst>
              <a:path w="288925" h="288925">
                <a:moveTo>
                  <a:pt x="144525" y="0"/>
                </a:moveTo>
                <a:lnTo>
                  <a:pt x="144525" y="288925"/>
                </a:lnTo>
              </a:path>
              <a:path w="288925" h="288925">
                <a:moveTo>
                  <a:pt x="0" y="144525"/>
                </a:moveTo>
                <a:lnTo>
                  <a:pt x="288925" y="144525"/>
                </a:lnTo>
              </a:path>
              <a:path w="288925" h="288925">
                <a:moveTo>
                  <a:pt x="0" y="144525"/>
                </a:moveTo>
                <a:lnTo>
                  <a:pt x="7361" y="98820"/>
                </a:lnTo>
                <a:lnTo>
                  <a:pt x="27866" y="59143"/>
                </a:lnTo>
                <a:lnTo>
                  <a:pt x="59143" y="27866"/>
                </a:lnTo>
                <a:lnTo>
                  <a:pt x="98820" y="7361"/>
                </a:lnTo>
                <a:lnTo>
                  <a:pt x="144525" y="0"/>
                </a:lnTo>
                <a:lnTo>
                  <a:pt x="190169" y="7361"/>
                </a:lnTo>
                <a:lnTo>
                  <a:pt x="229809" y="27866"/>
                </a:lnTo>
                <a:lnTo>
                  <a:pt x="261066" y="59143"/>
                </a:lnTo>
                <a:lnTo>
                  <a:pt x="281564" y="98820"/>
                </a:lnTo>
                <a:lnTo>
                  <a:pt x="288925" y="144525"/>
                </a:lnTo>
                <a:lnTo>
                  <a:pt x="281564" y="190169"/>
                </a:lnTo>
                <a:lnTo>
                  <a:pt x="261066" y="229809"/>
                </a:lnTo>
                <a:lnTo>
                  <a:pt x="229809" y="261066"/>
                </a:lnTo>
                <a:lnTo>
                  <a:pt x="190169" y="281564"/>
                </a:lnTo>
                <a:lnTo>
                  <a:pt x="144525" y="288925"/>
                </a:lnTo>
                <a:lnTo>
                  <a:pt x="98820" y="281564"/>
                </a:lnTo>
                <a:lnTo>
                  <a:pt x="59143" y="261066"/>
                </a:lnTo>
                <a:lnTo>
                  <a:pt x="27866" y="229809"/>
                </a:lnTo>
                <a:lnTo>
                  <a:pt x="7361" y="190169"/>
                </a:lnTo>
                <a:lnTo>
                  <a:pt x="0" y="144525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0148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3300" b="1" dirty="0">
                <a:latin typeface="Tahoma"/>
                <a:cs typeface="Tahoma"/>
              </a:rPr>
              <a:t>Characteristic</a:t>
            </a:r>
            <a:r>
              <a:rPr sz="3300" b="1" spc="-135" dirty="0">
                <a:latin typeface="Tahoma"/>
                <a:cs typeface="Tahoma"/>
              </a:rPr>
              <a:t> </a:t>
            </a:r>
            <a:r>
              <a:rPr sz="3300" b="1" spc="-10" dirty="0">
                <a:latin typeface="Tahoma"/>
                <a:cs typeface="Tahoma"/>
              </a:rPr>
              <a:t>Equations</a:t>
            </a:r>
            <a:endParaRPr sz="33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3917" y="1744726"/>
            <a:ext cx="5844540" cy="4196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D</a:t>
            </a:r>
            <a:r>
              <a:rPr sz="24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flip-flop</a:t>
            </a:r>
            <a:r>
              <a:rPr sz="24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Characteristic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Equations</a:t>
            </a:r>
            <a:endParaRPr sz="2400">
              <a:latin typeface="Tahoma"/>
              <a:cs typeface="Tahoma"/>
            </a:endParaRPr>
          </a:p>
          <a:p>
            <a:pPr marL="1445260" algn="ctr">
              <a:lnSpc>
                <a:spcPct val="100000"/>
              </a:lnSpc>
              <a:spcBef>
                <a:spcPts val="2130"/>
              </a:spcBef>
            </a:pPr>
            <a:r>
              <a:rPr sz="2400" dirty="0">
                <a:latin typeface="Tahoma"/>
                <a:cs typeface="Tahoma"/>
              </a:rPr>
              <a:t>Q(t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+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1)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D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325"/>
              </a:spcBef>
            </a:pP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JK</a:t>
            </a:r>
            <a:r>
              <a:rPr sz="2400" spc="-10" dirty="0">
                <a:solidFill>
                  <a:srgbClr val="FF0000"/>
                </a:solidFill>
                <a:latin typeface="Tahoma"/>
                <a:cs typeface="Tahoma"/>
              </a:rPr>
              <a:t> flip-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flop</a:t>
            </a:r>
            <a:r>
              <a:rPr sz="24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Characteristic Equations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2400">
              <a:latin typeface="Tahoma"/>
              <a:cs typeface="Tahoma"/>
            </a:endParaRPr>
          </a:p>
          <a:p>
            <a:pPr marL="2193925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Q(t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+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1)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JQ`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+</a:t>
            </a:r>
            <a:r>
              <a:rPr sz="2400" spc="-25" dirty="0">
                <a:latin typeface="Tahoma"/>
                <a:cs typeface="Tahoma"/>
              </a:rPr>
              <a:t> K`Q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90"/>
              </a:spcBef>
            </a:pPr>
            <a:endParaRPr sz="2400">
              <a:latin typeface="Tahoma"/>
              <a:cs typeface="Tahoma"/>
            </a:endParaRPr>
          </a:p>
          <a:p>
            <a:pPr marL="33020">
              <a:lnSpc>
                <a:spcPct val="100000"/>
              </a:lnSpc>
            </a:pP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T</a:t>
            </a:r>
            <a:r>
              <a:rPr sz="2400" spc="-7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flip-flop</a:t>
            </a:r>
            <a:r>
              <a:rPr sz="2400" spc="-7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Characteristic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Equations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2400">
              <a:latin typeface="Tahoma"/>
              <a:cs typeface="Tahoma"/>
            </a:endParaRPr>
          </a:p>
          <a:p>
            <a:pPr marL="1460500" algn="ctr">
              <a:lnSpc>
                <a:spcPct val="100000"/>
              </a:lnSpc>
              <a:tabLst>
                <a:tab pos="3656965" algn="l"/>
              </a:tabLst>
            </a:pPr>
            <a:r>
              <a:rPr sz="2400" dirty="0">
                <a:latin typeface="Tahoma"/>
                <a:cs typeface="Tahoma"/>
              </a:rPr>
              <a:t>Q(t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+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1)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T</a:t>
            </a:r>
            <a:r>
              <a:rPr sz="2400" dirty="0">
                <a:latin typeface="Tahoma"/>
                <a:cs typeface="Tahoma"/>
              </a:rPr>
              <a:t>	Q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TQ`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+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T`Q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067175" y="5588000"/>
            <a:ext cx="288925" cy="288925"/>
          </a:xfrm>
          <a:custGeom>
            <a:avLst/>
            <a:gdLst/>
            <a:ahLst/>
            <a:cxnLst/>
            <a:rect l="l" t="t" r="r" b="b"/>
            <a:pathLst>
              <a:path w="288925" h="288925">
                <a:moveTo>
                  <a:pt x="144525" y="0"/>
                </a:moveTo>
                <a:lnTo>
                  <a:pt x="144525" y="288925"/>
                </a:lnTo>
              </a:path>
              <a:path w="288925" h="288925">
                <a:moveTo>
                  <a:pt x="0" y="144462"/>
                </a:moveTo>
                <a:lnTo>
                  <a:pt x="288925" y="144462"/>
                </a:lnTo>
              </a:path>
              <a:path w="288925" h="288925">
                <a:moveTo>
                  <a:pt x="0" y="144462"/>
                </a:moveTo>
                <a:lnTo>
                  <a:pt x="7361" y="98802"/>
                </a:lnTo>
                <a:lnTo>
                  <a:pt x="27866" y="59146"/>
                </a:lnTo>
                <a:lnTo>
                  <a:pt x="59143" y="27873"/>
                </a:lnTo>
                <a:lnTo>
                  <a:pt x="98820" y="7365"/>
                </a:lnTo>
                <a:lnTo>
                  <a:pt x="144525" y="0"/>
                </a:lnTo>
                <a:lnTo>
                  <a:pt x="190169" y="7365"/>
                </a:lnTo>
                <a:lnTo>
                  <a:pt x="229809" y="27873"/>
                </a:lnTo>
                <a:lnTo>
                  <a:pt x="261066" y="59146"/>
                </a:lnTo>
                <a:lnTo>
                  <a:pt x="281564" y="98802"/>
                </a:lnTo>
                <a:lnTo>
                  <a:pt x="288925" y="144462"/>
                </a:lnTo>
                <a:lnTo>
                  <a:pt x="281564" y="190122"/>
                </a:lnTo>
                <a:lnTo>
                  <a:pt x="261066" y="229778"/>
                </a:lnTo>
                <a:lnTo>
                  <a:pt x="229809" y="261051"/>
                </a:lnTo>
                <a:lnTo>
                  <a:pt x="190169" y="281559"/>
                </a:lnTo>
                <a:lnTo>
                  <a:pt x="144525" y="288925"/>
                </a:lnTo>
                <a:lnTo>
                  <a:pt x="98820" y="281559"/>
                </a:lnTo>
                <a:lnTo>
                  <a:pt x="59143" y="261051"/>
                </a:lnTo>
                <a:lnTo>
                  <a:pt x="27866" y="229778"/>
                </a:lnTo>
                <a:lnTo>
                  <a:pt x="7361" y="190122"/>
                </a:lnTo>
                <a:lnTo>
                  <a:pt x="0" y="144462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0148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3300" b="1" dirty="0">
                <a:latin typeface="Tahoma"/>
                <a:cs typeface="Tahoma"/>
              </a:rPr>
              <a:t>Direct</a:t>
            </a:r>
            <a:r>
              <a:rPr sz="3300" b="1" spc="-90" dirty="0">
                <a:latin typeface="Tahoma"/>
                <a:cs typeface="Tahoma"/>
              </a:rPr>
              <a:t> </a:t>
            </a:r>
            <a:r>
              <a:rPr sz="3300" b="1" spc="-10" dirty="0">
                <a:latin typeface="Tahoma"/>
                <a:cs typeface="Tahoma"/>
              </a:rPr>
              <a:t>Inputs</a:t>
            </a:r>
            <a:endParaRPr sz="33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74065" y="1948053"/>
            <a:ext cx="8217534" cy="295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76884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Some</a:t>
            </a:r>
            <a:r>
              <a:rPr sz="2400" spc="23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flip-</a:t>
            </a:r>
            <a:r>
              <a:rPr sz="2400" dirty="0">
                <a:latin typeface="Tahoma"/>
                <a:cs typeface="Tahoma"/>
              </a:rPr>
              <a:t>flops</a:t>
            </a:r>
            <a:r>
              <a:rPr sz="2400" spc="2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have</a:t>
            </a:r>
            <a:r>
              <a:rPr sz="2400" spc="229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asynchronous</a:t>
            </a:r>
            <a:r>
              <a:rPr sz="2400" spc="2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inputs</a:t>
            </a:r>
            <a:r>
              <a:rPr sz="2400" spc="2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that</a:t>
            </a:r>
            <a:r>
              <a:rPr sz="2400" spc="2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are</a:t>
            </a:r>
            <a:r>
              <a:rPr sz="2400" spc="22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used </a:t>
            </a:r>
            <a:r>
              <a:rPr sz="2400" dirty="0">
                <a:latin typeface="Tahoma"/>
                <a:cs typeface="Tahoma"/>
              </a:rPr>
              <a:t>to</a:t>
            </a:r>
            <a:r>
              <a:rPr sz="2400" spc="8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force</a:t>
            </a:r>
            <a:r>
              <a:rPr sz="2400" spc="9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8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flip-</a:t>
            </a:r>
            <a:r>
              <a:rPr sz="2400" dirty="0">
                <a:latin typeface="Tahoma"/>
                <a:cs typeface="Tahoma"/>
              </a:rPr>
              <a:t>flop</a:t>
            </a:r>
            <a:r>
              <a:rPr sz="2400" spc="9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to</a:t>
            </a:r>
            <a:r>
              <a:rPr sz="2400" spc="9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9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particular</a:t>
            </a:r>
            <a:r>
              <a:rPr sz="2400" spc="8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state</a:t>
            </a:r>
            <a:r>
              <a:rPr sz="2400" spc="9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independent</a:t>
            </a:r>
            <a:r>
              <a:rPr sz="2400" spc="9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of</a:t>
            </a:r>
            <a:r>
              <a:rPr sz="2400" spc="9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the </a:t>
            </a:r>
            <a:r>
              <a:rPr sz="2400" dirty="0">
                <a:latin typeface="Tahoma"/>
                <a:cs typeface="Tahoma"/>
              </a:rPr>
              <a:t>clock.</a:t>
            </a:r>
            <a:r>
              <a:rPr sz="2400" spc="165" dirty="0"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The</a:t>
            </a:r>
            <a:r>
              <a:rPr sz="2400" spc="15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input</a:t>
            </a:r>
            <a:r>
              <a:rPr sz="2400" spc="16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that</a:t>
            </a:r>
            <a:r>
              <a:rPr sz="2400" spc="16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sets</a:t>
            </a:r>
            <a:r>
              <a:rPr sz="2400" spc="15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the</a:t>
            </a:r>
            <a:r>
              <a:rPr sz="2400" spc="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flip-flop</a:t>
            </a:r>
            <a:r>
              <a:rPr sz="2400" spc="17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to</a:t>
            </a:r>
            <a:r>
              <a:rPr sz="2400" spc="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1</a:t>
            </a:r>
            <a:r>
              <a:rPr sz="2400" spc="16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is</a:t>
            </a:r>
            <a:r>
              <a:rPr sz="2400" spc="1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called</a:t>
            </a:r>
            <a:r>
              <a:rPr sz="2400" spc="16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ahoma"/>
                <a:cs typeface="Tahoma"/>
              </a:rPr>
              <a:t>present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or</a:t>
            </a:r>
            <a:r>
              <a:rPr sz="2400" spc="8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direct</a:t>
            </a:r>
            <a:r>
              <a:rPr sz="2400" spc="9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set</a:t>
            </a:r>
            <a:r>
              <a:rPr sz="2400" dirty="0">
                <a:latin typeface="Tahoma"/>
                <a:cs typeface="Tahoma"/>
              </a:rPr>
              <a:t>.</a:t>
            </a:r>
            <a:r>
              <a:rPr sz="2400" spc="95" dirty="0"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The</a:t>
            </a:r>
            <a:r>
              <a:rPr sz="2400" spc="9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input</a:t>
            </a:r>
            <a:r>
              <a:rPr sz="2400" spc="9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that</a:t>
            </a:r>
            <a:r>
              <a:rPr sz="2400" spc="10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clears</a:t>
            </a:r>
            <a:r>
              <a:rPr sz="2400" spc="9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the</a:t>
            </a:r>
            <a:r>
              <a:rPr sz="2400" spc="9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ahoma"/>
                <a:cs typeface="Tahoma"/>
              </a:rPr>
              <a:t>flip-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flop</a:t>
            </a:r>
            <a:r>
              <a:rPr sz="2400" spc="8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to</a:t>
            </a:r>
            <a:r>
              <a:rPr sz="2400" spc="9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0</a:t>
            </a:r>
            <a:r>
              <a:rPr sz="2400" spc="9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is</a:t>
            </a:r>
            <a:r>
              <a:rPr sz="2400" spc="9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ahoma"/>
                <a:cs typeface="Tahoma"/>
              </a:rPr>
              <a:t>called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clear</a:t>
            </a:r>
            <a:r>
              <a:rPr sz="2400" spc="-65" dirty="0">
                <a:solidFill>
                  <a:srgbClr val="FF000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or</a:t>
            </a:r>
            <a:r>
              <a:rPr sz="2400" spc="-75" dirty="0">
                <a:solidFill>
                  <a:srgbClr val="FF000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direct</a:t>
            </a:r>
            <a:r>
              <a:rPr sz="2400" spc="-65" dirty="0">
                <a:solidFill>
                  <a:srgbClr val="FF0000"/>
                </a:solidFill>
                <a:latin typeface="Tahoma"/>
                <a:cs typeface="Tahoma"/>
              </a:rPr>
              <a:t> 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reset</a:t>
            </a:r>
            <a:r>
              <a:rPr sz="2400" dirty="0">
                <a:latin typeface="Tahoma"/>
                <a:cs typeface="Tahoma"/>
              </a:rPr>
              <a:t>.</a:t>
            </a:r>
            <a:r>
              <a:rPr sz="2400" spc="-65" dirty="0">
                <a:latin typeface="Tahoma"/>
                <a:cs typeface="Tahoma"/>
              </a:rPr>
              <a:t>  </a:t>
            </a:r>
            <a:r>
              <a:rPr sz="2400" dirty="0">
                <a:latin typeface="Tahoma"/>
                <a:cs typeface="Tahoma"/>
              </a:rPr>
              <a:t>When</a:t>
            </a:r>
            <a:r>
              <a:rPr sz="2400" spc="-65" dirty="0">
                <a:latin typeface="Tahoma"/>
                <a:cs typeface="Tahoma"/>
              </a:rPr>
              <a:t>  </a:t>
            </a:r>
            <a:r>
              <a:rPr sz="2400" dirty="0">
                <a:latin typeface="Tahoma"/>
                <a:cs typeface="Tahoma"/>
              </a:rPr>
              <a:t>power</a:t>
            </a:r>
            <a:r>
              <a:rPr sz="2400" spc="-65" dirty="0">
                <a:latin typeface="Tahoma"/>
                <a:cs typeface="Tahoma"/>
              </a:rPr>
              <a:t>  </a:t>
            </a:r>
            <a:r>
              <a:rPr sz="2400" dirty="0">
                <a:latin typeface="Tahoma"/>
                <a:cs typeface="Tahoma"/>
              </a:rPr>
              <a:t>is</a:t>
            </a:r>
            <a:r>
              <a:rPr sz="2400" spc="-65" dirty="0">
                <a:latin typeface="Tahoma"/>
                <a:cs typeface="Tahoma"/>
              </a:rPr>
              <a:t>  </a:t>
            </a:r>
            <a:r>
              <a:rPr sz="2400" dirty="0">
                <a:latin typeface="Tahoma"/>
                <a:cs typeface="Tahoma"/>
              </a:rPr>
              <a:t>turned</a:t>
            </a:r>
            <a:r>
              <a:rPr sz="2400" spc="-75" dirty="0">
                <a:latin typeface="Tahoma"/>
                <a:cs typeface="Tahoma"/>
              </a:rPr>
              <a:t>  </a:t>
            </a:r>
            <a:r>
              <a:rPr sz="2400" dirty="0">
                <a:latin typeface="Tahoma"/>
                <a:cs typeface="Tahoma"/>
              </a:rPr>
              <a:t>on</a:t>
            </a:r>
            <a:r>
              <a:rPr sz="2400" spc="-70" dirty="0">
                <a:latin typeface="Tahoma"/>
                <a:cs typeface="Tahoma"/>
              </a:rPr>
              <a:t> 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75" dirty="0">
                <a:latin typeface="Tahoma"/>
                <a:cs typeface="Tahoma"/>
              </a:rPr>
              <a:t>  </a:t>
            </a:r>
            <a:r>
              <a:rPr sz="2400" spc="-10" dirty="0">
                <a:latin typeface="Tahoma"/>
                <a:cs typeface="Tahoma"/>
              </a:rPr>
              <a:t>digital </a:t>
            </a:r>
            <a:r>
              <a:rPr sz="2400" dirty="0">
                <a:latin typeface="Tahoma"/>
                <a:cs typeface="Tahoma"/>
              </a:rPr>
              <a:t>system,</a:t>
            </a:r>
            <a:r>
              <a:rPr sz="2400" spc="484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48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state</a:t>
            </a:r>
            <a:r>
              <a:rPr sz="2400" spc="484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of</a:t>
            </a:r>
            <a:r>
              <a:rPr sz="2400" spc="48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47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flip-</a:t>
            </a:r>
            <a:r>
              <a:rPr sz="2400" dirty="0">
                <a:latin typeface="Tahoma"/>
                <a:cs typeface="Tahoma"/>
              </a:rPr>
              <a:t>flops</a:t>
            </a:r>
            <a:r>
              <a:rPr sz="2400" spc="49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is</a:t>
            </a:r>
            <a:r>
              <a:rPr sz="2400" spc="47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unknown.</a:t>
            </a:r>
            <a:r>
              <a:rPr sz="2400" spc="48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484" dirty="0"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ahoma"/>
                <a:cs typeface="Tahoma"/>
              </a:rPr>
              <a:t>direct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inputs</a:t>
            </a:r>
            <a:r>
              <a:rPr sz="2400" spc="9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are</a:t>
            </a:r>
            <a:r>
              <a:rPr sz="2400" spc="7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useful</a:t>
            </a:r>
            <a:r>
              <a:rPr sz="2400" spc="8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for</a:t>
            </a:r>
            <a:r>
              <a:rPr sz="2400" spc="8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bringing</a:t>
            </a:r>
            <a:r>
              <a:rPr sz="2400" spc="8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all</a:t>
            </a:r>
            <a:r>
              <a:rPr sz="2400" spc="9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flip-</a:t>
            </a:r>
            <a:r>
              <a:rPr sz="2400" dirty="0">
                <a:latin typeface="Tahoma"/>
                <a:cs typeface="Tahoma"/>
              </a:rPr>
              <a:t>flops</a:t>
            </a:r>
            <a:r>
              <a:rPr sz="2400" spc="8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</a:t>
            </a:r>
            <a:r>
              <a:rPr sz="2400" spc="8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9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system</a:t>
            </a:r>
            <a:r>
              <a:rPr sz="2400" spc="7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to</a:t>
            </a:r>
            <a:r>
              <a:rPr sz="2400" spc="8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a </a:t>
            </a:r>
            <a:r>
              <a:rPr sz="2400" dirty="0">
                <a:latin typeface="Tahoma"/>
                <a:cs typeface="Tahoma"/>
              </a:rPr>
              <a:t>known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starting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state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prior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to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clocked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operation.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9993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95"/>
              </a:spcBef>
            </a:pPr>
            <a:r>
              <a:rPr sz="3100" b="1" dirty="0">
                <a:latin typeface="Tahoma"/>
                <a:cs typeface="Tahoma"/>
              </a:rPr>
              <a:t>D</a:t>
            </a:r>
            <a:r>
              <a:rPr sz="3100" b="1" spc="-100" dirty="0">
                <a:latin typeface="Tahoma"/>
                <a:cs typeface="Tahoma"/>
              </a:rPr>
              <a:t> </a:t>
            </a:r>
            <a:r>
              <a:rPr sz="3100" b="1" spc="-25" dirty="0">
                <a:latin typeface="Tahoma"/>
                <a:cs typeface="Tahoma"/>
              </a:rPr>
              <a:t>Flip-</a:t>
            </a:r>
            <a:r>
              <a:rPr sz="3100" b="1" dirty="0">
                <a:latin typeface="Tahoma"/>
                <a:cs typeface="Tahoma"/>
              </a:rPr>
              <a:t>Flop</a:t>
            </a:r>
            <a:r>
              <a:rPr sz="3100" b="1" spc="-80" dirty="0">
                <a:latin typeface="Tahoma"/>
                <a:cs typeface="Tahoma"/>
              </a:rPr>
              <a:t> </a:t>
            </a:r>
            <a:r>
              <a:rPr sz="3100" b="1" dirty="0">
                <a:latin typeface="Tahoma"/>
                <a:cs typeface="Tahoma"/>
              </a:rPr>
              <a:t>with</a:t>
            </a:r>
            <a:r>
              <a:rPr sz="3100" b="1" spc="-90" dirty="0">
                <a:latin typeface="Tahoma"/>
                <a:cs typeface="Tahoma"/>
              </a:rPr>
              <a:t> </a:t>
            </a:r>
            <a:r>
              <a:rPr sz="3100" b="1" dirty="0">
                <a:latin typeface="Tahoma"/>
                <a:cs typeface="Tahoma"/>
              </a:rPr>
              <a:t>Asynchronous</a:t>
            </a:r>
            <a:r>
              <a:rPr sz="3100" b="1" spc="-50" dirty="0">
                <a:latin typeface="Tahoma"/>
                <a:cs typeface="Tahoma"/>
              </a:rPr>
              <a:t> </a:t>
            </a:r>
            <a:r>
              <a:rPr sz="3100" b="1" spc="-10" dirty="0">
                <a:latin typeface="Tahoma"/>
                <a:cs typeface="Tahoma"/>
              </a:rPr>
              <a:t>Reset</a:t>
            </a:r>
            <a:endParaRPr sz="31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966" y="2532663"/>
            <a:ext cx="7623468" cy="407921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742" y="1731975"/>
            <a:ext cx="819912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A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positive-edge-</a:t>
            </a:r>
            <a:r>
              <a:rPr sz="2400" dirty="0">
                <a:latin typeface="Tahoma"/>
                <a:cs typeface="Tahoma"/>
              </a:rPr>
              <a:t>triggered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D</a:t>
            </a:r>
            <a:r>
              <a:rPr sz="2400" spc="-1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flip-flop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with</a:t>
            </a:r>
            <a:r>
              <a:rPr sz="2400" spc="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asynchronous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reset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is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shown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Fig(a).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9993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95"/>
              </a:spcBef>
            </a:pPr>
            <a:r>
              <a:rPr sz="3100" b="1" dirty="0">
                <a:latin typeface="Tahoma"/>
                <a:cs typeface="Tahoma"/>
              </a:rPr>
              <a:t>D</a:t>
            </a:r>
            <a:r>
              <a:rPr sz="3100" b="1" spc="-100" dirty="0">
                <a:latin typeface="Tahoma"/>
                <a:cs typeface="Tahoma"/>
              </a:rPr>
              <a:t> </a:t>
            </a:r>
            <a:r>
              <a:rPr sz="3100" b="1" spc="-25" dirty="0">
                <a:latin typeface="Tahoma"/>
                <a:cs typeface="Tahoma"/>
              </a:rPr>
              <a:t>Flip-</a:t>
            </a:r>
            <a:r>
              <a:rPr sz="3100" b="1" dirty="0">
                <a:latin typeface="Tahoma"/>
                <a:cs typeface="Tahoma"/>
              </a:rPr>
              <a:t>Flop</a:t>
            </a:r>
            <a:r>
              <a:rPr sz="3100" b="1" spc="-80" dirty="0">
                <a:latin typeface="Tahoma"/>
                <a:cs typeface="Tahoma"/>
              </a:rPr>
              <a:t> </a:t>
            </a:r>
            <a:r>
              <a:rPr sz="3100" b="1" dirty="0">
                <a:latin typeface="Tahoma"/>
                <a:cs typeface="Tahoma"/>
              </a:rPr>
              <a:t>with</a:t>
            </a:r>
            <a:r>
              <a:rPr sz="3100" b="1" spc="-90" dirty="0">
                <a:latin typeface="Tahoma"/>
                <a:cs typeface="Tahoma"/>
              </a:rPr>
              <a:t> </a:t>
            </a:r>
            <a:r>
              <a:rPr sz="3100" b="1" dirty="0">
                <a:latin typeface="Tahoma"/>
                <a:cs typeface="Tahoma"/>
              </a:rPr>
              <a:t>Asynchronous</a:t>
            </a:r>
            <a:r>
              <a:rPr sz="3100" b="1" spc="-50" dirty="0">
                <a:latin typeface="Tahoma"/>
                <a:cs typeface="Tahoma"/>
              </a:rPr>
              <a:t> </a:t>
            </a:r>
            <a:r>
              <a:rPr sz="3100" b="1" spc="-10" dirty="0">
                <a:latin typeface="Tahoma"/>
                <a:cs typeface="Tahoma"/>
              </a:rPr>
              <a:t>Reset</a:t>
            </a:r>
            <a:endParaRPr sz="31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4606" y="2301968"/>
            <a:ext cx="7468396" cy="349832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Words>881</Words>
  <Application>Microsoft Office PowerPoint</Application>
  <PresentationFormat>On-screen Show (4:3)</PresentationFormat>
  <Paragraphs>75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 MT</vt:lpstr>
      <vt:lpstr>Tahoma</vt:lpstr>
      <vt:lpstr>Office Theme</vt:lpstr>
      <vt:lpstr>Sequential Circuits</vt:lpstr>
      <vt:lpstr>Sequential Circuits</vt:lpstr>
      <vt:lpstr>Synchronous Clocked Sequential Circuit</vt:lpstr>
      <vt:lpstr>Sequential Circuits Types</vt:lpstr>
      <vt:lpstr>Sequential Circuits Types</vt:lpstr>
      <vt:lpstr>Difference b/w Latch and Flipflop</vt:lpstr>
      <vt:lpstr>PowerPoint Presentation</vt:lpstr>
      <vt:lpstr>SR Latch with NAND Gates</vt:lpstr>
      <vt:lpstr>SR Latch with Control Input</vt:lpstr>
      <vt:lpstr>D Latch (Transparent Latch) </vt:lpstr>
      <vt:lpstr>Graphic Symbols for latches</vt:lpstr>
      <vt:lpstr>5-3 Flip-Flops</vt:lpstr>
      <vt:lpstr>Clock Response in Latch</vt:lpstr>
      <vt:lpstr>Clock Response in Flip-Flop</vt:lpstr>
      <vt:lpstr>Edge-Triggered D Flip-Flop</vt:lpstr>
      <vt:lpstr>D-Type Positive-Edge-Triggered Flip-Flop</vt:lpstr>
      <vt:lpstr>Graphic Symbol for Edge-Triggered D Flip-Flop</vt:lpstr>
      <vt:lpstr>Other Flip-Flops JK Flip-Flop</vt:lpstr>
      <vt:lpstr>JK Flip-Flop</vt:lpstr>
      <vt:lpstr>T Flip-Flop</vt:lpstr>
      <vt:lpstr>T Flip-Flop</vt:lpstr>
      <vt:lpstr>Characteristic Equations</vt:lpstr>
      <vt:lpstr>Direct Inputs</vt:lpstr>
      <vt:lpstr>D Flip-Flop with Asynchronous Reset</vt:lpstr>
      <vt:lpstr>D Flip-Flop with Asynchronous Reset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 Synchronous Sequential Logic  5-1 Sequential Circuits</dc:title>
  <dc:creator>user</dc:creator>
  <cp:lastModifiedBy>Lalitha Vinay</cp:lastModifiedBy>
  <cp:revision>1</cp:revision>
  <dcterms:created xsi:type="dcterms:W3CDTF">2025-11-18T03:44:26Z</dcterms:created>
  <dcterms:modified xsi:type="dcterms:W3CDTF">2025-11-18T04:34:51Z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2018-04-10T00:00:00Z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2025-11-18T00:00:00Z</vt:filetime>
  </property>
  <property fmtid="{D5CDD505-2E9C-101B-9397-08002B2CF9AE}" pid="5" name="Producer">
    <vt:lpwstr>Microsoft® Office PowerPoint® 2007</vt:lpwstr>
  </property>
</Properties>
</file>