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70"/>
  </p:notesMasterIdLst>
  <p:sldIdLst>
    <p:sldId id="256" r:id="rId2"/>
    <p:sldId id="269" r:id="rId3"/>
    <p:sldId id="270" r:id="rId4"/>
    <p:sldId id="267" r:id="rId5"/>
    <p:sldId id="268" r:id="rId6"/>
    <p:sldId id="271" r:id="rId7"/>
    <p:sldId id="272" r:id="rId8"/>
    <p:sldId id="273" r:id="rId9"/>
    <p:sldId id="274" r:id="rId10"/>
    <p:sldId id="275" r:id="rId11"/>
    <p:sldId id="299" r:id="rId12"/>
    <p:sldId id="300" r:id="rId13"/>
    <p:sldId id="301"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302" r:id="rId38"/>
    <p:sldId id="303" r:id="rId39"/>
    <p:sldId id="305" r:id="rId40"/>
    <p:sldId id="310" r:id="rId41"/>
    <p:sldId id="311" r:id="rId42"/>
    <p:sldId id="349" r:id="rId43"/>
    <p:sldId id="348" r:id="rId44"/>
    <p:sldId id="312" r:id="rId45"/>
    <p:sldId id="313" r:id="rId46"/>
    <p:sldId id="314" r:id="rId47"/>
    <p:sldId id="315" r:id="rId48"/>
    <p:sldId id="316" r:id="rId49"/>
    <p:sldId id="317" r:id="rId50"/>
    <p:sldId id="318" r:id="rId51"/>
    <p:sldId id="319" r:id="rId52"/>
    <p:sldId id="320" r:id="rId53"/>
    <p:sldId id="321" r:id="rId54"/>
    <p:sldId id="322" r:id="rId55"/>
    <p:sldId id="323" r:id="rId56"/>
    <p:sldId id="324" r:id="rId57"/>
    <p:sldId id="350" r:id="rId58"/>
    <p:sldId id="352" r:id="rId59"/>
    <p:sldId id="354" r:id="rId60"/>
    <p:sldId id="355" r:id="rId61"/>
    <p:sldId id="326" r:id="rId62"/>
    <p:sldId id="341" r:id="rId63"/>
    <p:sldId id="345" r:id="rId64"/>
    <p:sldId id="342" r:id="rId65"/>
    <p:sldId id="343" r:id="rId66"/>
    <p:sldId id="344" r:id="rId67"/>
    <p:sldId id="346" r:id="rId68"/>
    <p:sldId id="347"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80" y="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F30FD-4772-4B62-BA58-1DC4685C010A}" type="datetimeFigureOut">
              <a:rPr lang="en-IN" smtClean="0"/>
              <a:t>23-10-2025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7C512-D521-49AB-A5D9-97F3802AF0EF}" type="slidenum">
              <a:rPr lang="en-IN" smtClean="0"/>
              <a:t>‹#›</a:t>
            </a:fld>
            <a:endParaRPr lang="en-IN"/>
          </a:p>
        </p:txBody>
      </p:sp>
    </p:spTree>
    <p:extLst>
      <p:ext uri="{BB962C8B-B14F-4D97-AF65-F5344CB8AC3E}">
        <p14:creationId xmlns:p14="http://schemas.microsoft.com/office/powerpoint/2010/main" val="632566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77C512-D521-49AB-A5D9-97F3802AF0EF}" type="slidenum">
              <a:rPr lang="en-IN" smtClean="0"/>
              <a:t>65</a:t>
            </a:fld>
            <a:endParaRPr lang="en-IN"/>
          </a:p>
        </p:txBody>
      </p:sp>
    </p:spTree>
    <p:extLst>
      <p:ext uri="{BB962C8B-B14F-4D97-AF65-F5344CB8AC3E}">
        <p14:creationId xmlns:p14="http://schemas.microsoft.com/office/powerpoint/2010/main" val="2653264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B2EDC-3BF9-3509-D1B2-42AB3E10C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F0EF3-82AB-7008-A66A-E3066BEB693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3076899-2B56-08D2-DB86-CFFC127A1F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922F1D-025E-182B-0251-6CB016020D40}"/>
              </a:ext>
            </a:extLst>
          </p:cNvPr>
          <p:cNvSpPr>
            <a:spLocks noGrp="1"/>
          </p:cNvSpPr>
          <p:nvPr>
            <p:ph type="sldNum" sz="quarter" idx="5"/>
          </p:nvPr>
        </p:nvSpPr>
        <p:spPr/>
        <p:txBody>
          <a:bodyPr/>
          <a:lstStyle/>
          <a:p>
            <a:fld id="{A877C512-D521-49AB-A5D9-97F3802AF0EF}" type="slidenum">
              <a:rPr lang="en-IN" smtClean="0"/>
              <a:t>66</a:t>
            </a:fld>
            <a:endParaRPr lang="en-IN"/>
          </a:p>
        </p:txBody>
      </p:sp>
    </p:spTree>
    <p:extLst>
      <p:ext uri="{BB962C8B-B14F-4D97-AF65-F5344CB8AC3E}">
        <p14:creationId xmlns:p14="http://schemas.microsoft.com/office/powerpoint/2010/main" val="1485572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3490B-FF12-914A-7C25-6E9258C78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A3B38E-0CF9-DEF2-1B79-D83CA840BC5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DB42DD6-188F-4C9A-232B-F56B02D0B31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47D9587-1A3C-6B23-FC30-EF1DF708D73E}"/>
              </a:ext>
            </a:extLst>
          </p:cNvPr>
          <p:cNvSpPr>
            <a:spLocks noGrp="1"/>
          </p:cNvSpPr>
          <p:nvPr>
            <p:ph type="sldNum" sz="quarter" idx="5"/>
          </p:nvPr>
        </p:nvSpPr>
        <p:spPr/>
        <p:txBody>
          <a:bodyPr/>
          <a:lstStyle/>
          <a:p>
            <a:fld id="{A877C512-D521-49AB-A5D9-97F3802AF0EF}" type="slidenum">
              <a:rPr lang="en-IN" smtClean="0"/>
              <a:t>67</a:t>
            </a:fld>
            <a:endParaRPr lang="en-IN"/>
          </a:p>
        </p:txBody>
      </p:sp>
    </p:spTree>
    <p:extLst>
      <p:ext uri="{BB962C8B-B14F-4D97-AF65-F5344CB8AC3E}">
        <p14:creationId xmlns:p14="http://schemas.microsoft.com/office/powerpoint/2010/main" val="920534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2FA75-CFA2-D889-92CB-441448EF7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01BF2-9669-6794-48C8-764E9DC4799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4D80B54-CF43-F6A9-69EE-7AA2EE39C0E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134ADC-6E17-F587-1275-DD403B60621D}"/>
              </a:ext>
            </a:extLst>
          </p:cNvPr>
          <p:cNvSpPr>
            <a:spLocks noGrp="1"/>
          </p:cNvSpPr>
          <p:nvPr>
            <p:ph type="sldNum" sz="quarter" idx="5"/>
          </p:nvPr>
        </p:nvSpPr>
        <p:spPr/>
        <p:txBody>
          <a:bodyPr/>
          <a:lstStyle/>
          <a:p>
            <a:fld id="{A877C512-D521-49AB-A5D9-97F3802AF0EF}" type="slidenum">
              <a:rPr lang="en-IN" smtClean="0"/>
              <a:t>68</a:t>
            </a:fld>
            <a:endParaRPr lang="en-IN"/>
          </a:p>
        </p:txBody>
      </p:sp>
    </p:spTree>
    <p:extLst>
      <p:ext uri="{BB962C8B-B14F-4D97-AF65-F5344CB8AC3E}">
        <p14:creationId xmlns:p14="http://schemas.microsoft.com/office/powerpoint/2010/main" val="4249904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1748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Tree>
    <p:extLst>
      <p:ext uri="{BB962C8B-B14F-4D97-AF65-F5344CB8AC3E}">
        <p14:creationId xmlns:p14="http://schemas.microsoft.com/office/powerpoint/2010/main" val="139212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32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529D7-1925-4C58-B23A-B78C48636FDF}" type="slidenum">
              <a:rPr lang="en-US" smtClean="0"/>
              <a:pPr/>
              <a:t>‹#›</a:t>
            </a:fld>
            <a:endParaRPr lang="en-US"/>
          </a:p>
        </p:txBody>
      </p:sp>
    </p:spTree>
    <p:extLst>
      <p:ext uri="{BB962C8B-B14F-4D97-AF65-F5344CB8AC3E}">
        <p14:creationId xmlns:p14="http://schemas.microsoft.com/office/powerpoint/2010/main" val="168211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5529D7-1925-4C58-B23A-B78C48636FDF}" type="slidenum">
              <a:rPr lang="en-US" smtClean="0"/>
              <a:pPr/>
              <a:t>‹#›</a:t>
            </a:fld>
            <a:endParaRPr lang="en-US"/>
          </a:p>
        </p:txBody>
      </p:sp>
    </p:spTree>
    <p:extLst>
      <p:ext uri="{BB962C8B-B14F-4D97-AF65-F5344CB8AC3E}">
        <p14:creationId xmlns:p14="http://schemas.microsoft.com/office/powerpoint/2010/main" val="1161068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5529D7-1925-4C58-B23A-B78C48636FDF}" type="slidenum">
              <a:rPr lang="en-US" smtClean="0"/>
              <a:pPr/>
              <a:t>‹#›</a:t>
            </a:fld>
            <a:endParaRPr lang="en-US"/>
          </a:p>
        </p:txBody>
      </p:sp>
    </p:spTree>
    <p:extLst>
      <p:ext uri="{BB962C8B-B14F-4D97-AF65-F5344CB8AC3E}">
        <p14:creationId xmlns:p14="http://schemas.microsoft.com/office/powerpoint/2010/main" val="648872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F5529D7-1925-4C58-B23A-B78C48636FDF}" type="slidenum">
              <a:rPr lang="en-US" smtClean="0"/>
              <a:pPr/>
              <a:t>‹#›</a:t>
            </a:fld>
            <a:endParaRPr lang="en-US"/>
          </a:p>
        </p:txBody>
      </p:sp>
    </p:spTree>
    <p:extLst>
      <p:ext uri="{BB962C8B-B14F-4D97-AF65-F5344CB8AC3E}">
        <p14:creationId xmlns:p14="http://schemas.microsoft.com/office/powerpoint/2010/main" val="1104114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C7D5B429-2941-47A8-BC89-86C2E4686CF3}" type="datetimeFigureOut">
              <a:rPr lang="en-US" smtClean="0"/>
              <a:pPr/>
              <a:t>10/23/2025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F5529D7-1925-4C58-B23A-B78C48636FDF}" type="slidenum">
              <a:rPr lang="en-US" smtClean="0"/>
              <a:pPr/>
              <a:t>‹#›</a:t>
            </a:fld>
            <a:endParaRPr lang="en-US"/>
          </a:p>
        </p:txBody>
      </p:sp>
    </p:spTree>
    <p:extLst>
      <p:ext uri="{BB962C8B-B14F-4D97-AF65-F5344CB8AC3E}">
        <p14:creationId xmlns:p14="http://schemas.microsoft.com/office/powerpoint/2010/main" val="352846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529D7-1925-4C58-B23A-B78C48636FDF}" type="slidenum">
              <a:rPr lang="en-US" smtClean="0"/>
              <a:pPr/>
              <a:t>‹#›</a:t>
            </a:fld>
            <a:endParaRPr lang="en-US"/>
          </a:p>
        </p:txBody>
      </p:sp>
    </p:spTree>
    <p:extLst>
      <p:ext uri="{BB962C8B-B14F-4D97-AF65-F5344CB8AC3E}">
        <p14:creationId xmlns:p14="http://schemas.microsoft.com/office/powerpoint/2010/main" val="39211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Tree>
    <p:extLst>
      <p:ext uri="{BB962C8B-B14F-4D97-AF65-F5344CB8AC3E}">
        <p14:creationId xmlns:p14="http://schemas.microsoft.com/office/powerpoint/2010/main" val="2696310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D5B429-2941-47A8-BC89-86C2E4686CF3}" type="datetimeFigureOut">
              <a:rPr lang="en-US" smtClean="0"/>
              <a:pPr/>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529D7-1925-4C58-B23A-B78C48636FDF}" type="slidenum">
              <a:rPr lang="en-US" smtClean="0"/>
              <a:pPr/>
              <a:t>‹#›</a:t>
            </a:fld>
            <a:endParaRPr lang="en-US"/>
          </a:p>
        </p:txBody>
      </p:sp>
    </p:spTree>
    <p:extLst>
      <p:ext uri="{BB962C8B-B14F-4D97-AF65-F5344CB8AC3E}">
        <p14:creationId xmlns:p14="http://schemas.microsoft.com/office/powerpoint/2010/main" val="463898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7D5B429-2941-47A8-BC89-86C2E4686CF3}" type="datetimeFigureOut">
              <a:rPr lang="en-US" smtClean="0"/>
              <a:pPr/>
              <a:t>10/23/2025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FF5529D7-1925-4C58-B23A-B78C48636FDF}"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712776"/>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9305"/>
            <a:ext cx="7772400" cy="1829761"/>
          </a:xfrm>
        </p:spPr>
        <p:txBody>
          <a:bodyPr>
            <a:normAutofit/>
          </a:bodyPr>
          <a:lstStyle/>
          <a:p>
            <a:pPr algn="ctr"/>
            <a:r>
              <a:rPr lang="en-US" sz="4400" dirty="0">
                <a:latin typeface="Algerian" pitchFamily="82" charset="0"/>
              </a:rPr>
              <a:t>DATA STRUCTURES AND APPLICATIONS</a:t>
            </a:r>
          </a:p>
        </p:txBody>
      </p:sp>
      <p:sp>
        <p:nvSpPr>
          <p:cNvPr id="5" name="Title 1"/>
          <p:cNvSpPr txBox="1">
            <a:spLocks/>
          </p:cNvSpPr>
          <p:nvPr/>
        </p:nvSpPr>
        <p:spPr>
          <a:xfrm>
            <a:off x="838200" y="3571876"/>
            <a:ext cx="7772400" cy="1357322"/>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rPr>
              <a:t>Module</a:t>
            </a:r>
            <a:r>
              <a:rPr kumimoji="0" lang="en-US" sz="4400" b="1" i="0" u="none" strike="noStrike" kern="1200" cap="none" spc="0" normalizeH="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rPr>
              <a:t> - 1</a:t>
            </a: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4290"/>
            <a:ext cx="7772400" cy="714380"/>
          </a:xfrm>
        </p:spPr>
        <p:txBody>
          <a:bodyPr>
            <a:normAutofit/>
          </a:bodyPr>
          <a:lstStyle/>
          <a:p>
            <a:pPr algn="ctr"/>
            <a:r>
              <a:rPr lang="en-US" sz="4400" dirty="0" err="1">
                <a:latin typeface="Algerian" pitchFamily="82" charset="0"/>
              </a:rPr>
              <a:t>TextBooks</a:t>
            </a:r>
            <a:endParaRPr lang="en-US" sz="4400" dirty="0">
              <a:latin typeface="Algerian" pitchFamily="82" charset="0"/>
            </a:endParaRPr>
          </a:p>
        </p:txBody>
      </p:sp>
      <p:sp>
        <p:nvSpPr>
          <p:cNvPr id="5" name="Title 1"/>
          <p:cNvSpPr txBox="1">
            <a:spLocks/>
          </p:cNvSpPr>
          <p:nvPr/>
        </p:nvSpPr>
        <p:spPr>
          <a:xfrm>
            <a:off x="838200" y="1500174"/>
            <a:ext cx="7772400" cy="3429024"/>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4" name="Rectangle 3"/>
          <p:cNvSpPr/>
          <p:nvPr/>
        </p:nvSpPr>
        <p:spPr>
          <a:xfrm>
            <a:off x="642910" y="928670"/>
            <a:ext cx="7929618" cy="5355312"/>
          </a:xfrm>
          <a:prstGeom prst="rect">
            <a:avLst/>
          </a:prstGeom>
        </p:spPr>
        <p:txBody>
          <a:bodyPr wrap="square">
            <a:spAutoFit/>
          </a:bodyPr>
          <a:lstStyle/>
          <a:p>
            <a:r>
              <a:rPr lang="en-US" b="1" dirty="0"/>
              <a:t>Textbook:</a:t>
            </a:r>
          </a:p>
          <a:p>
            <a:r>
              <a:rPr lang="en-US" dirty="0"/>
              <a:t>1. Ellis Horowitz, </a:t>
            </a:r>
            <a:r>
              <a:rPr lang="en-US" dirty="0" err="1"/>
              <a:t>Sartaj</a:t>
            </a:r>
            <a:r>
              <a:rPr lang="en-US" dirty="0"/>
              <a:t> </a:t>
            </a:r>
            <a:r>
              <a:rPr lang="en-US" dirty="0" err="1"/>
              <a:t>Sahni</a:t>
            </a:r>
            <a:r>
              <a:rPr lang="en-US" dirty="0"/>
              <a:t> and Susan Anderson-Freed, Fundamentals of Data Structures in C, 2nd Ed, Universities Press, 2014</a:t>
            </a:r>
          </a:p>
          <a:p>
            <a:r>
              <a:rPr lang="en-US" b="1" dirty="0"/>
              <a:t>Reference Books:</a:t>
            </a:r>
          </a:p>
          <a:p>
            <a:r>
              <a:rPr lang="en-US" dirty="0"/>
              <a:t>1. Seymour </a:t>
            </a:r>
            <a:r>
              <a:rPr lang="en-US" dirty="0" err="1"/>
              <a:t>Lipschutz</a:t>
            </a:r>
            <a:r>
              <a:rPr lang="en-US" dirty="0"/>
              <a:t>, Data Structures </a:t>
            </a:r>
            <a:r>
              <a:rPr lang="en-US" dirty="0" err="1"/>
              <a:t>Schaum's</a:t>
            </a:r>
            <a:r>
              <a:rPr lang="en-US" dirty="0"/>
              <a:t> Outlines, Revised 1st Ed, McGraw Hill,</a:t>
            </a:r>
          </a:p>
          <a:p>
            <a:r>
              <a:rPr lang="en-US" dirty="0"/>
              <a:t>2014.</a:t>
            </a:r>
          </a:p>
          <a:p>
            <a:r>
              <a:rPr lang="en-US" dirty="0"/>
              <a:t>2. </a:t>
            </a:r>
            <a:r>
              <a:rPr lang="en-US" dirty="0" err="1"/>
              <a:t>Gilberg</a:t>
            </a:r>
            <a:r>
              <a:rPr lang="en-US" dirty="0"/>
              <a:t> &amp; </a:t>
            </a:r>
            <a:r>
              <a:rPr lang="en-US" dirty="0" err="1"/>
              <a:t>Forouzan</a:t>
            </a:r>
            <a:r>
              <a:rPr lang="en-US" dirty="0"/>
              <a:t>, Data Structures: A Pseudo-code approach with C, 2nd Ed, </a:t>
            </a:r>
            <a:r>
              <a:rPr lang="en-US" dirty="0" err="1"/>
              <a:t>Cengage</a:t>
            </a:r>
            <a:endParaRPr lang="en-US" dirty="0"/>
          </a:p>
          <a:p>
            <a:r>
              <a:rPr lang="en-US" dirty="0"/>
              <a:t>Learning,2014.</a:t>
            </a:r>
          </a:p>
          <a:p>
            <a:r>
              <a:rPr lang="en-US" dirty="0"/>
              <a:t>3. </a:t>
            </a:r>
            <a:r>
              <a:rPr lang="en-US" dirty="0" err="1"/>
              <a:t>Reema</a:t>
            </a:r>
            <a:r>
              <a:rPr lang="en-US" dirty="0"/>
              <a:t> </a:t>
            </a:r>
            <a:r>
              <a:rPr lang="en-US" dirty="0" err="1"/>
              <a:t>Thareja</a:t>
            </a:r>
            <a:r>
              <a:rPr lang="en-US" dirty="0"/>
              <a:t>, Data Structures using C, 3rd Ed, Oxford press, 2012.</a:t>
            </a:r>
          </a:p>
          <a:p>
            <a:r>
              <a:rPr lang="en-US" dirty="0"/>
              <a:t>4. Jean-Paul Tremblay &amp; Paul G. Sorenson, An Introduction to Data Structures with</a:t>
            </a:r>
          </a:p>
          <a:p>
            <a:r>
              <a:rPr lang="en-US" dirty="0"/>
              <a:t>Applications, 2nd Ed, McGraw Hill, 2013</a:t>
            </a:r>
          </a:p>
          <a:p>
            <a:r>
              <a:rPr lang="en-US" dirty="0"/>
              <a:t>5. A M </a:t>
            </a:r>
            <a:r>
              <a:rPr lang="en-US" dirty="0" err="1"/>
              <a:t>Tenenbaum</a:t>
            </a:r>
            <a:r>
              <a:rPr lang="en-US" dirty="0"/>
              <a:t>, Data Structures using C, PHI, 1989</a:t>
            </a:r>
          </a:p>
          <a:p>
            <a:r>
              <a:rPr lang="en-US" dirty="0"/>
              <a:t>6. Robert Kruse, Data Structures and Program Design in C, 2nd Ed, PHI, 1996.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4290"/>
            <a:ext cx="7772400" cy="714380"/>
          </a:xfrm>
        </p:spPr>
        <p:txBody>
          <a:bodyPr>
            <a:normAutofit/>
          </a:bodyPr>
          <a:lstStyle/>
          <a:p>
            <a:pPr algn="ctr"/>
            <a:r>
              <a:rPr lang="en-IN" sz="4400" dirty="0" err="1">
                <a:latin typeface="Algerian" pitchFamily="82" charset="0"/>
              </a:rPr>
              <a:t>TopICS</a:t>
            </a:r>
            <a:endParaRPr lang="en-US" sz="4400" dirty="0">
              <a:latin typeface="Algerian" pitchFamily="82" charset="0"/>
            </a:endParaRPr>
          </a:p>
        </p:txBody>
      </p:sp>
      <p:sp>
        <p:nvSpPr>
          <p:cNvPr id="5" name="Title 1"/>
          <p:cNvSpPr txBox="1">
            <a:spLocks/>
          </p:cNvSpPr>
          <p:nvPr/>
        </p:nvSpPr>
        <p:spPr>
          <a:xfrm>
            <a:off x="838200" y="1500174"/>
            <a:ext cx="7772400" cy="3429024"/>
          </a:xfrm>
          <a:prstGeom prst="rect">
            <a:avLst/>
          </a:prstGeom>
        </p:spPr>
        <p:txBody>
          <a:bodyPr vert="horz" anchor="b">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4" name="Title 1"/>
          <p:cNvSpPr txBox="1">
            <a:spLocks/>
          </p:cNvSpPr>
          <p:nvPr/>
        </p:nvSpPr>
        <p:spPr>
          <a:xfrm>
            <a:off x="642910" y="1357298"/>
            <a:ext cx="7915276" cy="4143404"/>
          </a:xfrm>
          <a:prstGeom prst="rect">
            <a:avLst/>
          </a:prstGeom>
        </p:spPr>
        <p:txBody>
          <a:bodyPr vert="horz" anchor="b">
            <a:normAutofit fontScale="97500"/>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Algerian" pitchFamily="82" charset="0"/>
              <a:ea typeface="+mj-ea"/>
              <a:cs typeface="+mj-cs"/>
            </a:endParaRPr>
          </a:p>
        </p:txBody>
      </p:sp>
      <p:sp>
        <p:nvSpPr>
          <p:cNvPr id="7" name="Rectangle 6"/>
          <p:cNvSpPr/>
          <p:nvPr/>
        </p:nvSpPr>
        <p:spPr>
          <a:xfrm>
            <a:off x="714348" y="785794"/>
            <a:ext cx="7929618" cy="6001643"/>
          </a:xfrm>
          <a:prstGeom prst="rect">
            <a:avLst/>
          </a:prstGeom>
        </p:spPr>
        <p:txBody>
          <a:bodyPr wrap="square">
            <a:spAutoFit/>
          </a:bodyPr>
          <a:lstStyle/>
          <a:p>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INTRODUCTION TO DATA STRUCTURES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Data Structures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Classifications (Primitive &amp; Non-Primitive)</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Data structure Operations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Review of pointers and dynamic Memory Allocation</a:t>
            </a:r>
          </a:p>
          <a:p>
            <a:pPr>
              <a:buFont typeface="Arial" pitchFamily="34" charset="0"/>
              <a:buChar char="•"/>
            </a:pPr>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ARRAYS and STRUCTURES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Arrays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Dynamic Allocated Arrays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Structures and Unions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Polynomials </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Sparse Matrices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representation of Multidimensional Arrays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Strings</a:t>
            </a:r>
          </a:p>
          <a:p>
            <a:r>
              <a:rPr lang="en-US" sz="2400" b="1" dirty="0">
                <a:effectLst>
                  <a:outerShdw blurRad="31750" dist="25400" dir="5400000" algn="tl" rotWithShape="0">
                    <a:srgbClr val="000000">
                      <a:alpha val="25000"/>
                    </a:srgbClr>
                  </a:outerShdw>
                </a:effectLst>
                <a:latin typeface="Times New Roman" pitchFamily="18" charset="0"/>
                <a:cs typeface="Times New Roman" pitchFamily="18" charset="0"/>
              </a:rPr>
              <a:t>STACKS</a:t>
            </a:r>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 Stacks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Stacks Using Dynamic Arrays</a:t>
            </a:r>
          </a:p>
          <a:p>
            <a:r>
              <a:rPr lang="en-US" sz="2400" dirty="0">
                <a:effectLst>
                  <a:outerShdw blurRad="31750" dist="25400" dir="5400000" algn="tl" rotWithShape="0">
                    <a:srgbClr val="000000">
                      <a:alpha val="25000"/>
                    </a:srgbClr>
                  </a:outerShdw>
                </a:effectLst>
                <a:latin typeface="Times New Roman" pitchFamily="18" charset="0"/>
                <a:cs typeface="Times New Roman" pitchFamily="18" charset="0"/>
              </a:rPr>
              <a:t>Evaluation and conversion of Expressions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710400"/>
            <a:ext cx="8072494" cy="4647426"/>
          </a:xfrm>
          <a:prstGeom prst="rect">
            <a:avLst/>
          </a:prstGeom>
          <a:noFill/>
        </p:spPr>
        <p:txBody>
          <a:bodyPr wrap="square" rtlCol="0">
            <a:sp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Arrays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An array data structure, or simply an array, is a data structure consisting of a collection of (mainly of similar data types) elements (values or variables), each identified by at least one array index or key. An array is stored so that the position of each element can be computed from its index tuple by a mathematical formula.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ARRAYS IN C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 one-dimensional array can be declared as follows: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list[5]; //array of 5 integers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plist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[5]; //array of 5 pointers to integers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Disadvantage: Not intelligent systems.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r>
              <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Array Placements</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2028825" y="1071546"/>
            <a:ext cx="5086350" cy="1552575"/>
          </a:xfrm>
          <a:prstGeom prst="rect">
            <a:avLst/>
          </a:prstGeom>
          <a:noFill/>
          <a:ln w="9525">
            <a:noFill/>
            <a:miter lim="800000"/>
            <a:headEnd/>
            <a:tailEnd/>
          </a:ln>
          <a:effectLst/>
        </p:spPr>
      </p:pic>
      <p:sp>
        <p:nvSpPr>
          <p:cNvPr id="5" name="Rectangle 4"/>
          <p:cNvSpPr/>
          <p:nvPr/>
        </p:nvSpPr>
        <p:spPr>
          <a:xfrm>
            <a:off x="285720" y="2380300"/>
            <a:ext cx="8286808" cy="2831544"/>
          </a:xfrm>
          <a:prstGeom prst="rect">
            <a:avLst/>
          </a:prstGeom>
        </p:spPr>
        <p:txBody>
          <a:bodyPr wrap="square">
            <a:spAutoFit/>
          </a:bodyPr>
          <a:lstStyle/>
          <a:p>
            <a:endParaRPr lang="en-US" dirty="0"/>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Compiler allocates 5 consecutive memory-locations for each of the variables 'list' and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plist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Address of first element list [0] is called base-address.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Memory-address of list[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can be computed by compiler as </a:t>
            </a:r>
          </a:p>
          <a:p>
            <a:endParaRPr lang="en-IN" dirty="0"/>
          </a:p>
          <a:p>
            <a:r>
              <a:rPr lang="en-US" b="1" dirty="0"/>
              <a:t>α + </a:t>
            </a:r>
            <a:r>
              <a:rPr lang="en-US" b="1" dirty="0" err="1"/>
              <a:t>i</a:t>
            </a:r>
            <a:r>
              <a:rPr lang="en-US" b="1" dirty="0"/>
              <a:t> * </a:t>
            </a:r>
            <a:r>
              <a:rPr lang="en-US" b="1" dirty="0" err="1"/>
              <a:t>sizeof</a:t>
            </a:r>
            <a:r>
              <a:rPr lang="en-US" b="1" dirty="0"/>
              <a:t> (</a:t>
            </a:r>
            <a:r>
              <a:rPr lang="en-US" b="1" dirty="0" err="1"/>
              <a:t>int</a:t>
            </a:r>
            <a:r>
              <a:rPr lang="en-US" b="1" dirty="0"/>
              <a:t>)  where  α =base address </a:t>
            </a:r>
          </a:p>
          <a:p>
            <a:endParaRPr lang="en-IN" b="1" dirty="0"/>
          </a:p>
          <a:p>
            <a:endParaRPr lang="en-US" dirty="0"/>
          </a:p>
        </p:txBody>
      </p:sp>
      <p:pic>
        <p:nvPicPr>
          <p:cNvPr id="2051" name="Picture 3"/>
          <p:cNvPicPr>
            <a:picLocks noChangeAspect="1" noChangeArrowheads="1"/>
          </p:cNvPicPr>
          <p:nvPr/>
        </p:nvPicPr>
        <p:blipFill>
          <a:blip r:embed="rId3"/>
          <a:srcRect/>
          <a:stretch>
            <a:fillRect/>
          </a:stretch>
        </p:blipFill>
        <p:spPr bwMode="auto">
          <a:xfrm>
            <a:off x="290513" y="4286256"/>
            <a:ext cx="8562975" cy="17430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fontScale="70000" lnSpcReduction="20000"/>
          </a:bodyPr>
          <a:lstStyle/>
          <a:p>
            <a:r>
              <a:rPr lang="en-US" sz="2600" b="1" u="sng" dirty="0"/>
              <a:t>Program to find sum of n numbers using array</a:t>
            </a:r>
          </a:p>
          <a:p>
            <a:r>
              <a:rPr lang="en-US" sz="2600" b="1" u="sng" dirty="0"/>
              <a:t> </a:t>
            </a:r>
          </a:p>
          <a:p>
            <a:r>
              <a:rPr lang="en-US" sz="3200" dirty="0"/>
              <a:t>#define MAX_SIZE 100 </a:t>
            </a:r>
          </a:p>
          <a:p>
            <a:r>
              <a:rPr lang="en-US" sz="3200" dirty="0"/>
              <a:t>float sum(float [ ], </a:t>
            </a:r>
            <a:r>
              <a:rPr lang="en-US" sz="3200" dirty="0" err="1"/>
              <a:t>int</a:t>
            </a:r>
            <a:r>
              <a:rPr lang="en-US" sz="3200" dirty="0"/>
              <a:t>); </a:t>
            </a:r>
          </a:p>
          <a:p>
            <a:r>
              <a:rPr lang="en-US" sz="3200" dirty="0"/>
              <a:t>float input[MAX_SIZE], answer; </a:t>
            </a:r>
          </a:p>
          <a:p>
            <a:r>
              <a:rPr lang="en-US" sz="3200" dirty="0" err="1"/>
              <a:t>int</a:t>
            </a:r>
            <a:r>
              <a:rPr lang="en-US" sz="3200" dirty="0"/>
              <a:t> </a:t>
            </a:r>
            <a:r>
              <a:rPr lang="en-US" sz="3200" dirty="0" err="1"/>
              <a:t>i</a:t>
            </a:r>
            <a:r>
              <a:rPr lang="en-US" sz="3200" dirty="0"/>
              <a:t>; </a:t>
            </a:r>
          </a:p>
          <a:p>
            <a:r>
              <a:rPr lang="en-US" sz="3200" dirty="0"/>
              <a:t>main ( ) </a:t>
            </a:r>
          </a:p>
          <a:p>
            <a:r>
              <a:rPr lang="en-US" sz="3200" dirty="0"/>
              <a:t>{ </a:t>
            </a:r>
          </a:p>
          <a:p>
            <a:r>
              <a:rPr lang="nn-NO" sz="3200" dirty="0"/>
              <a:t>for (i = 0; i &lt; MAX_SIZE; i++) </a:t>
            </a:r>
          </a:p>
          <a:p>
            <a:r>
              <a:rPr lang="en-US" sz="3200" dirty="0"/>
              <a:t>input[</a:t>
            </a:r>
            <a:r>
              <a:rPr lang="en-US" sz="3200" dirty="0" err="1"/>
              <a:t>i</a:t>
            </a:r>
            <a:r>
              <a:rPr lang="en-US" sz="3200" dirty="0"/>
              <a:t>] = </a:t>
            </a:r>
            <a:r>
              <a:rPr lang="en-US" sz="3200" dirty="0" err="1"/>
              <a:t>i</a:t>
            </a:r>
            <a:r>
              <a:rPr lang="en-US" sz="3200" dirty="0"/>
              <a:t>; </a:t>
            </a:r>
          </a:p>
          <a:p>
            <a:r>
              <a:rPr lang="en-US" sz="3200" dirty="0"/>
              <a:t>answer = sum(input, MAX_SIZE); </a:t>
            </a:r>
          </a:p>
          <a:p>
            <a:r>
              <a:rPr lang="en-US" sz="3200" dirty="0" err="1"/>
              <a:t>printf</a:t>
            </a:r>
            <a:r>
              <a:rPr lang="en-US" sz="3200" dirty="0"/>
              <a:t>("The sum is: %f\n", answer); </a:t>
            </a:r>
          </a:p>
          <a:p>
            <a:r>
              <a:rPr lang="en-US" sz="3200" dirty="0"/>
              <a:t>} </a:t>
            </a:r>
          </a:p>
          <a:p>
            <a:r>
              <a:rPr lang="en-US" sz="3200" dirty="0"/>
              <a:t>float sum(float list[ ], </a:t>
            </a:r>
            <a:r>
              <a:rPr lang="en-US" sz="3200" dirty="0" err="1"/>
              <a:t>int</a:t>
            </a:r>
            <a:r>
              <a:rPr lang="en-US" sz="3200" dirty="0"/>
              <a:t> n) </a:t>
            </a:r>
          </a:p>
          <a:p>
            <a:r>
              <a:rPr lang="en-US" sz="3200" dirty="0"/>
              <a:t>{ </a:t>
            </a:r>
          </a:p>
          <a:p>
            <a:r>
              <a:rPr lang="en-US" sz="3200" dirty="0" err="1"/>
              <a:t>int</a:t>
            </a:r>
            <a:r>
              <a:rPr lang="en-US" sz="3200" dirty="0"/>
              <a:t> </a:t>
            </a:r>
            <a:r>
              <a:rPr lang="en-US" sz="3200" dirty="0" err="1"/>
              <a:t>i</a:t>
            </a:r>
            <a:r>
              <a:rPr lang="en-US" sz="3200" dirty="0"/>
              <a:t>; </a:t>
            </a:r>
          </a:p>
          <a:p>
            <a:r>
              <a:rPr lang="en-US" sz="3200" dirty="0"/>
              <a:t>float </a:t>
            </a:r>
            <a:r>
              <a:rPr lang="en-US" sz="3200" dirty="0" err="1"/>
              <a:t>tempsum</a:t>
            </a:r>
            <a:r>
              <a:rPr lang="en-US" sz="3200" dirty="0"/>
              <a:t> = 0; </a:t>
            </a:r>
          </a:p>
          <a:p>
            <a:r>
              <a:rPr lang="nn-NO" sz="3200" dirty="0"/>
              <a:t>for (i = 0; i &lt; n; i++) </a:t>
            </a:r>
          </a:p>
          <a:p>
            <a:r>
              <a:rPr lang="en-US" sz="3200" dirty="0" err="1"/>
              <a:t>tempsum</a:t>
            </a:r>
            <a:r>
              <a:rPr lang="en-US" sz="3200" dirty="0"/>
              <a:t> += list[</a:t>
            </a:r>
            <a:r>
              <a:rPr lang="en-US" sz="3200" dirty="0" err="1"/>
              <a:t>i</a:t>
            </a:r>
            <a:r>
              <a:rPr lang="en-US" sz="3200" dirty="0"/>
              <a:t>]; </a:t>
            </a:r>
          </a:p>
          <a:p>
            <a:r>
              <a:rPr lang="en-US" sz="3200" dirty="0"/>
              <a:t>return </a:t>
            </a:r>
            <a:r>
              <a:rPr lang="en-US" sz="3200" dirty="0" err="1"/>
              <a:t>tempsum</a:t>
            </a:r>
            <a:r>
              <a:rPr lang="en-US" sz="3200" dirty="0"/>
              <a:t>; </a:t>
            </a:r>
          </a:p>
          <a:p>
            <a:r>
              <a:rPr lang="en-US" sz="3200" dirty="0"/>
              <a:t>} </a:t>
            </a: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Autofit/>
          </a:bodyPr>
          <a:lstStyle/>
          <a:p>
            <a:r>
              <a:rPr lang="en-US" sz="2200" b="1" dirty="0"/>
              <a:t>Code Breakdown</a:t>
            </a:r>
          </a:p>
          <a:p>
            <a:r>
              <a:rPr lang="en-US" sz="2200" b="1" dirty="0"/>
              <a:t>1. #define MAX_SIZE 100</a:t>
            </a:r>
          </a:p>
          <a:p>
            <a:r>
              <a:rPr lang="en-US" sz="2200" dirty="0"/>
              <a:t>This defines a constant named MAX_SIZE with a value of 100.</a:t>
            </a:r>
          </a:p>
          <a:p>
            <a:r>
              <a:rPr lang="en-US" sz="2200" dirty="0"/>
              <a:t>Used to set the size of the array.</a:t>
            </a:r>
          </a:p>
          <a:p>
            <a:r>
              <a:rPr lang="en-US" sz="2200" b="1" dirty="0"/>
              <a:t>2. float sum(float [ ], </a:t>
            </a:r>
            <a:r>
              <a:rPr lang="en-US" sz="2200" b="1" dirty="0" err="1"/>
              <a:t>int</a:t>
            </a:r>
            <a:r>
              <a:rPr lang="en-US" sz="2200" b="1" dirty="0"/>
              <a:t>);</a:t>
            </a:r>
          </a:p>
          <a:p>
            <a:r>
              <a:rPr lang="en-US" sz="2200" dirty="0"/>
              <a:t>This is a function prototype for sum, which takes:</a:t>
            </a:r>
          </a:p>
          <a:p>
            <a:r>
              <a:rPr lang="en-US" sz="2200" dirty="0"/>
              <a:t>An array of floats</a:t>
            </a:r>
          </a:p>
          <a:p>
            <a:r>
              <a:rPr lang="en-US" sz="2200" dirty="0"/>
              <a:t>An integer n (number of elements)</a:t>
            </a:r>
          </a:p>
          <a:p>
            <a:r>
              <a:rPr lang="en-US" sz="2200" dirty="0"/>
              <a:t>Returns a float (the total sum)</a:t>
            </a:r>
          </a:p>
          <a:p>
            <a:r>
              <a:rPr lang="en-US" sz="2200" b="1" dirty="0"/>
              <a:t>3. float input[MAX_SIZE], answer;</a:t>
            </a:r>
          </a:p>
          <a:p>
            <a:r>
              <a:rPr lang="en-US" sz="2200" dirty="0"/>
              <a:t>Declares:</a:t>
            </a:r>
          </a:p>
          <a:p>
            <a:r>
              <a:rPr lang="en-US" sz="2200" dirty="0"/>
              <a:t>input: an array of 100 floats</a:t>
            </a:r>
          </a:p>
          <a:p>
            <a:r>
              <a:rPr lang="en-US" sz="2200" dirty="0"/>
              <a:t>answer: a float to store the result</a:t>
            </a:r>
          </a:p>
          <a:p>
            <a:r>
              <a:rPr lang="en-US" sz="2200" b="1" dirty="0"/>
              <a:t>4. </a:t>
            </a:r>
            <a:r>
              <a:rPr lang="en-US" sz="2200" b="1" dirty="0" err="1"/>
              <a:t>int</a:t>
            </a:r>
            <a:r>
              <a:rPr lang="en-US" sz="2200" b="1" dirty="0"/>
              <a:t> </a:t>
            </a:r>
            <a:r>
              <a:rPr lang="en-US" sz="2200" b="1" dirty="0" err="1"/>
              <a:t>i</a:t>
            </a:r>
            <a:r>
              <a:rPr lang="en-US" sz="2200" b="1" dirty="0"/>
              <a:t>;</a:t>
            </a:r>
          </a:p>
          <a:p>
            <a:r>
              <a:rPr lang="en-US" sz="2200" dirty="0"/>
              <a:t>Declares a loop counter variable.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r>
              <a:rPr lang="en-US" sz="2200" b="1" dirty="0"/>
              <a:t>Code Breakdown</a:t>
            </a:r>
          </a:p>
        </p:txBody>
      </p:sp>
      <p:sp>
        <p:nvSpPr>
          <p:cNvPr id="4" name="TextBox 3"/>
          <p:cNvSpPr txBox="1"/>
          <p:nvPr/>
        </p:nvSpPr>
        <p:spPr>
          <a:xfrm>
            <a:off x="285720" y="857232"/>
            <a:ext cx="8072494" cy="3816429"/>
          </a:xfrm>
          <a:prstGeom prst="rect">
            <a:avLst/>
          </a:prstGeom>
          <a:noFill/>
        </p:spPr>
        <p:txBody>
          <a:bodyPr wrap="square" rtlCol="0">
            <a:spAutoFit/>
          </a:bodyPr>
          <a:lstStyle/>
          <a:p>
            <a:r>
              <a:rPr lang="en-US" sz="2200" b="1" dirty="0"/>
              <a:t>5. main()</a:t>
            </a:r>
          </a:p>
          <a:p>
            <a:r>
              <a:rPr lang="en-US" sz="2200" dirty="0"/>
              <a:t>The main function where execution starts.</a:t>
            </a:r>
          </a:p>
          <a:p>
            <a:r>
              <a:rPr lang="en-US" sz="2200" dirty="0"/>
              <a:t>Inside main():</a:t>
            </a:r>
          </a:p>
          <a:p>
            <a:r>
              <a:rPr lang="en-US" sz="2200" b="1" dirty="0"/>
              <a:t>for (</a:t>
            </a:r>
            <a:r>
              <a:rPr lang="en-US" sz="2200" b="1" dirty="0" err="1"/>
              <a:t>i</a:t>
            </a:r>
            <a:r>
              <a:rPr lang="en-US" sz="2200" b="1" dirty="0"/>
              <a:t> = 0; </a:t>
            </a:r>
            <a:r>
              <a:rPr lang="en-US" sz="2200" b="1" dirty="0" err="1"/>
              <a:t>i</a:t>
            </a:r>
            <a:r>
              <a:rPr lang="en-US" sz="2200" b="1" dirty="0"/>
              <a:t> &lt; MAX_SIZE; </a:t>
            </a:r>
            <a:r>
              <a:rPr lang="en-US" sz="2200" b="1" dirty="0" err="1"/>
              <a:t>i</a:t>
            </a:r>
            <a:r>
              <a:rPr lang="en-US" sz="2200" b="1" dirty="0"/>
              <a:t>++) input[</a:t>
            </a:r>
            <a:r>
              <a:rPr lang="en-US" sz="2200" b="1" dirty="0" err="1"/>
              <a:t>i</a:t>
            </a:r>
            <a:r>
              <a:rPr lang="en-US" sz="2200" b="1" dirty="0"/>
              <a:t>] = </a:t>
            </a:r>
            <a:r>
              <a:rPr lang="en-US" sz="2200" b="1" dirty="0" err="1"/>
              <a:t>i</a:t>
            </a:r>
            <a:r>
              <a:rPr lang="en-US" sz="2200" b="1" dirty="0"/>
              <a:t>; </a:t>
            </a:r>
          </a:p>
          <a:p>
            <a:r>
              <a:rPr lang="en-US" sz="2200" dirty="0"/>
              <a:t>Fills the input array with values from 0 to 99.</a:t>
            </a:r>
          </a:p>
          <a:p>
            <a:r>
              <a:rPr lang="en-US" sz="2200" b="1" dirty="0"/>
              <a:t>answer = sum(input, MAX_SIZE); </a:t>
            </a:r>
          </a:p>
          <a:p>
            <a:r>
              <a:rPr lang="en-US" sz="2200" dirty="0"/>
              <a:t>Calls the sum function, passing the array and its size.</a:t>
            </a:r>
          </a:p>
          <a:p>
            <a:r>
              <a:rPr lang="en-US" sz="2200" dirty="0"/>
              <a:t>Stores the result in answer.</a:t>
            </a:r>
          </a:p>
          <a:p>
            <a:r>
              <a:rPr lang="en-US" sz="2200" b="1" dirty="0" err="1"/>
              <a:t>printf</a:t>
            </a:r>
            <a:r>
              <a:rPr lang="en-US" sz="2200" b="1" dirty="0"/>
              <a:t>("The sum is: %f\n", answer); </a:t>
            </a:r>
          </a:p>
          <a:p>
            <a:r>
              <a:rPr lang="en-US" sz="2200" dirty="0"/>
              <a:t>Prints the result using %f for floating-point format.</a:t>
            </a:r>
          </a:p>
          <a:p>
            <a:endParaRPr lang="en-US" sz="22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r>
              <a:rPr lang="en-US" sz="2200" b="1" dirty="0"/>
              <a:t>Code Breakdown</a:t>
            </a:r>
          </a:p>
        </p:txBody>
      </p:sp>
      <p:sp>
        <p:nvSpPr>
          <p:cNvPr id="4" name="TextBox 3"/>
          <p:cNvSpPr txBox="1"/>
          <p:nvPr/>
        </p:nvSpPr>
        <p:spPr>
          <a:xfrm>
            <a:off x="285720" y="571481"/>
            <a:ext cx="8358246" cy="5970865"/>
          </a:xfrm>
          <a:prstGeom prst="rect">
            <a:avLst/>
          </a:prstGeom>
          <a:noFill/>
        </p:spPr>
        <p:txBody>
          <a:bodyPr wrap="square" rtlCol="0">
            <a:spAutoFit/>
          </a:bodyPr>
          <a:lstStyle/>
          <a:p>
            <a:endParaRPr lang="en-US" sz="2400" dirty="0"/>
          </a:p>
          <a:p>
            <a:r>
              <a:rPr lang="en-US" sz="2200" dirty="0"/>
              <a:t>float sum(float list[], </a:t>
            </a:r>
            <a:r>
              <a:rPr lang="en-US" sz="2200" dirty="0" err="1"/>
              <a:t>int</a:t>
            </a:r>
            <a:r>
              <a:rPr lang="en-US" sz="2200" dirty="0"/>
              <a:t> n) </a:t>
            </a:r>
          </a:p>
          <a:p>
            <a:r>
              <a:rPr lang="en-US" sz="2200" dirty="0"/>
              <a:t>{ </a:t>
            </a:r>
            <a:r>
              <a:rPr lang="en-US" sz="2200" dirty="0" err="1"/>
              <a:t>int</a:t>
            </a:r>
            <a:r>
              <a:rPr lang="en-US" sz="2200" dirty="0"/>
              <a:t> </a:t>
            </a:r>
            <a:r>
              <a:rPr lang="en-US" sz="2200" dirty="0" err="1"/>
              <a:t>i</a:t>
            </a:r>
            <a:r>
              <a:rPr lang="en-US" sz="2200" dirty="0"/>
              <a:t>; </a:t>
            </a:r>
          </a:p>
          <a:p>
            <a:r>
              <a:rPr lang="en-US" sz="2200" dirty="0"/>
              <a:t>float </a:t>
            </a:r>
            <a:r>
              <a:rPr lang="en-US" sz="2200" dirty="0" err="1"/>
              <a:t>tempsum</a:t>
            </a:r>
            <a:r>
              <a:rPr lang="en-US" sz="2200" dirty="0"/>
              <a:t> = 0; </a:t>
            </a:r>
          </a:p>
          <a:p>
            <a:r>
              <a:rPr lang="en-US" sz="2200" dirty="0"/>
              <a:t>for (</a:t>
            </a:r>
            <a:r>
              <a:rPr lang="en-US" sz="2200" dirty="0" err="1"/>
              <a:t>i</a:t>
            </a:r>
            <a:r>
              <a:rPr lang="en-US" sz="2200" dirty="0"/>
              <a:t> = 0; </a:t>
            </a:r>
            <a:r>
              <a:rPr lang="en-US" sz="2200" dirty="0" err="1"/>
              <a:t>i</a:t>
            </a:r>
            <a:r>
              <a:rPr lang="en-US" sz="2200" dirty="0"/>
              <a:t> &lt; n; </a:t>
            </a:r>
            <a:r>
              <a:rPr lang="en-US" sz="2200" dirty="0" err="1"/>
              <a:t>i</a:t>
            </a:r>
            <a:r>
              <a:rPr lang="en-US" sz="2200" dirty="0"/>
              <a:t>++) </a:t>
            </a:r>
          </a:p>
          <a:p>
            <a:r>
              <a:rPr lang="en-US" sz="2200" dirty="0" err="1"/>
              <a:t>tempsum</a:t>
            </a:r>
            <a:r>
              <a:rPr lang="en-US" sz="2200" dirty="0"/>
              <a:t> += list[</a:t>
            </a:r>
            <a:r>
              <a:rPr lang="en-US" sz="2200" dirty="0" err="1"/>
              <a:t>i</a:t>
            </a:r>
            <a:r>
              <a:rPr lang="en-US" sz="2200" dirty="0"/>
              <a:t>]; </a:t>
            </a:r>
          </a:p>
          <a:p>
            <a:r>
              <a:rPr lang="en-US" sz="2200" dirty="0"/>
              <a:t>return </a:t>
            </a:r>
            <a:r>
              <a:rPr lang="en-US" sz="2200" dirty="0" err="1"/>
              <a:t>tempsum</a:t>
            </a:r>
            <a:r>
              <a:rPr lang="en-US" sz="2200" dirty="0"/>
              <a:t>; } </a:t>
            </a:r>
          </a:p>
          <a:p>
            <a:r>
              <a:rPr lang="en-US" sz="2200" dirty="0"/>
              <a:t>Loops through the array list of size n</a:t>
            </a:r>
          </a:p>
          <a:p>
            <a:r>
              <a:rPr lang="en-US" sz="2200" dirty="0"/>
              <a:t>Adds each element to </a:t>
            </a:r>
            <a:r>
              <a:rPr lang="en-US" sz="2200" dirty="0" err="1"/>
              <a:t>tempsum</a:t>
            </a:r>
            <a:endParaRPr lang="en-US" sz="2200" dirty="0"/>
          </a:p>
          <a:p>
            <a:r>
              <a:rPr lang="en-US" sz="2200" dirty="0"/>
              <a:t>Returns the total sum</a:t>
            </a:r>
          </a:p>
          <a:p>
            <a:r>
              <a:rPr lang="en-US" sz="2200" dirty="0"/>
              <a:t>Since the array contains values from 0 to 99, the sum is:</a:t>
            </a:r>
          </a:p>
          <a:p>
            <a:r>
              <a:rPr lang="en-US" sz="2200" dirty="0"/>
              <a:t>\text{Sum} = 0 + 1 + 2…… 99 = 4950</a:t>
            </a:r>
          </a:p>
          <a:p>
            <a:r>
              <a:rPr lang="en-US" sz="2200" dirty="0"/>
              <a:t>So the output will be:</a:t>
            </a:r>
          </a:p>
          <a:p>
            <a:r>
              <a:rPr lang="en-US" sz="2200" dirty="0"/>
              <a:t>The sum is: 4950.000000 </a:t>
            </a:r>
          </a:p>
          <a:p>
            <a:endParaRPr lang="en-US" sz="2400" dirty="0"/>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1085380"/>
            <a:ext cx="8072494" cy="3200876"/>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Arrays are generally used when we want to store large amount of similar type of data. But they have the following limitations: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Arrays are of fixed size.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Data elements are stored in contiguous memory locations which may not be always available.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Insertion and deletion of elements can be problematic because of shifting of elements from their positions. </a:t>
            </a: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3231654"/>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DYNAMICALLY ALLOCATED ARRAYS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ONE-DIMENSIONAL ARRAYS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When writing programs, sometimes we cannot reliably determine how large an array must be.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 good solution to this problem is to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defer this decision to run-time &amp;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Allocate the array when we have a good estimate of required array-size.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4832092"/>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TWO DIMENSIONAL ARRAYS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These are created by using the concept of array of arrays.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 2-dimensional array is represented as a 1-dimensional array in which each element has a pointer to a 1-dimensional array as shown below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x[5][7];   //we create a 1-dimensional array x whose length is 5;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//each element of x is a 1-dimensional array whose length is 7.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Address of x[</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][j] = x[</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]+j*</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2428860" y="4286256"/>
            <a:ext cx="3114677" cy="1547815"/>
          </a:xfrm>
          <a:prstGeom prst="rect">
            <a:avLst/>
          </a:prstGeom>
          <a:noFill/>
          <a:ln w="9525">
            <a:noFill/>
            <a:miter lim="800000"/>
            <a:headEnd/>
            <a:tailEnd/>
          </a:ln>
          <a:effectLst/>
        </p:spPr>
      </p:pic>
      <p:sp>
        <p:nvSpPr>
          <p:cNvPr id="5" name="Rectangle 4"/>
          <p:cNvSpPr/>
          <p:nvPr/>
        </p:nvSpPr>
        <p:spPr>
          <a:xfrm>
            <a:off x="2285984" y="5988626"/>
            <a:ext cx="3735318" cy="369332"/>
          </a:xfrm>
          <a:prstGeom prst="rect">
            <a:avLst/>
          </a:prstGeom>
        </p:spPr>
        <p:txBody>
          <a:bodyPr wrap="none">
            <a:spAutoFit/>
          </a:bodyPr>
          <a:lstStyle/>
          <a:p>
            <a:r>
              <a:rPr lang="en-US" dirty="0"/>
              <a:t>Array-of-arrays representation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R="0" lvl="0" indent="0" fontAlgn="auto">
              <a:lnSpc>
                <a:spcPct val="100000"/>
              </a:lnSpc>
              <a:spcBef>
                <a:spcPct val="0"/>
              </a:spcBef>
              <a:spcAft>
                <a:spcPts val="0"/>
              </a:spcAft>
              <a:buClrTx/>
              <a:buSzTx/>
              <a:buFontTx/>
              <a:buNone/>
              <a:tabLst/>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0" y="44624"/>
            <a:ext cx="8358214" cy="7663636"/>
          </a:xfrm>
          <a:prstGeom prst="rect">
            <a:avLst/>
          </a:prstGeom>
          <a:noFill/>
        </p:spPr>
        <p:txBody>
          <a:bodyPr wrap="square" rtlCol="0">
            <a:spAutoFit/>
          </a:bodyPr>
          <a:lstStyle/>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Create C program to create 2D array with 2 rows and 3 columns and Perform sum operation.</a:t>
            </a:r>
          </a:p>
          <a:p>
            <a:r>
              <a:rPr lang="en-IN" sz="2000" dirty="0"/>
              <a:t>#include &lt;</a:t>
            </a:r>
            <a:r>
              <a:rPr lang="en-IN" sz="2000" dirty="0" err="1"/>
              <a:t>stdio.h</a:t>
            </a:r>
            <a:r>
              <a:rPr lang="en-IN" sz="2000" dirty="0"/>
              <a:t>&gt;</a:t>
            </a:r>
          </a:p>
          <a:p>
            <a:r>
              <a:rPr lang="en-IN" sz="2000" dirty="0"/>
              <a:t>int main() {</a:t>
            </a:r>
          </a:p>
          <a:p>
            <a:r>
              <a:rPr lang="en-IN" sz="2000" dirty="0"/>
              <a:t>    int a[2][3], </a:t>
            </a:r>
            <a:r>
              <a:rPr lang="en-IN" sz="2000" dirty="0" err="1"/>
              <a:t>i</a:t>
            </a:r>
            <a:r>
              <a:rPr lang="en-IN" sz="2000" dirty="0"/>
              <a:t>, j, sum = 0;</a:t>
            </a:r>
          </a:p>
          <a:p>
            <a:r>
              <a:rPr lang="en-IN" sz="2000" dirty="0"/>
              <a:t>    </a:t>
            </a:r>
            <a:r>
              <a:rPr lang="en-IN" sz="2000" dirty="0" err="1"/>
              <a:t>printf</a:t>
            </a:r>
            <a:r>
              <a:rPr lang="en-IN" sz="2000" dirty="0"/>
              <a:t>("Enter the 2*3 array");</a:t>
            </a:r>
          </a:p>
          <a:p>
            <a:r>
              <a:rPr lang="en-IN" sz="2000" dirty="0"/>
              <a:t>    for (</a:t>
            </a:r>
            <a:r>
              <a:rPr lang="en-IN" sz="2000" dirty="0" err="1"/>
              <a:t>i</a:t>
            </a:r>
            <a:r>
              <a:rPr lang="en-IN" sz="2000" dirty="0"/>
              <a:t> = 0; </a:t>
            </a:r>
            <a:r>
              <a:rPr lang="en-IN" sz="2000" dirty="0" err="1"/>
              <a:t>i</a:t>
            </a:r>
            <a:r>
              <a:rPr lang="en-IN" sz="2000" dirty="0"/>
              <a:t> &lt; 2; </a:t>
            </a:r>
            <a:r>
              <a:rPr lang="en-IN" sz="2000" dirty="0" err="1"/>
              <a:t>i</a:t>
            </a:r>
            <a:r>
              <a:rPr lang="en-IN" sz="2000" dirty="0"/>
              <a:t>++) {</a:t>
            </a:r>
          </a:p>
          <a:p>
            <a:r>
              <a:rPr lang="en-IN" sz="2000" dirty="0"/>
              <a:t>        for (j = 0; j &lt; 3; </a:t>
            </a:r>
            <a:r>
              <a:rPr lang="en-IN" sz="2000" dirty="0" err="1"/>
              <a:t>j++</a:t>
            </a:r>
            <a:r>
              <a:rPr lang="en-IN" sz="2000" dirty="0"/>
              <a:t>) {</a:t>
            </a:r>
          </a:p>
          <a:p>
            <a:r>
              <a:rPr lang="en-IN" sz="2000" dirty="0"/>
              <a:t>            </a:t>
            </a:r>
            <a:r>
              <a:rPr lang="en-IN" sz="2000" dirty="0" err="1"/>
              <a:t>scanf</a:t>
            </a:r>
            <a:r>
              <a:rPr lang="en-IN" sz="2000" dirty="0"/>
              <a:t>("%d", &amp;a[</a:t>
            </a:r>
            <a:r>
              <a:rPr lang="en-IN" sz="2000" dirty="0" err="1"/>
              <a:t>i</a:t>
            </a:r>
            <a:r>
              <a:rPr lang="en-IN" sz="2000" dirty="0"/>
              <a:t>][j]);</a:t>
            </a:r>
          </a:p>
          <a:p>
            <a:r>
              <a:rPr lang="en-IN" sz="2000" dirty="0"/>
              <a:t>        }</a:t>
            </a:r>
          </a:p>
          <a:p>
            <a:r>
              <a:rPr lang="en-IN" sz="2000" dirty="0"/>
              <a:t>    }</a:t>
            </a:r>
          </a:p>
          <a:p>
            <a:r>
              <a:rPr lang="en-IN" sz="2000" dirty="0"/>
              <a:t>    for (</a:t>
            </a:r>
            <a:r>
              <a:rPr lang="en-IN" sz="2000" dirty="0" err="1"/>
              <a:t>i</a:t>
            </a:r>
            <a:r>
              <a:rPr lang="en-IN" sz="2000" dirty="0"/>
              <a:t> = 0; </a:t>
            </a:r>
            <a:r>
              <a:rPr lang="en-IN" sz="2000" dirty="0" err="1"/>
              <a:t>i</a:t>
            </a:r>
            <a:r>
              <a:rPr lang="en-IN" sz="2000" dirty="0"/>
              <a:t> &lt; 2; </a:t>
            </a:r>
            <a:r>
              <a:rPr lang="en-IN" sz="2000" dirty="0" err="1"/>
              <a:t>i</a:t>
            </a:r>
            <a:r>
              <a:rPr lang="en-IN" sz="2000" dirty="0"/>
              <a:t>++) {</a:t>
            </a:r>
          </a:p>
          <a:p>
            <a:r>
              <a:rPr lang="en-IN" sz="2000" dirty="0"/>
              <a:t>        for (j = 0; j &lt; 3; </a:t>
            </a:r>
            <a:r>
              <a:rPr lang="en-IN" sz="2000" dirty="0" err="1"/>
              <a:t>j++</a:t>
            </a:r>
            <a:r>
              <a:rPr lang="en-IN" sz="2000" dirty="0"/>
              <a:t>) {</a:t>
            </a:r>
          </a:p>
          <a:p>
            <a:r>
              <a:rPr lang="en-IN" sz="2000" dirty="0"/>
              <a:t>            </a:t>
            </a:r>
            <a:r>
              <a:rPr lang="en-IN" sz="2000" dirty="0" err="1"/>
              <a:t>printf</a:t>
            </a:r>
            <a:r>
              <a:rPr lang="en-IN" sz="2000" dirty="0"/>
              <a:t>("%d \t", a[</a:t>
            </a:r>
            <a:r>
              <a:rPr lang="en-IN" sz="2000" dirty="0" err="1"/>
              <a:t>i</a:t>
            </a:r>
            <a:r>
              <a:rPr lang="en-IN" sz="2000" dirty="0"/>
              <a:t>][j]);</a:t>
            </a:r>
          </a:p>
          <a:p>
            <a:r>
              <a:rPr lang="en-IN" sz="2000" dirty="0"/>
              <a:t>            sum = sum + a[</a:t>
            </a:r>
            <a:r>
              <a:rPr lang="en-IN" sz="2000" dirty="0" err="1"/>
              <a:t>i</a:t>
            </a:r>
            <a:r>
              <a:rPr lang="en-IN" sz="2000" dirty="0"/>
              <a:t>][j];</a:t>
            </a:r>
          </a:p>
          <a:p>
            <a:r>
              <a:rPr lang="en-IN" sz="2000" dirty="0"/>
              <a:t>        }</a:t>
            </a:r>
          </a:p>
          <a:p>
            <a:r>
              <a:rPr lang="en-IN" sz="2000" dirty="0"/>
              <a:t>        </a:t>
            </a:r>
            <a:r>
              <a:rPr lang="en-IN" sz="2000" dirty="0" err="1"/>
              <a:t>printf</a:t>
            </a:r>
            <a:r>
              <a:rPr lang="en-IN" sz="2000" dirty="0"/>
              <a:t>("\n");</a:t>
            </a:r>
          </a:p>
          <a:p>
            <a:r>
              <a:rPr lang="en-IN" sz="2000" dirty="0"/>
              <a:t>    }</a:t>
            </a:r>
          </a:p>
          <a:p>
            <a:r>
              <a:rPr lang="en-IN" sz="2000" dirty="0"/>
              <a:t>    </a:t>
            </a:r>
            <a:r>
              <a:rPr lang="en-IN" sz="2000" dirty="0" err="1"/>
              <a:t>printf</a:t>
            </a:r>
            <a:r>
              <a:rPr lang="en-IN" sz="2000" dirty="0"/>
              <a:t>("Total sum : %d", sum);</a:t>
            </a:r>
          </a:p>
          <a:p>
            <a:r>
              <a:rPr lang="en-IN" sz="2000" dirty="0"/>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endPar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072494" cy="5447645"/>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STRUCTURES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 C, a way to group data that permits the data to vary in type. This mechanism is called the structure, for short </a:t>
            </a:r>
            <a:r>
              <a:rPr lang="en-US" sz="22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structure (a record) is a collection of data items, where each item is identified as to its type and name. </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Generic Definition : </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structure in C is like a custom box where you can store different types of data together under one name.</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Structure Student</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Name (Text)</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Age (Number)</a:t>
            </a:r>
          </a:p>
          <a:p>
            <a:r>
              <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Marks (Decimal)</a:t>
            </a:r>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i="1" dirty="0">
              <a:solidFill>
                <a:schemeClr val="bg2">
                  <a:lumMod val="10000"/>
                </a:schemeClr>
              </a:solidFill>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072494" cy="6586418"/>
          </a:xfrm>
          <a:prstGeom prst="rect">
            <a:avLst/>
          </a:prstGeom>
          <a:noFill/>
        </p:spPr>
        <p:txBody>
          <a:bodyPr wrap="square" rtlCol="0">
            <a:spAutoFit/>
          </a:bodyPr>
          <a:lstStyle/>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Syntax: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member 1;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member 2;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 member 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variable_name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name[10];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age;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float salary;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  </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429684" cy="5940088"/>
          </a:xfrm>
          <a:prstGeom prst="rect">
            <a:avLst/>
          </a:prstGeom>
          <a:noFill/>
        </p:spPr>
        <p:txBody>
          <a:bodyPr wrap="square" rtlCol="0">
            <a:spAutoFit/>
          </a:bodyPr>
          <a:lstStyle/>
          <a:p>
            <a:endParaRPr lang="en-US" sz="2400" dirty="0">
              <a:solidFill>
                <a:schemeClr val="bg2">
                  <a:lumMod val="10000"/>
                </a:schemeClr>
              </a:solidFill>
              <a:latin typeface="Times New Roman" pitchFamily="18" charset="0"/>
              <a:cs typeface="Times New Roman" pitchFamily="18" charset="0"/>
            </a:endParaRP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above example creates a structure and variable name is </a:t>
            </a:r>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that has three fields: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name = a name that is a character array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age = an integer value representing the age of the person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salary = a float value representing the salary of the individual.</a:t>
            </a:r>
          </a:p>
          <a:p>
            <a:endPar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Assign values to fields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To assign values to the fields, use . (dot) as the structure member operator. This operator is used to select a particular member of the structure </a:t>
            </a:r>
          </a:p>
          <a:p>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 </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strcpy</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(Person.name,“</a:t>
            </a:r>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james</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Person.age</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10; </a:t>
            </a:r>
          </a:p>
          <a:p>
            <a:r>
              <a:rPr lang="en-US" sz="22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Person.salary</a:t>
            </a:r>
            <a:r>
              <a:rPr lang="en-US"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35000; </a:t>
            </a:r>
          </a:p>
          <a:p>
            <a:endParaRPr lang="en-IN" sz="22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072494" cy="830997"/>
          </a:xfrm>
          <a:prstGeom prst="rect">
            <a:avLst/>
          </a:prstGeom>
          <a:noFill/>
        </p:spPr>
        <p:txBody>
          <a:bodyPr wrap="square" rtlCol="0">
            <a:spAutoFit/>
          </a:bodyPr>
          <a:lstStyle/>
          <a:p>
            <a:endParaRPr lang="en-US" sz="2400" dirty="0">
              <a:solidFill>
                <a:schemeClr val="bg2">
                  <a:lumMod val="10000"/>
                </a:schemeClr>
              </a:solidFill>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785786" y="714357"/>
            <a:ext cx="7358114" cy="4247317"/>
          </a:xfrm>
          <a:prstGeom prst="rect">
            <a:avLst/>
          </a:prstGeom>
        </p:spPr>
        <p:txBody>
          <a:bodyPr wrap="square">
            <a:spAutoFit/>
          </a:bodyPr>
          <a:lstStyle/>
          <a:p>
            <a:r>
              <a:rPr lang="en-IN"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Declare a variable of the structure :</a:t>
            </a:r>
          </a:p>
          <a:p>
            <a:endParaRPr lang="en-IN"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IN"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 p1;</a:t>
            </a:r>
            <a:endParaRPr lang="en-IN"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strcpy</a:t>
            </a: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(p1.name, "</a:t>
            </a:r>
            <a:r>
              <a:rPr lang="en-US"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Amit</a:t>
            </a: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p1.age = 20;</a:t>
            </a:r>
          </a:p>
          <a:p>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p1.marks = 88.5;</a:t>
            </a:r>
          </a:p>
          <a:p>
            <a:endParaRPr lang="en-IN"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Access and Use the Data : </a:t>
            </a:r>
          </a:p>
          <a:p>
            <a:endParaRPr lang="en-US"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("Name: %s\n", p1.name); </a:t>
            </a:r>
          </a:p>
          <a:p>
            <a:r>
              <a:rPr lang="en-US"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("Age: %d\n", p1.age); </a:t>
            </a:r>
          </a:p>
          <a:p>
            <a:r>
              <a:rPr lang="en-US"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("Marks: %.2f\n", p1.marks); </a:t>
            </a:r>
          </a:p>
          <a:p>
            <a:endParaRPr lang="en-US"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642918"/>
            <a:ext cx="8072494" cy="7109639"/>
          </a:xfrm>
          <a:prstGeom prst="rect">
            <a:avLst/>
          </a:prstGeom>
          <a:noFill/>
        </p:spPr>
        <p:txBody>
          <a:bodyPr wrap="square" rtlCol="0">
            <a:spAutoFit/>
          </a:bodyPr>
          <a:lstStyle/>
          <a:p>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Type-Defined Structure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structure definition associated with keyword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called Type-Defined Structure.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Syntax 1: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member 1;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member 2;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member n;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Type_name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Note : </a:t>
            </a:r>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type-defined structure in C uses the keyword </a:t>
            </a:r>
            <a:r>
              <a:rPr lang="en-US" sz="2400" i="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give a nickname to a structure. This makes your code shorter and cleaner.</a:t>
            </a:r>
          </a:p>
          <a:p>
            <a:endParaRPr lang="en-US" sz="2400" dirty="0">
              <a:solidFill>
                <a:schemeClr val="bg2">
                  <a:lumMod val="10000"/>
                </a:schemeClr>
              </a:solidFill>
              <a:latin typeface="Times New Roman" pitchFamily="18" charset="0"/>
              <a:cs typeface="Times New Roman" pitchFamily="18" charset="0"/>
            </a:endParaRPr>
          </a:p>
          <a:p>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072494" cy="4154984"/>
          </a:xfrm>
          <a:prstGeom prst="rect">
            <a:avLst/>
          </a:prstGeom>
          <a:noFill/>
        </p:spPr>
        <p:txBody>
          <a:bodyPr wrap="square" rtlCol="0">
            <a:spAutoFit/>
          </a:bodyPr>
          <a:lstStyle/>
          <a:p>
            <a:endParaRPr lang="en-US" sz="2400" dirty="0">
              <a:solidFill>
                <a:schemeClr val="bg2">
                  <a:lumMod val="10000"/>
                </a:schemeClr>
              </a:solidFill>
              <a:latin typeface="Times New Roman" pitchFamily="18" charset="0"/>
              <a:cs typeface="Times New Roman" pitchFamily="18" charset="0"/>
            </a:endParaRPr>
          </a:p>
          <a:p>
            <a:endParaRPr lang="en-US" sz="2400" dirty="0"/>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the keyword used at the beginning of the definition and by using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user defined data type can be obtained.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the keyword which tells structure is defined to the complier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members are declare with their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Type_name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not a variable, it is user defined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571480"/>
            <a:ext cx="8072494" cy="6370975"/>
          </a:xfrm>
          <a:prstGeom prst="rect">
            <a:avLst/>
          </a:prstGeom>
          <a:noFill/>
        </p:spPr>
        <p:txBody>
          <a:bodyPr wrap="square" rtlCol="0">
            <a:spAutoFit/>
          </a:bodyPr>
          <a:lstStyle/>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Syntax 2: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struct_name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member 1;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member 2;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data_type</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member n;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b="1" dirty="0" err="1"/>
              <a:t>typedef</a:t>
            </a:r>
            <a:r>
              <a:rPr lang="en-US" sz="2400" b="1" dirty="0"/>
              <a:t> </a:t>
            </a:r>
            <a:r>
              <a:rPr lang="en-US" sz="2400" b="1" dirty="0" err="1"/>
              <a:t>struct</a:t>
            </a:r>
            <a:r>
              <a:rPr lang="en-US" sz="2400" b="1" dirty="0"/>
              <a:t> </a:t>
            </a:r>
            <a:r>
              <a:rPr lang="en-US" sz="2400" b="1" dirty="0" err="1"/>
              <a:t>struct_name</a:t>
            </a:r>
            <a:r>
              <a:rPr lang="en-US" sz="2400" b="1" dirty="0"/>
              <a:t> </a:t>
            </a:r>
            <a:r>
              <a:rPr lang="en-US" sz="2400" b="1" dirty="0" err="1"/>
              <a:t>Type_name</a:t>
            </a:r>
            <a:r>
              <a:rPr lang="en-US" sz="2400" b="1" dirty="0"/>
              <a:t>;</a:t>
            </a:r>
          </a:p>
          <a:p>
            <a:endParaRPr lang="en-IN"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Note : </a:t>
            </a:r>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Every time you declare a variable, you have to write </a:t>
            </a:r>
            <a:r>
              <a:rPr lang="en-US" sz="2400" i="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Student. That gets tiring!</a:t>
            </a:r>
          </a:p>
          <a:p>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So you use </a:t>
            </a:r>
            <a:r>
              <a:rPr lang="en-US" sz="2400" i="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say:</a:t>
            </a:r>
          </a:p>
          <a:p>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"Hey C, from now on, just call this Student"</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429684" cy="571504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
        <p:nvSpPr>
          <p:cNvPr id="4" name="TextBox 3"/>
          <p:cNvSpPr txBox="1"/>
          <p:nvPr/>
        </p:nvSpPr>
        <p:spPr>
          <a:xfrm>
            <a:off x="285720" y="487025"/>
            <a:ext cx="8072494" cy="5262979"/>
          </a:xfrm>
          <a:prstGeom prst="rect">
            <a:avLst/>
          </a:prstGeom>
          <a:noFill/>
        </p:spPr>
        <p:txBody>
          <a:bodyPr wrap="square" rtlCol="0">
            <a:spAutoFit/>
          </a:bodyPr>
          <a:lstStyle/>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name[10];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age;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float salary;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 above example,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the name of the type and it is a user defined data type.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Declarations of structure variables: </a:t>
            </a:r>
          </a:p>
          <a:p>
            <a:r>
              <a:rPr lang="en-US" sz="24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person1, person2;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This statement declares the variable person1 and person2 are of type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7158" y="857232"/>
            <a:ext cx="8358246" cy="535785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889702"/>
            <a:ext cx="8072494" cy="5632311"/>
          </a:xfrm>
          <a:prstGeom prst="rect">
            <a:avLst/>
          </a:prstGeom>
          <a:noFill/>
        </p:spPr>
        <p:txBody>
          <a:bodyPr wrap="square" rtlCol="0">
            <a:spAutoFit/>
          </a:bodyPr>
          <a:lstStyle/>
          <a:p>
            <a:r>
              <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//Sample program to illustrate </a:t>
            </a:r>
            <a:r>
              <a:rPr lang="en-IN"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#include &lt;</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stdio.h</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char name[50];</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age;</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main()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 p1;</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p1.age = 25;</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strcpy</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(p1.name,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Amit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("Name: %s, Age: %d\n", p1.name, p1.age);</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return 0;</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7158" y="857232"/>
            <a:ext cx="8358246" cy="535785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6001643"/>
          </a:xfrm>
          <a:prstGeom prst="rect">
            <a:avLst/>
          </a:prstGeom>
          <a:noFill/>
        </p:spPr>
        <p:txBody>
          <a:bodyPr wrap="square" rtlCol="0">
            <a:spAutoFit/>
          </a:bodyPr>
          <a:lstStyle/>
          <a:p>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Structure Operation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various operations can be performed on structures and structure members.</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1. Structure Equality Check: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Here, the equality or inequality check of two structure variable of same type or dissimilar type is not allowed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name[10];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age;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float salary;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person1, person2;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(person1 = = person2) is invalid.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While structures cannot be directly checked for equality or inequality, we can write a function to do this.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7158" y="357166"/>
            <a:ext cx="8358246" cy="535785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00042"/>
            <a:ext cx="8072494" cy="3046988"/>
          </a:xfrm>
          <a:prstGeom prst="rect">
            <a:avLst/>
          </a:prstGeom>
          <a:noFill/>
        </p:spPr>
        <p:txBody>
          <a:bodyPr wrap="square" rtlCol="0">
            <a:spAutoFit/>
          </a:bodyPr>
          <a:lstStyle/>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valid function is shown below: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#define FALSE 0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#define TRUE 1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typical function call might be: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humansEqual</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(person1,person2))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two human beings are the same\n");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else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two human beings are not the same\n");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7158" y="857232"/>
            <a:ext cx="8358246" cy="5357850"/>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889702"/>
            <a:ext cx="8072494" cy="5632311"/>
          </a:xfrm>
          <a:prstGeom prst="rect">
            <a:avLst/>
          </a:prstGeom>
          <a:noFill/>
        </p:spPr>
        <p:txBody>
          <a:bodyPr wrap="square" rtlCol="0">
            <a:spAutoFit/>
          </a:bodyPr>
          <a:lstStyle/>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//Function to check equality of structures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humansEqual</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person1,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person2)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return TRUE if person1 and person2 are the same human being otherwise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FALSE */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strcmp</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(person1.name, person2.name))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FALSE;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(person1.age != person2.age)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FALSE;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(person1.salary != person2.salary)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FALSE;</a:t>
            </a:r>
          </a:p>
          <a:p>
            <a:r>
              <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TRUE;</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428604"/>
            <a:ext cx="8572560" cy="6429396"/>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71480"/>
            <a:ext cx="8072494" cy="3785652"/>
          </a:xfrm>
          <a:prstGeom prst="rect">
            <a:avLst/>
          </a:prstGeom>
          <a:noFill/>
        </p:spPr>
        <p:txBody>
          <a:bodyPr wrap="square" rtlCol="0">
            <a:spAutoFit/>
          </a:bodyPr>
          <a:lstStyle/>
          <a:p>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2. Assignment operation on Structure variables: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 = person2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above statement means that the value of every field of the structure of person 2 is assigned as the value of the corresponding field of person 1, but this is invalid statement.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Valid Statements is given below: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strcpy</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(person1.name, person2.name);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person1.age = person2.age;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person1.salary = person2.salary;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571480"/>
            <a:ext cx="8072494" cy="3416320"/>
          </a:xfrm>
          <a:prstGeom prst="rect">
            <a:avLst/>
          </a:prstGeom>
          <a:noFill/>
        </p:spPr>
        <p:txBody>
          <a:bodyPr wrap="square" rtlCol="0">
            <a:spAutoFit/>
          </a:bodyPr>
          <a:lstStyle/>
          <a:p>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Structure within a structure: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There is possibility to embed a structure within a structure. There are 2 ways to embed structure.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1. The structures are defined separately and a variable of structure type is declared inside the definition of another structure. The accessing of the variable of a structure type that are nested inside another structure in the same way as accessing other member of that structure </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357158" y="571480"/>
            <a:ext cx="8072494" cy="7109639"/>
          </a:xfrm>
          <a:prstGeom prst="rect">
            <a:avLst/>
          </a:prstGeom>
          <a:noFill/>
        </p:spPr>
        <p:txBody>
          <a:bodyPr wrap="square" rtlCol="0">
            <a:spAutoFit/>
          </a:bodyPr>
          <a:lstStyle/>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 The following example shows two structures, where both the structure are defined separately.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month;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day;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year;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}date;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name[10];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age;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float salary;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date dob;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person1; </a:t>
            </a:r>
          </a:p>
          <a:p>
            <a:endParaRPr lang="en-US" sz="2400" dirty="0">
              <a:solidFill>
                <a:schemeClr val="bg2">
                  <a:lumMod val="10000"/>
                </a:schemeClr>
              </a:solidFill>
              <a:latin typeface="Times New Roman" pitchFamily="18" charset="0"/>
              <a:cs typeface="Times New Roman" pitchFamily="18" charset="0"/>
            </a:endParaRPr>
          </a:p>
          <a:p>
            <a:pPr marL="457200" indent="-457200"/>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71414"/>
            <a:ext cx="8072494" cy="8217634"/>
          </a:xfrm>
          <a:prstGeom prst="rect">
            <a:avLst/>
          </a:prstGeom>
          <a:noFill/>
        </p:spPr>
        <p:txBody>
          <a:bodyPr wrap="square" rtlCol="0">
            <a:spAutoFit/>
          </a:bodyPr>
          <a:lstStyle/>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person born on February 11, 1944, would have the values for the date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set as:</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person1.dob.month = 2;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person1.dob.day = 11;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person1.dob.year = 1944;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2. The complete definition of a structure is placed inside the definition of another structure.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char name[10];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age;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float salary;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month;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day;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year;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date;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humanBeing</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a:p>
            <a:pPr marL="457200" indent="-457200"/>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500042"/>
            <a:ext cx="8429684" cy="5715040"/>
          </a:xfrm>
          <a:prstGeom prst="rect">
            <a:avLst/>
          </a:prstGeom>
        </p:spPr>
        <p:txBody>
          <a:bodyPr>
            <a:normAutofit/>
          </a:bodyPr>
          <a:lstStyle/>
          <a:p>
            <a:pPr lvl="0">
              <a:spcBef>
                <a:spcPct val="0"/>
              </a:spcBef>
              <a:defRPr/>
            </a:pPr>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SELF-REFERENTIAL STRUCTURES</a:t>
            </a:r>
          </a:p>
          <a:p>
            <a:pPr lvl="0">
              <a:spcBef>
                <a:spcPct val="0"/>
              </a:spcBef>
              <a:defRPr/>
            </a:pPr>
            <a:endPar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 self-referential structure is one in which one or more of its components is a pointer to itself.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These require dynamic storage management routines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malloc</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&amp; free) to explicitly obtain and release memory. </a:t>
            </a:r>
          </a:p>
          <a:p>
            <a:endPar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Note : </a:t>
            </a:r>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It is a structure that contains a </a:t>
            </a:r>
            <a:r>
              <a:rPr lang="en-US" sz="2400" b="1"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pointer to itself </a:t>
            </a:r>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meaning, it can point to another structure of the same type.</a:t>
            </a:r>
          </a:p>
          <a:p>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Think of it like a train :</a:t>
            </a:r>
          </a:p>
          <a:p>
            <a:r>
              <a:rPr lang="en-US" sz="24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Each coach (structure) has a hook (pointer) that connects it to the next coach (another structure of the same type).</a:t>
            </a:r>
          </a:p>
          <a:p>
            <a:endParaRPr lang="en-US" sz="2400" i="1" dirty="0"/>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pPr lvl="0">
              <a:spcBef>
                <a:spcPct val="0"/>
              </a:spcBef>
              <a:defRPr/>
            </a:pPr>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chemeClr val="bg2">
                  <a:lumMod val="25000"/>
                </a:schemeClr>
              </a:solidFill>
              <a:effectLst>
                <a:outerShdw blurRad="31750" dist="25400" dir="5400000" algn="tl" rotWithShape="0">
                  <a:srgbClr val="000000">
                    <a:alpha val="25000"/>
                  </a:srgbClr>
                </a:outerShdw>
              </a:effectLst>
              <a:uLnTx/>
              <a:uFillTx/>
              <a:latin typeface="Times New Roman" pitchFamily="18" charset="0"/>
              <a:ea typeface="+mj-ea"/>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357166"/>
            <a:ext cx="8072494" cy="6740307"/>
          </a:xfrm>
          <a:prstGeom prst="rect">
            <a:avLst/>
          </a:prstGeom>
          <a:noFill/>
        </p:spPr>
        <p:txBody>
          <a:bodyPr wrap="square" rtlCol="0">
            <a:spAutoFit/>
          </a:bodyPr>
          <a:lstStyle/>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Why Is It Useful?</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Self-referential structures let you:</a:t>
            </a:r>
          </a:p>
          <a:p>
            <a:pPr>
              <a:buFont typeface="Wingdings" pitchFamily="2" charset="2"/>
              <a:buChar char="Ø"/>
            </a:pP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Link multiple elements together dynamically</a:t>
            </a:r>
          </a:p>
          <a:p>
            <a:pPr>
              <a:buFont typeface="Wingdings" pitchFamily="2" charset="2"/>
              <a:buChar char="Ø"/>
            </a:pP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Build flexible structures like:</a:t>
            </a:r>
          </a:p>
          <a:p>
            <a:pPr>
              <a:buFont typeface="Arial" pitchFamily="34" charset="0"/>
              <a:buChar char="•"/>
            </a:pP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Linked Lists (each node points to the next)</a:t>
            </a:r>
          </a:p>
          <a:p>
            <a:pPr>
              <a:buFont typeface="Arial" pitchFamily="34" charset="0"/>
              <a:buChar char="•"/>
            </a:pP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Trees (each node can point to children)</a:t>
            </a:r>
          </a:p>
          <a:p>
            <a:pPr>
              <a:buFont typeface="Arial" pitchFamily="34" charset="0"/>
              <a:buChar char="•"/>
            </a:pP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Graphs (nodes can point to multiple others)</a:t>
            </a:r>
          </a:p>
          <a:p>
            <a:endPar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data;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list *link; //list is a pointer to a list structure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}list; </a:t>
            </a:r>
          </a:p>
          <a:p>
            <a:endParaRPr lang="en-US" sz="2400" dirty="0">
              <a:solidFill>
                <a:schemeClr val="bg2">
                  <a:lumMod val="10000"/>
                </a:schemeClr>
              </a:solidFill>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a:p>
            <a:pPr marL="457200" indent="-457200"/>
            <a:r>
              <a:rPr lang="en-US" sz="2400" dirty="0">
                <a:solidFill>
                  <a:schemeClr val="bg2">
                    <a:lumMod val="10000"/>
                  </a:schemeClr>
                </a:solidFill>
                <a:latin typeface="Times New Roman" pitchFamily="18" charset="0"/>
                <a:cs typeface="Times New Roman" pitchFamily="18" charset="0"/>
              </a:rPr>
              <a:t> </a:t>
            </a:r>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357158" y="71414"/>
            <a:ext cx="8001056" cy="4524315"/>
          </a:xfrm>
          <a:prstGeom prst="rect">
            <a:avLst/>
          </a:prstGeom>
          <a:noFill/>
        </p:spPr>
        <p:txBody>
          <a:bodyPr wrap="square" rtlCol="0">
            <a:spAutoFit/>
          </a:bodyPr>
          <a:lstStyle/>
          <a:p>
            <a:endParaRPr lang="en-US" sz="2400" dirty="0"/>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Consider three structures and values assigned to their respective fields: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list item1,item2,item3;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item1.data='a';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item2.data='b';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item3.data='c';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item1.link=item2.link=item3.link=NULL; </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We can attach these structures together as follows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item1.link=&amp;item2;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tem2.link=&amp;item3; </a:t>
            </a:r>
          </a:p>
        </p:txBody>
      </p:sp>
      <p:pic>
        <p:nvPicPr>
          <p:cNvPr id="3074" name="Picture 2"/>
          <p:cNvPicPr>
            <a:picLocks noChangeAspect="1" noChangeArrowheads="1"/>
          </p:cNvPicPr>
          <p:nvPr/>
        </p:nvPicPr>
        <p:blipFill>
          <a:blip r:embed="rId2"/>
          <a:srcRect/>
          <a:stretch>
            <a:fillRect/>
          </a:stretch>
        </p:blipFill>
        <p:spPr bwMode="auto">
          <a:xfrm>
            <a:off x="1857356" y="5143512"/>
            <a:ext cx="3880821" cy="71438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4524315"/>
          </a:xfrm>
          <a:prstGeom prst="rect">
            <a:avLst/>
          </a:prstGeom>
          <a:noFill/>
        </p:spPr>
        <p:txBody>
          <a:bodyPr wrap="square" rtlCol="0">
            <a:spAutoFit/>
          </a:bodyPr>
          <a:lstStyle/>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INTERNAL IMPLEMENTATION OF STRUCTURES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size of an object of a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or union type is the amount of storage necessary to represent the largest component, including any padding that may be required.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Structures must begin and end on the same type of memory boundary. For ex, an even byte boundary (2, 4, 6 or 8). </a:t>
            </a:r>
          </a:p>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8217634"/>
          </a:xfrm>
          <a:prstGeom prst="rect">
            <a:avLst/>
          </a:prstGeom>
          <a:noFill/>
        </p:spPr>
        <p:txBody>
          <a:bodyPr wrap="square" rtlCol="0">
            <a:spAutoFit/>
          </a:bodyPr>
          <a:lstStyle/>
          <a:p>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Union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union is a special data type available in C that allows us to store different data types in the same memory location. You can define a union with many members, but only one member can contain a value at any given time. Unions provide an efficient way of using the same memory location for multiple-purpose.</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#include &lt;</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stdio.h</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#include &lt;</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string.h</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union Data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float f;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[20]; };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main( )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union Data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"Memory size occupied by data : %d\n", </a:t>
            </a:r>
            <a:r>
              <a:rPr lang="en-US" sz="24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sizeof</a:t>
            </a: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(data));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return 0;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3785652"/>
          </a:xfrm>
          <a:prstGeom prst="rect">
            <a:avLst/>
          </a:prstGeom>
          <a:noFill/>
        </p:spPr>
        <p:txBody>
          <a:bodyPr wrap="square" rtlCol="0">
            <a:spAutoFit/>
          </a:bodyPr>
          <a:lstStyle/>
          <a:p>
            <a:endParaRPr lang="en-US" sz="2400" dirty="0"/>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memory occupied by a union will be large enough to hold the largest member of the union. For example, in the above example, Data type will occupy 20 bytes of memory space because this is the maximum space which can be occupied by a character string.</a:t>
            </a:r>
          </a:p>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395536" y="235669"/>
            <a:ext cx="8572560" cy="6370975"/>
          </a:xfrm>
          <a:prstGeom prst="rect">
            <a:avLst/>
          </a:prstGeom>
          <a:noFill/>
        </p:spPr>
        <p:txBody>
          <a:bodyPr wrap="square" rtlCol="0">
            <a:spAutoFit/>
          </a:bodyPr>
          <a:lstStyle/>
          <a:p>
            <a:endParaRPr lang="en-US" sz="2400" dirty="0"/>
          </a:p>
          <a:p>
            <a:r>
              <a:rPr lang="en-IN"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Polynomials</a:t>
            </a:r>
          </a:p>
          <a:p>
            <a:endParaRPr lang="en-IN"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What is a polynomial?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polynomial is a sum of terms, where each term has </a:t>
            </a:r>
            <a:r>
              <a:rPr lang="en-US" sz="24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ax^e</a:t>
            </a:r>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where x is the variable, a is the coefficient and e is the exponent.</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Terms :</a:t>
            </a:r>
          </a:p>
          <a:p>
            <a:pPr marL="342900" indent="-342900">
              <a:buFont typeface="Arial" panose="020B0604020202020204" pitchFamily="34" charset="0"/>
              <a:buChar char="•"/>
            </a:pP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largest (or leading) exponent of a polynomial is called its degree. </a:t>
            </a:r>
          </a:p>
          <a:p>
            <a:pPr marL="342900" indent="-342900">
              <a:buFont typeface="Arial" panose="020B0604020202020204" pitchFamily="34" charset="0"/>
              <a:buChar char="•"/>
            </a:pP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Coefficients that are zero are not displayed. </a:t>
            </a:r>
          </a:p>
          <a:p>
            <a:pPr marL="342900" indent="-342900">
              <a:buFont typeface="Arial" panose="020B0604020202020204" pitchFamily="34" charset="0"/>
              <a:buChar char="•"/>
            </a:pP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term with exponent equal to zero does not show the variable since x raised to a power of zero is 1. </a:t>
            </a:r>
          </a:p>
          <a:p>
            <a:endParaRPr lang="en-US" sz="2400" dirty="0">
              <a:solidFill>
                <a:schemeClr val="bg2">
                  <a:lumMod val="10000"/>
                </a:schemeClr>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95EF2536-36F8-145E-C865-C8DC257E8E74}"/>
              </a:ext>
            </a:extLst>
          </p:cNvPr>
          <p:cNvPicPr>
            <a:picLocks noChangeAspect="1"/>
          </p:cNvPicPr>
          <p:nvPr/>
        </p:nvPicPr>
        <p:blipFill>
          <a:blip r:embed="rId2"/>
          <a:stretch>
            <a:fillRect/>
          </a:stretch>
        </p:blipFill>
        <p:spPr>
          <a:xfrm>
            <a:off x="675969" y="2564904"/>
            <a:ext cx="4275789" cy="129614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7109639"/>
          </a:xfrm>
          <a:prstGeom prst="rect">
            <a:avLst/>
          </a:prstGeom>
          <a:noFill/>
        </p:spPr>
        <p:txBody>
          <a:bodyPr wrap="square" rtlCol="0">
            <a:spAutoFit/>
          </a:bodyPr>
          <a:lstStyle/>
          <a:p>
            <a:endParaRPr lang="en-US" sz="2400" dirty="0"/>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Polynomial ADT abstracts the concept of polynomials, allowing us to:</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1. Represent the polynomial</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Each term can be represented as a combination of:</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Coefficient (e.g., 4)</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Exponent (e.g., 3 for x^3)</a:t>
            </a:r>
          </a:p>
          <a:p>
            <a:r>
              <a:rPr lang="en-IN"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Variable (e.g. x)</a:t>
            </a:r>
            <a:endPar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2. Support operations like:</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Create a polynomial</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Add two polynomials</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Subtract two polynomials</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Multiply two polynomials</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Evaluate a polynomial at a given value of xxx</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Display the polynomial in human-readable form</a:t>
            </a:r>
          </a:p>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4893647"/>
          </a:xfrm>
          <a:prstGeom prst="rect">
            <a:avLst/>
          </a:prstGeom>
          <a:noFill/>
        </p:spPr>
        <p:txBody>
          <a:bodyPr wrap="square" rtlCol="0">
            <a:spAutoFit/>
          </a:bodyPr>
          <a:lstStyle/>
          <a:p>
            <a:r>
              <a:rPr lang="en-US" sz="24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Common Implementations</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Polynomials can be implemented using Arrays :</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Each index can represent the exponent, and the value at that index is the coefficient.</a:t>
            </a:r>
          </a:p>
          <a:p>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a:t>
            </a:r>
            <a:b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b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P(x) = 4x^3 + 2x^2 - 5x + 7</a:t>
            </a:r>
            <a:b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br>
            <a:r>
              <a:rPr lang="en-US"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you can use an array:</a:t>
            </a:r>
          </a:p>
          <a:p>
            <a:r>
              <a:rPr lang="fr-FR"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index:         0   1   2   3  </a:t>
            </a:r>
            <a:r>
              <a:rPr lang="fr-FR"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sym typeface="Wingdings" panose="05000000000000000000" pitchFamily="2" charset="2"/>
              </a:rPr>
              <a:t> Exponent</a:t>
            </a:r>
            <a:endParaRPr lang="fr-FR"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fr-FR" sz="24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coefficient: 7  -5   2   4</a:t>
            </a:r>
          </a:p>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500034" y="388938"/>
            <a:ext cx="8072494" cy="6254772"/>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3693319"/>
          </a:xfrm>
          <a:prstGeom prst="rect">
            <a:avLst/>
          </a:prstGeom>
        </p:spPr>
        <p:txBody>
          <a:bodyPr wrap="square">
            <a:spAutoFit/>
          </a:bodyPr>
          <a:lstStyle/>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POLYNOMIAL REPRESENTATION: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#define MAX_TERMS 100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float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}polynomial;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polynomial terms[MAX_TERMS];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avail=0; </a:t>
            </a:r>
          </a:p>
          <a:p>
            <a:endParaRPr lang="en-IN" sz="2000" dirty="0"/>
          </a:p>
          <a:p>
            <a:endParaRPr lang="en-US" sz="2000" dirty="0"/>
          </a:p>
          <a:p>
            <a:endParaRPr lang="en-US" sz="1400" i="1" dirty="0">
              <a:solidFill>
                <a:schemeClr val="accent2">
                  <a:lumMod val="60000"/>
                  <a:lumOff val="40000"/>
                </a:schemeClr>
              </a:solidFill>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srcRect/>
          <a:stretch>
            <a:fillRect/>
          </a:stretch>
        </p:blipFill>
        <p:spPr bwMode="auto">
          <a:xfrm>
            <a:off x="238143" y="2780928"/>
            <a:ext cx="9230401" cy="3024336"/>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4924425"/>
          </a:xfrm>
          <a:prstGeom prst="rect">
            <a:avLst/>
          </a:prstGeom>
        </p:spPr>
        <p:txBody>
          <a:bodyPr wrap="square">
            <a:spAutoFit/>
          </a:bodyPr>
          <a:lstStyle/>
          <a:p>
            <a:endParaRPr lang="en-US" sz="2000" dirty="0"/>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&amp;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give the index of first term of A and B respectively.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finishA</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&amp;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give the index of the last term of A &amp; B respectively.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avail gives the index of next free location in the array.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Any polynomial A that has ‘n’ non-zero terms has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&amp;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finishA</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such that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finishA</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=startA+n-1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Advantage: This representation solves the problem of many 0 terms since A(x)-2x1000+1 uses only 6 units of storage (one for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one for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finishA</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2 for the coefficients and 2 for the exponents) </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Disadvantage: However, when all the terms are non-zero, the current representation requires about twice as much space as the first one. </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dirty="0"/>
          </a:p>
          <a:p>
            <a:endParaRPr lang="en-US" sz="1400" i="1" dirty="0">
              <a:solidFill>
                <a:schemeClr val="accent2">
                  <a:lumMod val="60000"/>
                  <a:lumOff val="40000"/>
                </a:schemeClr>
              </a:solidFill>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12366-6367-F3F3-3CB8-471D340BC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8AAE9-B098-DE3B-DE26-16DCA0F8B269}"/>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FF0DB154-9D43-A833-EFF9-DF169C66867D}"/>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B6E9C50A-AD5A-692C-E982-1F27A1508C8C}"/>
              </a:ext>
            </a:extLst>
          </p:cNvPr>
          <p:cNvSpPr/>
          <p:nvPr/>
        </p:nvSpPr>
        <p:spPr>
          <a:xfrm>
            <a:off x="0" y="71414"/>
            <a:ext cx="8964488" cy="5324535"/>
          </a:xfrm>
          <a:prstGeom prst="rect">
            <a:avLst/>
          </a:prstGeom>
        </p:spPr>
        <p:txBody>
          <a:bodyPr wrap="square">
            <a:spAutoFit/>
          </a:bodyPr>
          <a:lstStyle/>
          <a:p>
            <a:r>
              <a:rPr lang="en-IN" sz="2000" b="1"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Function to add two polynomials</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General Rule : </a:t>
            </a:r>
            <a:r>
              <a:rPr lang="en-US"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We only add the coefficients of terms with equal exponents</a:t>
            </a:r>
          </a:p>
          <a:p>
            <a:r>
              <a:rPr lang="en-US"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the exponents are different, we don’t add — we just copy the term to the result</a:t>
            </a:r>
          </a:p>
          <a:p>
            <a:endParaRPr lang="en-US"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pt-BR"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A(x) = 5x⁴ + 3x² + 7</a:t>
            </a:r>
          </a:p>
          <a:p>
            <a:r>
              <a:rPr lang="pt-BR"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B(x) = 2x⁴ + 4x³ + 1</a:t>
            </a:r>
          </a:p>
          <a:p>
            <a:endParaRPr lang="en-US"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5x⁴ and 2x⁴ → same exponent → add coefficients → 7x⁴ - Can be added</a:t>
            </a:r>
          </a:p>
          <a:p>
            <a:r>
              <a:rPr lang="en-US"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3x² and 4x³ → different exponents → can't add</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pPr marL="342900" indent="-342900">
              <a:buFont typeface="Arial" panose="020B0604020202020204" pitchFamily="34" charset="0"/>
              <a:buChar char="•"/>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 function is written that adds two polynomials, A and B to obtain D =A + B. </a:t>
            </a:r>
          </a:p>
          <a:p>
            <a:pPr marL="342900" indent="-342900">
              <a:buFont typeface="Arial" panose="020B0604020202020204" pitchFamily="34" charset="0"/>
              <a:buChar char="•"/>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To produce D (x),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padd</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is used to add A (x) and B (x) term by term. Starting at position avail, attach( ) which places the terms of D into the array, terms. </a:t>
            </a:r>
          </a:p>
          <a:p>
            <a:pPr marL="342900" indent="-342900">
              <a:buFont typeface="Arial" panose="020B0604020202020204" pitchFamily="34" charset="0"/>
              <a:buChar char="•"/>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there is not enough space in terms to accommodate D, an error message is printed to the standard error device &amp; exits the program with an error condition</a:t>
            </a:r>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33331340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722D-F8C7-EF2F-4A66-573E1E112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226BF-2B80-CE53-DF57-9C5E42EE62EC}"/>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5227D7A2-69A8-6CC2-34BF-23E7042C7D0C}"/>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E30E5C31-DC02-8C6B-6A68-266D039FBBBC}"/>
              </a:ext>
            </a:extLst>
          </p:cNvPr>
          <p:cNvSpPr/>
          <p:nvPr/>
        </p:nvSpPr>
        <p:spPr>
          <a:xfrm>
            <a:off x="0" y="71414"/>
            <a:ext cx="8964488" cy="1323439"/>
          </a:xfrm>
          <a:prstGeom prst="rect">
            <a:avLst/>
          </a:prstGeom>
        </p:spPr>
        <p:txBody>
          <a:bodyPr wrap="square">
            <a:spAutoFit/>
          </a:bodyPr>
          <a:lstStyle/>
          <a:p>
            <a:r>
              <a:rPr lang="en-IN" sz="2000" b="1"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Function to add two polynomials</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B8CC2DF2-0126-7840-DF75-3248677CB5F1}"/>
              </a:ext>
            </a:extLst>
          </p:cNvPr>
          <p:cNvPicPr>
            <a:picLocks noChangeAspect="1"/>
          </p:cNvPicPr>
          <p:nvPr/>
        </p:nvPicPr>
        <p:blipFill>
          <a:blip r:embed="rId2"/>
          <a:stretch>
            <a:fillRect/>
          </a:stretch>
        </p:blipFill>
        <p:spPr>
          <a:xfrm>
            <a:off x="107504" y="516960"/>
            <a:ext cx="2781541" cy="967824"/>
          </a:xfrm>
          <a:prstGeom prst="rect">
            <a:avLst/>
          </a:prstGeom>
        </p:spPr>
      </p:pic>
      <p:graphicFrame>
        <p:nvGraphicFramePr>
          <p:cNvPr id="9" name="Table 8">
            <a:extLst>
              <a:ext uri="{FF2B5EF4-FFF2-40B4-BE49-F238E27FC236}">
                <a16:creationId xmlns:a16="http://schemas.microsoft.com/office/drawing/2014/main" id="{B07924D7-1D5D-0250-4B4F-60CF75A071A3}"/>
              </a:ext>
            </a:extLst>
          </p:cNvPr>
          <p:cNvGraphicFramePr>
            <a:graphicFrameLocks noGrp="1"/>
          </p:cNvGraphicFramePr>
          <p:nvPr>
            <p:extLst>
              <p:ext uri="{D42A27DB-BD31-4B8C-83A1-F6EECF244321}">
                <p14:modId xmlns:p14="http://schemas.microsoft.com/office/powerpoint/2010/main" val="1374790335"/>
              </p:ext>
            </p:extLst>
          </p:nvPr>
        </p:nvGraphicFramePr>
        <p:xfrm>
          <a:off x="539552" y="1844824"/>
          <a:ext cx="1440160" cy="3960437"/>
        </p:xfrm>
        <a:graphic>
          <a:graphicData uri="http://schemas.openxmlformats.org/drawingml/2006/table">
            <a:tbl>
              <a:tblPr>
                <a:tableStyleId>{5C22544A-7EE6-4342-B048-85BDC9FD1C3A}</a:tableStyleId>
              </a:tblPr>
              <a:tblGrid>
                <a:gridCol w="720080">
                  <a:extLst>
                    <a:ext uri="{9D8B030D-6E8A-4147-A177-3AD203B41FA5}">
                      <a16:colId xmlns:a16="http://schemas.microsoft.com/office/drawing/2014/main" val="358207738"/>
                    </a:ext>
                  </a:extLst>
                </a:gridCol>
                <a:gridCol w="720080">
                  <a:extLst>
                    <a:ext uri="{9D8B030D-6E8A-4147-A177-3AD203B41FA5}">
                      <a16:colId xmlns:a16="http://schemas.microsoft.com/office/drawing/2014/main" val="2608476025"/>
                    </a:ext>
                  </a:extLst>
                </a:gridCol>
              </a:tblGrid>
              <a:tr h="304649">
                <a:tc>
                  <a:txBody>
                    <a:bodyPr/>
                    <a:lstStyle/>
                    <a:p>
                      <a:pPr algn="l" fontAlgn="b">
                        <a:buNone/>
                      </a:pPr>
                      <a:r>
                        <a:rPr lang="en-IN" sz="1400" b="1" u="none" strike="noStrike">
                          <a:effectLst/>
                        </a:rPr>
                        <a:t> </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a:effectLst/>
                        </a:rPr>
                        <a:t>A(x)</a:t>
                      </a:r>
                      <a:endParaRPr lang="en-IN" sz="1400" b="1"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00470274"/>
                  </a:ext>
                </a:extLst>
              </a:tr>
              <a:tr h="304649">
                <a:tc rowSpan="2">
                  <a:txBody>
                    <a:bodyPr/>
                    <a:lstStyle/>
                    <a:p>
                      <a:pPr algn="ctr" fontAlgn="ctr">
                        <a:buNone/>
                      </a:pPr>
                      <a:r>
                        <a:rPr lang="en-IN" sz="1400" b="1" u="none" strike="noStrike">
                          <a:effectLst/>
                        </a:rPr>
                        <a:t>0</a:t>
                      </a:r>
                      <a:endParaRPr lang="en-IN" sz="1400" b="1" i="0" u="none" strike="noStrike" dirty="0">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a:effectLst/>
                        </a:rPr>
                        <a:t>7</a:t>
                      </a:r>
                      <a:endParaRPr lang="en-IN" sz="1400" b="1"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30781075"/>
                  </a:ext>
                </a:extLst>
              </a:tr>
              <a:tr h="304649">
                <a:tc vMerge="1">
                  <a:txBody>
                    <a:bodyPr/>
                    <a:lstStyle/>
                    <a:p>
                      <a:endParaRPr lang="en-IN"/>
                    </a:p>
                  </a:txBody>
                  <a:tcPr/>
                </a:tc>
                <a:tc>
                  <a:txBody>
                    <a:bodyPr/>
                    <a:lstStyle/>
                    <a:p>
                      <a:pPr algn="ctr" fontAlgn="b">
                        <a:buNone/>
                      </a:pPr>
                      <a:r>
                        <a:rPr lang="en-IN" sz="1400" b="1" u="none" strike="noStrike">
                          <a:effectLst/>
                        </a:rPr>
                        <a:t>4</a:t>
                      </a:r>
                      <a:endParaRPr lang="en-IN" sz="1400" b="1"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25462567"/>
                  </a:ext>
                </a:extLst>
              </a:tr>
              <a:tr h="304649">
                <a:tc rowSpan="2">
                  <a:txBody>
                    <a:bodyPr/>
                    <a:lstStyle/>
                    <a:p>
                      <a:pPr algn="ctr" fontAlgn="ctr">
                        <a:buNone/>
                      </a:pPr>
                      <a:r>
                        <a:rPr lang="en-IN" sz="1400" b="1" u="none" strike="noStrike">
                          <a:effectLst/>
                        </a:rPr>
                        <a:t>1</a:t>
                      </a:r>
                      <a:endParaRPr lang="en-IN" sz="1400" b="1" i="0" u="none" strike="noStrike" dirty="0">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a:effectLst/>
                        </a:rPr>
                        <a:t>3</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84657205"/>
                  </a:ext>
                </a:extLst>
              </a:tr>
              <a:tr h="304649">
                <a:tc vMerge="1">
                  <a:txBody>
                    <a:bodyPr/>
                    <a:lstStyle/>
                    <a:p>
                      <a:endParaRPr lang="en-IN"/>
                    </a:p>
                  </a:txBody>
                  <a:tcPr/>
                </a:tc>
                <a:tc>
                  <a:txBody>
                    <a:bodyPr/>
                    <a:lstStyle/>
                    <a:p>
                      <a:pPr algn="ctr" fontAlgn="b">
                        <a:buNone/>
                      </a:pPr>
                      <a:r>
                        <a:rPr lang="en-IN" sz="1400" b="1" u="none" strike="noStrike">
                          <a:effectLst/>
                        </a:rPr>
                        <a:t>2</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6735485"/>
                  </a:ext>
                </a:extLst>
              </a:tr>
              <a:tr h="304649">
                <a:tc rowSpan="2">
                  <a:txBody>
                    <a:bodyPr/>
                    <a:lstStyle/>
                    <a:p>
                      <a:pPr algn="ctr" fontAlgn="ctr">
                        <a:buNone/>
                      </a:pPr>
                      <a:r>
                        <a:rPr lang="en-IN" sz="1400" b="1" u="none" strike="noStrike">
                          <a:effectLst/>
                        </a:rPr>
                        <a:t>2</a:t>
                      </a:r>
                      <a:endParaRPr lang="en-IN" sz="1400" b="1" i="0" u="none" strike="noStrike" dirty="0">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a:effectLst/>
                        </a:rPr>
                        <a:t>2</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95226"/>
                  </a:ext>
                </a:extLst>
              </a:tr>
              <a:tr h="304649">
                <a:tc vMerge="1">
                  <a:txBody>
                    <a:bodyPr/>
                    <a:lstStyle/>
                    <a:p>
                      <a:endParaRPr lang="en-IN"/>
                    </a:p>
                  </a:txBody>
                  <a:tcPr/>
                </a:tc>
                <a:tc>
                  <a:txBody>
                    <a:bodyPr/>
                    <a:lstStyle/>
                    <a:p>
                      <a:pPr algn="ctr" fontAlgn="b">
                        <a:buNone/>
                      </a:pPr>
                      <a:r>
                        <a:rPr lang="en-IN" sz="1400" b="1" u="none" strike="noStrike">
                          <a:effectLst/>
                        </a:rPr>
                        <a:t>1</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7151146"/>
                  </a:ext>
                </a:extLst>
              </a:tr>
              <a:tr h="304649">
                <a:tc rowSpan="2">
                  <a:txBody>
                    <a:bodyPr/>
                    <a:lstStyle/>
                    <a:p>
                      <a:pPr algn="ctr" fontAlgn="ctr">
                        <a:buNone/>
                      </a:pPr>
                      <a:r>
                        <a:rPr lang="en-IN" sz="1400" b="1" u="none" strike="noStrike" dirty="0">
                          <a:effectLst/>
                        </a:rPr>
                        <a:t>3</a:t>
                      </a:r>
                      <a:endParaRPr lang="en-IN" sz="1400" b="1" i="0" u="none" strike="noStrike" dirty="0">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a:effectLst/>
                        </a:rPr>
                        <a:t>4</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15306962"/>
                  </a:ext>
                </a:extLst>
              </a:tr>
              <a:tr h="304649">
                <a:tc vMerge="1">
                  <a:txBody>
                    <a:bodyPr/>
                    <a:lstStyle/>
                    <a:p>
                      <a:endParaRPr lang="en-IN"/>
                    </a:p>
                  </a:txBody>
                  <a:tcPr/>
                </a:tc>
                <a:tc>
                  <a:txBody>
                    <a:bodyPr/>
                    <a:lstStyle/>
                    <a:p>
                      <a:pPr algn="ctr" fontAlgn="b">
                        <a:buNone/>
                      </a:pPr>
                      <a:r>
                        <a:rPr lang="en-IN" sz="1400" b="1" u="none" strike="noStrike">
                          <a:effectLst/>
                        </a:rPr>
                        <a:t>0</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64205838"/>
                  </a:ext>
                </a:extLst>
              </a:tr>
              <a:tr h="304649">
                <a:tc rowSpan="2">
                  <a:txBody>
                    <a:bodyPr/>
                    <a:lstStyle/>
                    <a:p>
                      <a:pPr algn="ctr" fontAlgn="ctr">
                        <a:buNone/>
                      </a:pPr>
                      <a:r>
                        <a:rPr lang="en-IN" sz="1400" b="1" u="none" strike="noStrike">
                          <a:effectLst/>
                        </a:rPr>
                        <a:t>4</a:t>
                      </a:r>
                      <a:endParaRPr lang="en-IN" sz="1400" b="1"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40194579"/>
                  </a:ext>
                </a:extLst>
              </a:tr>
              <a:tr h="304649">
                <a:tc vMerge="1">
                  <a:txBody>
                    <a:bodyPr/>
                    <a:lstStyle/>
                    <a:p>
                      <a:endParaRPr lang="en-IN"/>
                    </a:p>
                  </a:txBody>
                  <a:tcPr/>
                </a:tc>
                <a:tc>
                  <a:txBody>
                    <a:bodyPr/>
                    <a:lstStyle/>
                    <a:p>
                      <a:pPr algn="ctr" fontAlgn="b">
                        <a:buNone/>
                      </a:pPr>
                      <a:r>
                        <a:rPr lang="en-IN" sz="1400" b="1" u="none" strike="noStrike">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27690867"/>
                  </a:ext>
                </a:extLst>
              </a:tr>
              <a:tr h="304649">
                <a:tc rowSpan="2">
                  <a:txBody>
                    <a:bodyPr/>
                    <a:lstStyle/>
                    <a:p>
                      <a:pPr algn="ctr" fontAlgn="ctr">
                        <a:buNone/>
                      </a:pPr>
                      <a:r>
                        <a:rPr lang="en-IN" sz="1400" b="1" u="none" strike="noStrike">
                          <a:effectLst/>
                        </a:rPr>
                        <a:t>5</a:t>
                      </a:r>
                      <a:endParaRPr lang="en-IN" sz="1400" b="1"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67739587"/>
                  </a:ext>
                </a:extLst>
              </a:tr>
              <a:tr h="304649">
                <a:tc vMerge="1">
                  <a:txBody>
                    <a:bodyPr/>
                    <a:lstStyle/>
                    <a:p>
                      <a:endParaRPr lang="en-IN"/>
                    </a:p>
                  </a:txBody>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86687386"/>
                  </a:ext>
                </a:extLst>
              </a:tr>
            </a:tbl>
          </a:graphicData>
        </a:graphic>
      </p:graphicFrame>
      <p:graphicFrame>
        <p:nvGraphicFramePr>
          <p:cNvPr id="10" name="Table 9">
            <a:extLst>
              <a:ext uri="{FF2B5EF4-FFF2-40B4-BE49-F238E27FC236}">
                <a16:creationId xmlns:a16="http://schemas.microsoft.com/office/drawing/2014/main" id="{16605B39-21A4-3EAB-82B5-6D7FA19845B6}"/>
              </a:ext>
            </a:extLst>
          </p:cNvPr>
          <p:cNvGraphicFramePr>
            <a:graphicFrameLocks noGrp="1"/>
          </p:cNvGraphicFramePr>
          <p:nvPr>
            <p:extLst>
              <p:ext uri="{D42A27DB-BD31-4B8C-83A1-F6EECF244321}">
                <p14:modId xmlns:p14="http://schemas.microsoft.com/office/powerpoint/2010/main" val="3812083679"/>
              </p:ext>
            </p:extLst>
          </p:nvPr>
        </p:nvGraphicFramePr>
        <p:xfrm>
          <a:off x="2699792" y="1897360"/>
          <a:ext cx="1224136" cy="3259828"/>
        </p:xfrm>
        <a:graphic>
          <a:graphicData uri="http://schemas.openxmlformats.org/drawingml/2006/table">
            <a:tbl>
              <a:tblPr>
                <a:tableStyleId>{5C22544A-7EE6-4342-B048-85BDC9FD1C3A}</a:tableStyleId>
              </a:tblPr>
              <a:tblGrid>
                <a:gridCol w="612068">
                  <a:extLst>
                    <a:ext uri="{9D8B030D-6E8A-4147-A177-3AD203B41FA5}">
                      <a16:colId xmlns:a16="http://schemas.microsoft.com/office/drawing/2014/main" val="2408628406"/>
                    </a:ext>
                  </a:extLst>
                </a:gridCol>
                <a:gridCol w="612068">
                  <a:extLst>
                    <a:ext uri="{9D8B030D-6E8A-4147-A177-3AD203B41FA5}">
                      <a16:colId xmlns:a16="http://schemas.microsoft.com/office/drawing/2014/main" val="1396441715"/>
                    </a:ext>
                  </a:extLst>
                </a:gridCol>
              </a:tblGrid>
              <a:tr h="250756">
                <a:tc>
                  <a:txBody>
                    <a:bodyPr/>
                    <a:lstStyle/>
                    <a:p>
                      <a:pPr algn="l" fontAlgn="b">
                        <a:buNone/>
                      </a:pPr>
                      <a:r>
                        <a:rPr lang="en-IN" sz="1400" b="1" u="none" strike="noStrike" dirty="0">
                          <a:effectLst/>
                        </a:rPr>
                        <a:t> </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a:effectLst/>
                        </a:rPr>
                        <a:t>B(x)</a:t>
                      </a:r>
                      <a:endParaRPr lang="en-IN" sz="1400" b="1"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85127824"/>
                  </a:ext>
                </a:extLst>
              </a:tr>
              <a:tr h="250756">
                <a:tc rowSpan="2">
                  <a:txBody>
                    <a:bodyPr/>
                    <a:lstStyle/>
                    <a:p>
                      <a:pPr algn="ctr" fontAlgn="ctr">
                        <a:buNone/>
                      </a:pPr>
                      <a:r>
                        <a:rPr lang="en-IN" sz="1400" b="1" u="none" strike="noStrike" dirty="0">
                          <a:effectLst/>
                        </a:rPr>
                        <a:t>0</a:t>
                      </a:r>
                      <a:endParaRPr lang="en-IN" sz="1400" b="1" i="0" u="none" strike="noStrike" dirty="0">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a:effectLst/>
                        </a:rPr>
                        <a:t>5</a:t>
                      </a:r>
                      <a:endParaRPr lang="en-IN" sz="1400" b="1"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65828844"/>
                  </a:ext>
                </a:extLst>
              </a:tr>
              <a:tr h="250756">
                <a:tc vMerge="1">
                  <a:txBody>
                    <a:bodyPr/>
                    <a:lstStyle/>
                    <a:p>
                      <a:endParaRPr lang="en-IN"/>
                    </a:p>
                  </a:txBody>
                  <a:tcPr/>
                </a:tc>
                <a:tc>
                  <a:txBody>
                    <a:bodyPr/>
                    <a:lstStyle/>
                    <a:p>
                      <a:pPr algn="ctr" fontAlgn="b">
                        <a:buNone/>
                      </a:pPr>
                      <a:r>
                        <a:rPr lang="en-IN" sz="1400" b="1" u="none" strike="noStrike" dirty="0">
                          <a:effectLst/>
                        </a:rPr>
                        <a:t>3</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9487263"/>
                  </a:ext>
                </a:extLst>
              </a:tr>
              <a:tr h="250756">
                <a:tc rowSpan="2">
                  <a:txBody>
                    <a:bodyPr/>
                    <a:lstStyle/>
                    <a:p>
                      <a:pPr algn="ctr" fontAlgn="ctr">
                        <a:buNone/>
                      </a:pPr>
                      <a:r>
                        <a:rPr lang="en-IN" sz="1400" b="1" u="none" strike="noStrike" dirty="0">
                          <a:effectLst/>
                        </a:rPr>
                        <a:t>1</a:t>
                      </a:r>
                      <a:endParaRPr lang="en-IN" sz="1400" b="1" i="0" u="none" strike="noStrike" dirty="0">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dirty="0">
                          <a:effectLst/>
                        </a:rPr>
                        <a:t>4</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81920032"/>
                  </a:ext>
                </a:extLst>
              </a:tr>
              <a:tr h="250756">
                <a:tc vMerge="1">
                  <a:txBody>
                    <a:bodyPr/>
                    <a:lstStyle/>
                    <a:p>
                      <a:endParaRPr lang="en-IN"/>
                    </a:p>
                  </a:txBody>
                  <a:tcPr/>
                </a:tc>
                <a:tc>
                  <a:txBody>
                    <a:bodyPr/>
                    <a:lstStyle/>
                    <a:p>
                      <a:pPr algn="ctr" fontAlgn="b">
                        <a:buNone/>
                      </a:pPr>
                      <a:r>
                        <a:rPr lang="en-IN" sz="1400" b="1" u="none" strike="noStrike" dirty="0">
                          <a:effectLst/>
                        </a:rPr>
                        <a:t>2</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93103735"/>
                  </a:ext>
                </a:extLst>
              </a:tr>
              <a:tr h="250756">
                <a:tc rowSpan="2">
                  <a:txBody>
                    <a:bodyPr/>
                    <a:lstStyle/>
                    <a:p>
                      <a:pPr algn="ctr" fontAlgn="ctr">
                        <a:buNone/>
                      </a:pPr>
                      <a:r>
                        <a:rPr lang="en-IN" sz="1400" b="1" u="none" strike="noStrike" dirty="0">
                          <a:effectLst/>
                        </a:rPr>
                        <a:t>2</a:t>
                      </a:r>
                      <a:endParaRPr lang="en-IN" sz="1400" b="1" i="0" u="none" strike="noStrike" dirty="0">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6754006"/>
                  </a:ext>
                </a:extLst>
              </a:tr>
              <a:tr h="250756">
                <a:tc vMerge="1">
                  <a:txBody>
                    <a:bodyPr/>
                    <a:lstStyle/>
                    <a:p>
                      <a:endParaRPr lang="en-IN"/>
                    </a:p>
                  </a:txBody>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44269437"/>
                  </a:ext>
                </a:extLst>
              </a:tr>
              <a:tr h="250756">
                <a:tc rowSpan="2">
                  <a:txBody>
                    <a:bodyPr/>
                    <a:lstStyle/>
                    <a:p>
                      <a:pPr algn="ctr" fontAlgn="ctr">
                        <a:buNone/>
                      </a:pPr>
                      <a:r>
                        <a:rPr lang="en-IN" sz="1400" b="1" u="none" strike="noStrike">
                          <a:effectLst/>
                        </a:rPr>
                        <a:t>3</a:t>
                      </a:r>
                      <a:endParaRPr lang="en-IN" sz="1400" b="1"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70908069"/>
                  </a:ext>
                </a:extLst>
              </a:tr>
              <a:tr h="250756">
                <a:tc vMerge="1">
                  <a:txBody>
                    <a:bodyPr/>
                    <a:lstStyle/>
                    <a:p>
                      <a:endParaRPr lang="en-IN"/>
                    </a:p>
                  </a:txBody>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93581912"/>
                  </a:ext>
                </a:extLst>
              </a:tr>
              <a:tr h="250756">
                <a:tc rowSpan="2">
                  <a:txBody>
                    <a:bodyPr/>
                    <a:lstStyle/>
                    <a:p>
                      <a:pPr algn="ctr" fontAlgn="ctr">
                        <a:buNone/>
                      </a:pPr>
                      <a:r>
                        <a:rPr lang="en-IN" sz="1400" b="1" u="none" strike="noStrike">
                          <a:effectLst/>
                        </a:rPr>
                        <a:t>4</a:t>
                      </a:r>
                      <a:endParaRPr lang="en-IN" sz="1400" b="1"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13774508"/>
                  </a:ext>
                </a:extLst>
              </a:tr>
              <a:tr h="250756">
                <a:tc vMerge="1">
                  <a:txBody>
                    <a:bodyPr/>
                    <a:lstStyle/>
                    <a:p>
                      <a:endParaRPr lang="en-IN"/>
                    </a:p>
                  </a:txBody>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09726694"/>
                  </a:ext>
                </a:extLst>
              </a:tr>
              <a:tr h="250756">
                <a:tc rowSpan="2">
                  <a:txBody>
                    <a:bodyPr/>
                    <a:lstStyle/>
                    <a:p>
                      <a:pPr algn="ctr" fontAlgn="ctr">
                        <a:buNone/>
                      </a:pPr>
                      <a:r>
                        <a:rPr lang="en-IN" sz="1400" b="1" u="none" strike="noStrike">
                          <a:effectLst/>
                        </a:rPr>
                        <a:t>5</a:t>
                      </a:r>
                      <a:endParaRPr lang="en-IN" sz="1400" b="1"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14809974"/>
                  </a:ext>
                </a:extLst>
              </a:tr>
              <a:tr h="250756">
                <a:tc vMerge="1">
                  <a:txBody>
                    <a:bodyPr/>
                    <a:lstStyle/>
                    <a:p>
                      <a:endParaRPr lang="en-IN"/>
                    </a:p>
                  </a:txBody>
                  <a:tcPr/>
                </a:tc>
                <a:tc>
                  <a:txBody>
                    <a:bodyPr/>
                    <a:lstStyle/>
                    <a:p>
                      <a:pPr algn="ctr" fontAlgn="b">
                        <a:buNone/>
                      </a:pPr>
                      <a:r>
                        <a:rPr lang="en-IN" sz="1400" b="1" u="none" strike="noStrike" dirty="0">
                          <a:effectLst/>
                        </a:rPr>
                        <a:t>-</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52775431"/>
                  </a:ext>
                </a:extLst>
              </a:tr>
            </a:tbl>
          </a:graphicData>
        </a:graphic>
      </p:graphicFrame>
      <p:graphicFrame>
        <p:nvGraphicFramePr>
          <p:cNvPr id="14" name="Table 13">
            <a:extLst>
              <a:ext uri="{FF2B5EF4-FFF2-40B4-BE49-F238E27FC236}">
                <a16:creationId xmlns:a16="http://schemas.microsoft.com/office/drawing/2014/main" id="{C150922B-8356-C3D1-593C-C59FACABBABA}"/>
              </a:ext>
            </a:extLst>
          </p:cNvPr>
          <p:cNvGraphicFramePr>
            <a:graphicFrameLocks noGrp="1"/>
          </p:cNvGraphicFramePr>
          <p:nvPr>
            <p:extLst>
              <p:ext uri="{D42A27DB-BD31-4B8C-83A1-F6EECF244321}">
                <p14:modId xmlns:p14="http://schemas.microsoft.com/office/powerpoint/2010/main" val="2441305912"/>
              </p:ext>
            </p:extLst>
          </p:nvPr>
        </p:nvGraphicFramePr>
        <p:xfrm>
          <a:off x="4648944" y="1916832"/>
          <a:ext cx="1507232" cy="3240354"/>
        </p:xfrm>
        <a:graphic>
          <a:graphicData uri="http://schemas.openxmlformats.org/drawingml/2006/table">
            <a:tbl>
              <a:tblPr>
                <a:tableStyleId>{5C22544A-7EE6-4342-B048-85BDC9FD1C3A}</a:tableStyleId>
              </a:tblPr>
              <a:tblGrid>
                <a:gridCol w="753616">
                  <a:extLst>
                    <a:ext uri="{9D8B030D-6E8A-4147-A177-3AD203B41FA5}">
                      <a16:colId xmlns:a16="http://schemas.microsoft.com/office/drawing/2014/main" val="438193074"/>
                    </a:ext>
                  </a:extLst>
                </a:gridCol>
                <a:gridCol w="753616">
                  <a:extLst>
                    <a:ext uri="{9D8B030D-6E8A-4147-A177-3AD203B41FA5}">
                      <a16:colId xmlns:a16="http://schemas.microsoft.com/office/drawing/2014/main" val="1192776528"/>
                    </a:ext>
                  </a:extLst>
                </a:gridCol>
              </a:tblGrid>
              <a:tr h="249258">
                <a:tc>
                  <a:txBody>
                    <a:bodyPr/>
                    <a:lstStyle/>
                    <a:p>
                      <a:pPr algn="l"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b="1" u="none" strike="noStrike" dirty="0">
                          <a:effectLst/>
                        </a:rPr>
                        <a:t>D(x)?</a:t>
                      </a:r>
                      <a:endParaRPr lang="en-IN" sz="14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705316"/>
                  </a:ext>
                </a:extLst>
              </a:tr>
              <a:tr h="249258">
                <a:tc rowSpan="2">
                  <a:txBody>
                    <a:bodyPr/>
                    <a:lstStyle/>
                    <a:p>
                      <a:pPr algn="ctr" fontAlgn="ctr">
                        <a:buNone/>
                      </a:pPr>
                      <a:r>
                        <a:rPr lang="en-IN" sz="1400" u="none" strike="noStrike">
                          <a:effectLst/>
                        </a:rPr>
                        <a:t>0</a:t>
                      </a:r>
                      <a:endParaRPr lang="en-IN" sz="1400" b="0"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4817166"/>
                  </a:ext>
                </a:extLst>
              </a:tr>
              <a:tr h="249258">
                <a:tc vMerge="1">
                  <a:txBody>
                    <a:bodyPr/>
                    <a:lstStyle/>
                    <a:p>
                      <a:endParaRPr lang="en-IN"/>
                    </a:p>
                  </a:txBody>
                  <a:tcPr/>
                </a:tc>
                <a:tc>
                  <a:txBody>
                    <a:bodyPr/>
                    <a:lstStyle/>
                    <a:p>
                      <a:pPr algn="ctr" fontAlgn="b">
                        <a:buNone/>
                      </a:pPr>
                      <a:r>
                        <a:rPr lang="en-IN" sz="1400" u="none" strike="noStrike">
                          <a:effectLst/>
                        </a:rPr>
                        <a:t> </a:t>
                      </a:r>
                      <a:endParaRPr lang="en-IN" sz="1400" b="0"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39407083"/>
                  </a:ext>
                </a:extLst>
              </a:tr>
              <a:tr h="249258">
                <a:tc rowSpan="2">
                  <a:txBody>
                    <a:bodyPr/>
                    <a:lstStyle/>
                    <a:p>
                      <a:pPr algn="ctr" fontAlgn="ctr">
                        <a:buNone/>
                      </a:pPr>
                      <a:r>
                        <a:rPr lang="en-IN" sz="1400" u="none" strike="noStrike">
                          <a:effectLst/>
                        </a:rPr>
                        <a:t>1</a:t>
                      </a:r>
                      <a:endParaRPr lang="en-IN" sz="1400" b="0"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41698290"/>
                  </a:ext>
                </a:extLst>
              </a:tr>
              <a:tr h="249258">
                <a:tc vMerge="1">
                  <a:txBody>
                    <a:bodyPr/>
                    <a:lstStyle/>
                    <a:p>
                      <a:endParaRPr lang="en-IN"/>
                    </a:p>
                  </a:txBody>
                  <a:tcPr/>
                </a:tc>
                <a:tc>
                  <a:txBody>
                    <a:bodyPr/>
                    <a:lstStyle/>
                    <a:p>
                      <a:pPr algn="ctr" fontAlgn="b">
                        <a:buNone/>
                      </a:pPr>
                      <a:r>
                        <a:rPr lang="en-IN" sz="1400" u="none" strike="noStrike">
                          <a:effectLst/>
                        </a:rPr>
                        <a:t> </a:t>
                      </a:r>
                      <a:endParaRPr lang="en-IN" sz="1400" b="0"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94383649"/>
                  </a:ext>
                </a:extLst>
              </a:tr>
              <a:tr h="249258">
                <a:tc rowSpan="2">
                  <a:txBody>
                    <a:bodyPr/>
                    <a:lstStyle/>
                    <a:p>
                      <a:pPr algn="ctr" fontAlgn="ctr">
                        <a:buNone/>
                      </a:pPr>
                      <a:r>
                        <a:rPr lang="en-IN" sz="1400" u="none" strike="noStrike">
                          <a:effectLst/>
                        </a:rPr>
                        <a:t>2</a:t>
                      </a:r>
                      <a:endParaRPr lang="en-IN" sz="1400" b="0"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32692640"/>
                  </a:ext>
                </a:extLst>
              </a:tr>
              <a:tr h="249258">
                <a:tc vMerge="1">
                  <a:txBody>
                    <a:bodyPr/>
                    <a:lstStyle/>
                    <a:p>
                      <a:endParaRPr lang="en-IN"/>
                    </a:p>
                  </a:txBody>
                  <a:tcPr/>
                </a:tc>
                <a:tc>
                  <a:txBody>
                    <a:bodyPr/>
                    <a:lstStyle/>
                    <a:p>
                      <a:pPr algn="ctr" fontAlgn="b">
                        <a:buNone/>
                      </a:pPr>
                      <a:r>
                        <a:rPr lang="en-IN" sz="1400" u="none" strike="noStrike">
                          <a:effectLst/>
                        </a:rPr>
                        <a:t> </a:t>
                      </a:r>
                      <a:endParaRPr lang="en-IN" sz="1400" b="0"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1091"/>
                  </a:ext>
                </a:extLst>
              </a:tr>
              <a:tr h="249258">
                <a:tc rowSpan="2">
                  <a:txBody>
                    <a:bodyPr/>
                    <a:lstStyle/>
                    <a:p>
                      <a:pPr algn="ctr" fontAlgn="ctr">
                        <a:buNone/>
                      </a:pPr>
                      <a:r>
                        <a:rPr lang="en-IN" sz="1400" u="none" strike="noStrike">
                          <a:effectLst/>
                        </a:rPr>
                        <a:t>3</a:t>
                      </a:r>
                      <a:endParaRPr lang="en-IN" sz="1400" b="0"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73730230"/>
                  </a:ext>
                </a:extLst>
              </a:tr>
              <a:tr h="249258">
                <a:tc vMerge="1">
                  <a:txBody>
                    <a:bodyPr/>
                    <a:lstStyle/>
                    <a:p>
                      <a:endParaRPr lang="en-IN"/>
                    </a:p>
                  </a:txBody>
                  <a:tcPr/>
                </a:tc>
                <a:tc>
                  <a:txBody>
                    <a:bodyPr/>
                    <a:lstStyle/>
                    <a:p>
                      <a:pPr algn="ctr"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4084882"/>
                  </a:ext>
                </a:extLst>
              </a:tr>
              <a:tr h="249258">
                <a:tc rowSpan="2">
                  <a:txBody>
                    <a:bodyPr/>
                    <a:lstStyle/>
                    <a:p>
                      <a:pPr algn="ctr" fontAlgn="ctr">
                        <a:buNone/>
                      </a:pPr>
                      <a:r>
                        <a:rPr lang="en-IN" sz="1400" u="none" strike="noStrike">
                          <a:effectLst/>
                        </a:rPr>
                        <a:t>4</a:t>
                      </a:r>
                      <a:endParaRPr lang="en-IN" sz="1400" b="0"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81168800"/>
                  </a:ext>
                </a:extLst>
              </a:tr>
              <a:tr h="249258">
                <a:tc vMerge="1">
                  <a:txBody>
                    <a:bodyPr/>
                    <a:lstStyle/>
                    <a:p>
                      <a:endParaRPr lang="en-IN"/>
                    </a:p>
                  </a:txBody>
                  <a:tcPr/>
                </a:tc>
                <a:tc>
                  <a:txBody>
                    <a:bodyPr/>
                    <a:lstStyle/>
                    <a:p>
                      <a:pPr algn="ctr" fontAlgn="b">
                        <a:buNone/>
                      </a:pPr>
                      <a:r>
                        <a:rPr lang="en-IN" sz="1400" u="none" strike="noStrike">
                          <a:effectLst/>
                        </a:rPr>
                        <a:t> </a:t>
                      </a:r>
                      <a:endParaRPr lang="en-IN" sz="1400" b="0" i="0" u="none" strike="noStrike">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77483671"/>
                  </a:ext>
                </a:extLst>
              </a:tr>
              <a:tr h="249258">
                <a:tc rowSpan="2">
                  <a:txBody>
                    <a:bodyPr/>
                    <a:lstStyle/>
                    <a:p>
                      <a:pPr algn="ctr" fontAlgn="ctr">
                        <a:buNone/>
                      </a:pPr>
                      <a:r>
                        <a:rPr lang="en-IN" sz="1400" u="none" strike="noStrike">
                          <a:effectLst/>
                        </a:rPr>
                        <a:t>5</a:t>
                      </a:r>
                      <a:endParaRPr lang="en-IN" sz="1400" b="0" i="0" u="none" strike="noStrike">
                        <a:solidFill>
                          <a:srgbClr val="000000"/>
                        </a:solidFill>
                        <a:effectLst/>
                        <a:latin typeface="Aptos Narrow" panose="020B0004020202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0506066"/>
                  </a:ext>
                </a:extLst>
              </a:tr>
              <a:tr h="249258">
                <a:tc vMerge="1">
                  <a:txBody>
                    <a:bodyPr/>
                    <a:lstStyle/>
                    <a:p>
                      <a:endParaRPr lang="en-IN"/>
                    </a:p>
                  </a:txBody>
                  <a:tcPr/>
                </a:tc>
                <a:tc>
                  <a:txBody>
                    <a:bodyPr/>
                    <a:lstStyle/>
                    <a:p>
                      <a:pPr algn="ctr" fontAlgn="b">
                        <a:buNone/>
                      </a:pPr>
                      <a:r>
                        <a:rPr lang="en-IN" sz="1400" u="none" strike="noStrike" dirty="0">
                          <a:effectLst/>
                        </a:rPr>
                        <a:t> </a:t>
                      </a:r>
                      <a:endParaRPr lang="en-IN" sz="1400" b="0"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43908777"/>
                  </a:ext>
                </a:extLst>
              </a:tr>
            </a:tbl>
          </a:graphicData>
        </a:graphic>
      </p:graphicFrame>
    </p:spTree>
    <p:extLst>
      <p:ext uri="{BB962C8B-B14F-4D97-AF65-F5344CB8AC3E}">
        <p14:creationId xmlns:p14="http://schemas.microsoft.com/office/powerpoint/2010/main" val="3555916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5878532"/>
          </a:xfrm>
          <a:prstGeom prst="rect">
            <a:avLst/>
          </a:prstGeom>
        </p:spPr>
        <p:txBody>
          <a:bodyPr wrap="square">
            <a:spAutoFit/>
          </a:bodyPr>
          <a:lstStyle/>
          <a:p>
            <a:r>
              <a:rPr lang="en-IN" sz="2000" b="1"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Function to add two polynomials</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1600" dirty="0">
                <a:solidFill>
                  <a:schemeClr val="accent2">
                    <a:lumMod val="75000"/>
                  </a:schemeClr>
                </a:solidFill>
                <a:latin typeface="Times New Roman" pitchFamily="18" charset="0"/>
                <a:cs typeface="Times New Roman" pitchFamily="18" charset="0"/>
              </a:rPr>
              <a:t>This is a function named </a:t>
            </a:r>
            <a:r>
              <a:rPr lang="en-US" sz="1600" dirty="0" err="1">
                <a:solidFill>
                  <a:schemeClr val="accent2">
                    <a:lumMod val="75000"/>
                  </a:schemeClr>
                </a:solidFill>
                <a:latin typeface="Times New Roman" pitchFamily="18" charset="0"/>
                <a:cs typeface="Times New Roman" pitchFamily="18" charset="0"/>
              </a:rPr>
              <a:t>padd</a:t>
            </a:r>
            <a:r>
              <a:rPr lang="en-US" sz="1600" dirty="0">
                <a:solidFill>
                  <a:schemeClr val="accent2">
                    <a:lumMod val="75000"/>
                  </a:schemeClr>
                </a:solidFill>
                <a:latin typeface="Times New Roman" pitchFamily="18" charset="0"/>
                <a:cs typeface="Times New Roman" pitchFamily="18" charset="0"/>
              </a:rPr>
              <a:t>, short for </a:t>
            </a:r>
            <a:r>
              <a:rPr lang="en-US" sz="1600" b="1" dirty="0">
                <a:solidFill>
                  <a:schemeClr val="accent2">
                    <a:lumMod val="75000"/>
                  </a:schemeClr>
                </a:solidFill>
                <a:latin typeface="Times New Roman" pitchFamily="18" charset="0"/>
                <a:cs typeface="Times New Roman" pitchFamily="18" charset="0"/>
              </a:rPr>
              <a:t>polynomial add</a:t>
            </a:r>
            <a:r>
              <a:rPr lang="en-US" sz="1600" dirty="0">
                <a:solidFill>
                  <a:schemeClr val="accent2">
                    <a:lumMod val="75000"/>
                  </a:schemeClr>
                </a:solidFill>
                <a:latin typeface="Times New Roman" pitchFamily="18" charset="0"/>
                <a:cs typeface="Times New Roman" pitchFamily="18" charset="0"/>
              </a:rPr>
              <a:t>. It </a:t>
            </a:r>
            <a:r>
              <a:rPr lang="en-US" sz="1600" b="1" dirty="0">
                <a:solidFill>
                  <a:schemeClr val="accent2">
                    <a:lumMod val="75000"/>
                  </a:schemeClr>
                </a:solidFill>
                <a:latin typeface="Times New Roman" pitchFamily="18" charset="0"/>
                <a:cs typeface="Times New Roman" pitchFamily="18" charset="0"/>
              </a:rPr>
              <a:t>adds two polynomials A(x) and B(x)</a:t>
            </a:r>
            <a:r>
              <a:rPr lang="en-US" sz="1600" dirty="0">
                <a:solidFill>
                  <a:schemeClr val="accent2">
                    <a:lumMod val="75000"/>
                  </a:schemeClr>
                </a:solidFill>
                <a:latin typeface="Times New Roman" pitchFamily="18" charset="0"/>
                <a:cs typeface="Times New Roman" pitchFamily="18" charset="0"/>
              </a:rPr>
              <a:t> and stores the result in polynomial D(x).</a:t>
            </a:r>
          </a:p>
          <a:p>
            <a:r>
              <a:rPr lang="en-US" sz="1600" dirty="0" err="1">
                <a:solidFill>
                  <a:schemeClr val="accent2">
                    <a:lumMod val="75000"/>
                  </a:schemeClr>
                </a:solidFill>
                <a:latin typeface="Times New Roman" pitchFamily="18" charset="0"/>
                <a:cs typeface="Times New Roman" pitchFamily="18" charset="0"/>
              </a:rPr>
              <a:t>starta</a:t>
            </a:r>
            <a:r>
              <a:rPr lang="en-US" sz="1600" dirty="0">
                <a:solidFill>
                  <a:schemeClr val="accent2">
                    <a:lumMod val="75000"/>
                  </a:schemeClr>
                </a:solidFill>
                <a:latin typeface="Times New Roman" pitchFamily="18" charset="0"/>
                <a:cs typeface="Times New Roman" pitchFamily="18" charset="0"/>
              </a:rPr>
              <a:t>, </a:t>
            </a:r>
            <a:r>
              <a:rPr lang="en-US" sz="1600" dirty="0" err="1">
                <a:solidFill>
                  <a:schemeClr val="accent2">
                    <a:lumMod val="75000"/>
                  </a:schemeClr>
                </a:solidFill>
                <a:latin typeface="Times New Roman" pitchFamily="18" charset="0"/>
                <a:cs typeface="Times New Roman" pitchFamily="18" charset="0"/>
              </a:rPr>
              <a:t>finisha</a:t>
            </a:r>
            <a:r>
              <a:rPr lang="en-US" sz="1600" dirty="0">
                <a:solidFill>
                  <a:schemeClr val="accent2">
                    <a:lumMod val="75000"/>
                  </a:schemeClr>
                </a:solidFill>
                <a:latin typeface="Times New Roman" pitchFamily="18" charset="0"/>
                <a:cs typeface="Times New Roman" pitchFamily="18" charset="0"/>
              </a:rPr>
              <a:t>: Start and end indices of polynomial A in a global terms array.</a:t>
            </a:r>
          </a:p>
          <a:p>
            <a:r>
              <a:rPr lang="en-US" sz="1600" dirty="0" err="1">
                <a:solidFill>
                  <a:schemeClr val="accent2">
                    <a:lumMod val="75000"/>
                  </a:schemeClr>
                </a:solidFill>
                <a:latin typeface="Times New Roman" pitchFamily="18" charset="0"/>
                <a:cs typeface="Times New Roman" pitchFamily="18" charset="0"/>
              </a:rPr>
              <a:t>startb</a:t>
            </a:r>
            <a:r>
              <a:rPr lang="en-US" sz="1600" dirty="0">
                <a:solidFill>
                  <a:schemeClr val="accent2">
                    <a:lumMod val="75000"/>
                  </a:schemeClr>
                </a:solidFill>
                <a:latin typeface="Times New Roman" pitchFamily="18" charset="0"/>
                <a:cs typeface="Times New Roman" pitchFamily="18" charset="0"/>
              </a:rPr>
              <a:t>, </a:t>
            </a:r>
            <a:r>
              <a:rPr lang="en-US" sz="1600" dirty="0" err="1">
                <a:solidFill>
                  <a:schemeClr val="accent2">
                    <a:lumMod val="75000"/>
                  </a:schemeClr>
                </a:solidFill>
                <a:latin typeface="Times New Roman" pitchFamily="18" charset="0"/>
                <a:cs typeface="Times New Roman" pitchFamily="18" charset="0"/>
              </a:rPr>
              <a:t>finishb</a:t>
            </a:r>
            <a:r>
              <a:rPr lang="en-US" sz="1600" dirty="0">
                <a:solidFill>
                  <a:schemeClr val="accent2">
                    <a:lumMod val="75000"/>
                  </a:schemeClr>
                </a:solidFill>
                <a:latin typeface="Times New Roman" pitchFamily="18" charset="0"/>
                <a:cs typeface="Times New Roman" pitchFamily="18" charset="0"/>
              </a:rPr>
              <a:t>: Start and end indices of polynomial B.</a:t>
            </a:r>
          </a:p>
          <a:p>
            <a:r>
              <a:rPr lang="en-US" sz="1600" dirty="0">
                <a:solidFill>
                  <a:schemeClr val="accent2">
                    <a:lumMod val="75000"/>
                  </a:schemeClr>
                </a:solidFill>
                <a:latin typeface="Times New Roman" pitchFamily="18" charset="0"/>
                <a:cs typeface="Times New Roman" pitchFamily="18" charset="0"/>
              </a:rPr>
              <a:t>*</a:t>
            </a:r>
            <a:r>
              <a:rPr lang="en-US" sz="1600" dirty="0" err="1">
                <a:solidFill>
                  <a:schemeClr val="accent2">
                    <a:lumMod val="75000"/>
                  </a:schemeClr>
                </a:solidFill>
                <a:latin typeface="Times New Roman" pitchFamily="18" charset="0"/>
                <a:cs typeface="Times New Roman" pitchFamily="18" charset="0"/>
              </a:rPr>
              <a:t>startd</a:t>
            </a:r>
            <a:r>
              <a:rPr lang="en-US" sz="1600" dirty="0">
                <a:solidFill>
                  <a:schemeClr val="accent2">
                    <a:lumMod val="75000"/>
                  </a:schemeClr>
                </a:solidFill>
                <a:latin typeface="Times New Roman" pitchFamily="18" charset="0"/>
                <a:cs typeface="Times New Roman" pitchFamily="18" charset="0"/>
              </a:rPr>
              <a:t>, *</a:t>
            </a:r>
            <a:r>
              <a:rPr lang="en-US" sz="1600" dirty="0" err="1">
                <a:solidFill>
                  <a:schemeClr val="accent2">
                    <a:lumMod val="75000"/>
                  </a:schemeClr>
                </a:solidFill>
                <a:latin typeface="Times New Roman" pitchFamily="18" charset="0"/>
                <a:cs typeface="Times New Roman" pitchFamily="18" charset="0"/>
              </a:rPr>
              <a:t>finishd</a:t>
            </a:r>
            <a:r>
              <a:rPr lang="en-US" sz="1600" dirty="0">
                <a:solidFill>
                  <a:schemeClr val="accent2">
                    <a:lumMod val="75000"/>
                  </a:schemeClr>
                </a:solidFill>
                <a:latin typeface="Times New Roman" pitchFamily="18" charset="0"/>
                <a:cs typeface="Times New Roman" pitchFamily="18" charset="0"/>
              </a:rPr>
              <a:t>: Pointers to store the start and end indices of result polynomial D.</a:t>
            </a:r>
          </a:p>
          <a:p>
            <a:endParaRPr lang="en-IN" sz="1600" dirty="0">
              <a:solidFill>
                <a:schemeClr val="accent2">
                  <a:lumMod val="7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padd</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finishb,int</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startd</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finishd</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add A(x) and B(x) to obtain D(x) */ </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float coefficient;</a:t>
            </a:r>
          </a:p>
          <a:p>
            <a:r>
              <a:rPr lang="en-US" sz="1600" dirty="0">
                <a:solidFill>
                  <a:schemeClr val="accent2">
                    <a:lumMod val="75000"/>
                  </a:schemeClr>
                </a:solidFill>
                <a:latin typeface="Times New Roman" pitchFamily="18" charset="0"/>
                <a:cs typeface="Times New Roman" pitchFamily="18" charset="0"/>
              </a:rPr>
              <a:t>Declares a temporary variable to hold the sum of coefficients when two terms have the same exponent.</a:t>
            </a:r>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startd</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avail;</a:t>
            </a:r>
          </a:p>
          <a:p>
            <a:r>
              <a:rPr lang="en-US" sz="1600" dirty="0">
                <a:solidFill>
                  <a:schemeClr val="accent2">
                    <a:lumMod val="75000"/>
                  </a:schemeClr>
                </a:solidFill>
                <a:latin typeface="Times New Roman" pitchFamily="18" charset="0"/>
                <a:cs typeface="Times New Roman" pitchFamily="18" charset="0"/>
              </a:rPr>
              <a:t>avail is assumed to be a global index that tells where the next term should be inserted in the terms array.. We set the start of polynomial D (*</a:t>
            </a:r>
            <a:r>
              <a:rPr lang="en-US" sz="1600" dirty="0" err="1">
                <a:solidFill>
                  <a:schemeClr val="accent2">
                    <a:lumMod val="75000"/>
                  </a:schemeClr>
                </a:solidFill>
                <a:latin typeface="Times New Roman" pitchFamily="18" charset="0"/>
                <a:cs typeface="Times New Roman" pitchFamily="18" charset="0"/>
              </a:rPr>
              <a:t>startd</a:t>
            </a:r>
            <a:r>
              <a:rPr lang="en-US" sz="1600" dirty="0">
                <a:solidFill>
                  <a:schemeClr val="accent2">
                    <a:lumMod val="75000"/>
                  </a:schemeClr>
                </a:solidFill>
                <a:latin typeface="Times New Roman" pitchFamily="18" charset="0"/>
                <a:cs typeface="Times New Roman" pitchFamily="18" charset="0"/>
              </a:rPr>
              <a:t>) to the current value of avail.</a:t>
            </a:r>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while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&amp;&amp;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1600" dirty="0">
                <a:solidFill>
                  <a:schemeClr val="accent2">
                    <a:lumMod val="75000"/>
                  </a:schemeClr>
                </a:solidFill>
                <a:latin typeface="Times New Roman" pitchFamily="18" charset="0"/>
                <a:cs typeface="Times New Roman" pitchFamily="18" charset="0"/>
              </a:rPr>
              <a:t>Loop runs while both A and B have terms left.</a:t>
            </a:r>
          </a:p>
          <a:p>
            <a:r>
              <a:rPr lang="en-US" sz="1600" dirty="0">
                <a:solidFill>
                  <a:schemeClr val="accent2">
                    <a:lumMod val="75000"/>
                  </a:schemeClr>
                </a:solidFill>
                <a:latin typeface="Times New Roman" pitchFamily="18" charset="0"/>
                <a:cs typeface="Times New Roman" pitchFamily="18" charset="0"/>
              </a:rPr>
              <a:t>It compares terms of A and B (from the terms array), one-by-one.</a:t>
            </a:r>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7140416"/>
          </a:xfrm>
          <a:prstGeom prst="rect">
            <a:avLst/>
          </a:prstGeom>
        </p:spPr>
        <p:txBody>
          <a:bodyPr wrap="square">
            <a:spAutoFit/>
          </a:bodyPr>
          <a:lstStyle/>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switch (COMPARE(terms[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1600" dirty="0">
                <a:solidFill>
                  <a:schemeClr val="accent2">
                    <a:lumMod val="75000"/>
                  </a:schemeClr>
                </a:solidFill>
                <a:latin typeface="Times New Roman" pitchFamily="18" charset="0"/>
                <a:cs typeface="Times New Roman" pitchFamily="18" charset="0"/>
              </a:rPr>
              <a:t>COMPARE is a macro or function that compares the exponents of the current terms from A and B.</a:t>
            </a:r>
          </a:p>
          <a:p>
            <a:r>
              <a:rPr lang="en-US" sz="1600" dirty="0">
                <a:solidFill>
                  <a:schemeClr val="accent2">
                    <a:lumMod val="75000"/>
                  </a:schemeClr>
                </a:solidFill>
                <a:latin typeface="Times New Roman" pitchFamily="18" charset="0"/>
                <a:cs typeface="Times New Roman" pitchFamily="18" charset="0"/>
              </a:rPr>
              <a:t>It returns:</a:t>
            </a:r>
          </a:p>
          <a:p>
            <a:r>
              <a:rPr lang="en-US" sz="1600" dirty="0">
                <a:solidFill>
                  <a:schemeClr val="accent2">
                    <a:lumMod val="75000"/>
                  </a:schemeClr>
                </a:solidFill>
                <a:latin typeface="Times New Roman" pitchFamily="18" charset="0"/>
                <a:cs typeface="Times New Roman" pitchFamily="18" charset="0"/>
              </a:rPr>
              <a:t>-1 if A's exponent &lt; B's exponent</a:t>
            </a:r>
          </a:p>
          <a:p>
            <a:r>
              <a:rPr lang="en-US" sz="1600" dirty="0">
                <a:solidFill>
                  <a:schemeClr val="accent2">
                    <a:lumMod val="75000"/>
                  </a:schemeClr>
                </a:solidFill>
                <a:latin typeface="Times New Roman" pitchFamily="18" charset="0"/>
                <a:cs typeface="Times New Roman" pitchFamily="18" charset="0"/>
              </a:rPr>
              <a:t>0 if equal</a:t>
            </a:r>
          </a:p>
          <a:p>
            <a:r>
              <a:rPr lang="en-US" sz="1600" dirty="0">
                <a:solidFill>
                  <a:schemeClr val="accent2">
                    <a:lumMod val="75000"/>
                  </a:schemeClr>
                </a:solidFill>
                <a:latin typeface="Times New Roman" pitchFamily="18" charset="0"/>
                <a:cs typeface="Times New Roman" pitchFamily="18" charset="0"/>
              </a:rPr>
              <a:t>1 if A's exponent &gt; B's exponent</a:t>
            </a:r>
            <a:endParaRPr lang="en-IN" sz="1600" dirty="0">
              <a:solidFill>
                <a:schemeClr val="accent2">
                  <a:lumMod val="75000"/>
                </a:schemeClr>
              </a:solidFill>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case -1: /* a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b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attach(terms[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break;</a:t>
            </a:r>
          </a:p>
          <a:p>
            <a:r>
              <a:rPr lang="en-US" sz="1600" dirty="0">
                <a:solidFill>
                  <a:schemeClr val="accent2">
                    <a:lumMod val="75000"/>
                  </a:schemeClr>
                </a:solidFill>
                <a:latin typeface="Times New Roman" pitchFamily="18" charset="0"/>
                <a:cs typeface="Times New Roman" pitchFamily="18" charset="0"/>
              </a:rPr>
              <a:t>Go to the next term in polynomial B.</a:t>
            </a:r>
            <a:endParaRPr lang="en-IN" sz="1600" dirty="0">
              <a:solidFill>
                <a:schemeClr val="accent2">
                  <a:lumMod val="75000"/>
                </a:schemeClr>
              </a:solidFill>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case 0: /* equal exponents */</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coefficient = 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(coefficient)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attach (coefficient, 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break;</a:t>
            </a:r>
          </a:p>
          <a:p>
            <a:r>
              <a:rPr lang="en-US" sz="1600" dirty="0">
                <a:solidFill>
                  <a:schemeClr val="accent2">
                    <a:lumMod val="75000"/>
                  </a:schemeClr>
                </a:solidFill>
                <a:latin typeface="Times New Roman" pitchFamily="18" charset="0"/>
                <a:cs typeface="Times New Roman" pitchFamily="18" charset="0"/>
              </a:rPr>
              <a:t>If exponents are equal, add coefficients.</a:t>
            </a:r>
          </a:p>
          <a:p>
            <a:r>
              <a:rPr lang="en-US" sz="1600" dirty="0">
                <a:solidFill>
                  <a:schemeClr val="accent2">
                    <a:lumMod val="75000"/>
                  </a:schemeClr>
                </a:solidFill>
                <a:latin typeface="Times New Roman" pitchFamily="18" charset="0"/>
                <a:cs typeface="Times New Roman" pitchFamily="18" charset="0"/>
              </a:rPr>
              <a:t>If the result is not 0, add the term to D.</a:t>
            </a:r>
          </a:p>
          <a:p>
            <a:r>
              <a:rPr lang="en-US" sz="1600" dirty="0">
                <a:solidFill>
                  <a:schemeClr val="accent2">
                    <a:lumMod val="75000"/>
                  </a:schemeClr>
                </a:solidFill>
                <a:latin typeface="Times New Roman" pitchFamily="18" charset="0"/>
                <a:cs typeface="Times New Roman" pitchFamily="18" charset="0"/>
              </a:rPr>
              <a:t>Move both A and B to next term.</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1400" i="1" dirty="0">
              <a:solidFill>
                <a:schemeClr val="accent2">
                  <a:lumMod val="60000"/>
                  <a:lumOff val="40000"/>
                </a:schemeClr>
              </a:solidFill>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6340197"/>
          </a:xfrm>
          <a:prstGeom prst="rect">
            <a:avLst/>
          </a:prstGeom>
        </p:spPr>
        <p:txBody>
          <a:bodyPr wrap="square">
            <a:spAutoFit/>
          </a:bodyPr>
          <a:lstStyle/>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Function to add two polynomials</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case 1: /* a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&gt; b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attach(terms[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1600" dirty="0">
                <a:solidFill>
                  <a:schemeClr val="accent2">
                    <a:lumMod val="75000"/>
                  </a:schemeClr>
                </a:solidFill>
                <a:latin typeface="Times New Roman" pitchFamily="18" charset="0"/>
                <a:cs typeface="Times New Roman" pitchFamily="18" charset="0"/>
              </a:rPr>
              <a:t>Move to next term in A.</a:t>
            </a:r>
            <a:endParaRPr lang="en-IN" sz="1600" dirty="0">
              <a:solidFill>
                <a:schemeClr val="accent2">
                  <a:lumMod val="75000"/>
                </a:schemeClr>
              </a:solidFill>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add in remaining terms of A(x) */</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attach(terms[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starta</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add in remaining terms of B(x) */</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attach(terms[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coef</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terms[</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startb</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expon</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finishd</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=avail -1;</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1600" dirty="0">
                <a:solidFill>
                  <a:schemeClr val="accent2">
                    <a:lumMod val="75000"/>
                  </a:schemeClr>
                </a:solidFill>
                <a:latin typeface="Times New Roman" pitchFamily="18" charset="0"/>
                <a:cs typeface="Times New Roman" pitchFamily="18" charset="0"/>
              </a:rPr>
              <a:t>Add remaining terms of A and B.</a:t>
            </a:r>
            <a:endParaRPr lang="en-IN" sz="1600" dirty="0">
              <a:solidFill>
                <a:schemeClr val="accent2">
                  <a:lumMod val="75000"/>
                </a:schemeClr>
              </a:solidFill>
              <a:latin typeface="Times New Roman" pitchFamily="18" charset="0"/>
              <a:cs typeface="Times New Roman" pitchFamily="18" charset="0"/>
            </a:endParaRPr>
          </a:p>
          <a:p>
            <a:r>
              <a:rPr lang="en-US" sz="1600" dirty="0">
                <a:solidFill>
                  <a:schemeClr val="accent2">
                    <a:lumMod val="75000"/>
                  </a:schemeClr>
                </a:solidFill>
                <a:latin typeface="Times New Roman" pitchFamily="18" charset="0"/>
                <a:cs typeface="Times New Roman" pitchFamily="18" charset="0"/>
              </a:rPr>
              <a:t>Set the end index of polynomial D to the last inserted term.</a:t>
            </a:r>
            <a:endParaRPr lang="en-IN" sz="1600" dirty="0">
              <a:solidFill>
                <a:schemeClr val="accent2">
                  <a:lumMod val="75000"/>
                </a:schemeClr>
              </a:solidFill>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dirty="0"/>
          </a:p>
          <a:p>
            <a:endParaRPr lang="en-US" sz="1400" i="1" dirty="0">
              <a:solidFill>
                <a:schemeClr val="accent2">
                  <a:lumMod val="60000"/>
                  <a:lumOff val="40000"/>
                </a:schemeClr>
              </a:solidFill>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4678204"/>
          </a:xfrm>
          <a:prstGeom prst="rect">
            <a:avLst/>
          </a:prstGeom>
        </p:spPr>
        <p:txBody>
          <a:bodyPr wrap="square">
            <a:spAutoFit/>
          </a:bodyPr>
          <a:lstStyle/>
          <a:p>
            <a:endParaRPr lang="en-US" sz="2400" dirty="0"/>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SPARSE MATRIX ABSTRACT DATA TYPE</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standard representation of a matrix in computer science is a two-dimensional array defined as a[MAX~ROWS][MAX-COLS]. With this representation, we can locate quickly any element by writing a[Z][y], where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the row index and j is the column index. However, there are some problems with the standard representation. For  instance, if you look at Figure 2.3(b), you notice that it contains many zero entries. We call this a sparse matrix. Although it is difficult to determine exactly whether a matrix is sparse or not, intuitively we can recognize a sparse matrix when we see one. In Figure 2.3(b), only 8 of 36 elements are nonzero and that certainly is sparse.</a:t>
            </a:r>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dirty="0"/>
          </a:p>
          <a:p>
            <a:endParaRPr lang="en-US" sz="1400" i="1" dirty="0">
              <a:solidFill>
                <a:schemeClr val="accent2">
                  <a:lumMod val="60000"/>
                  <a:lumOff val="40000"/>
                </a:schemeClr>
              </a:solidFill>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857224" y="3857628"/>
            <a:ext cx="7072362" cy="2847975"/>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2462213"/>
          </a:xfrm>
          <a:prstGeom prst="rect">
            <a:avLst/>
          </a:prstGeom>
        </p:spPr>
        <p:txBody>
          <a:bodyPr wrap="square">
            <a:spAutoFit/>
          </a:bodyPr>
          <a:lstStyle/>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Before developing a particular representation, we first must consider the operations that we want to perform on these matrices. A minimal set of operations includes matrix creation, addition, multiplication, and transpose. Structure 2.3 contains our specification of the matrix ADT</a:t>
            </a:r>
            <a:r>
              <a:rPr lang="en-US" sz="2000" dirty="0"/>
              <a:t>.</a:t>
            </a:r>
          </a:p>
          <a:p>
            <a:endParaRPr lang="en-IN" sz="2000" dirty="0"/>
          </a:p>
          <a:p>
            <a:endParaRPr lang="en-US" sz="2000" dirty="0"/>
          </a:p>
          <a:p>
            <a:endParaRPr lang="en-US" sz="1400" i="1" dirty="0">
              <a:solidFill>
                <a:schemeClr val="accent2">
                  <a:lumMod val="60000"/>
                  <a:lumOff val="40000"/>
                </a:schemeClr>
              </a:solidFill>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714328" y="1357298"/>
            <a:ext cx="7501010" cy="5500702"/>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2246769"/>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fr-FR"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Sparse</a:t>
            </a:r>
            <a:r>
              <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fr-FR"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matrix</a:t>
            </a:r>
            <a:r>
              <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fr-FR"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contains</a:t>
            </a:r>
            <a:r>
              <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fr-FR"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many</a:t>
            </a:r>
            <a:r>
              <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fr-FR"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zero</a:t>
            </a:r>
            <a:r>
              <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entries. </a:t>
            </a: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When a sparse matrix is represented as a 2-dimensional array, we waste space.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For ex, if 100*100 matrixes contain only 100 entries then we waste 9900 out of 10000 memory spaces.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Solution: Store only the non-zero elements. </a:t>
            </a:r>
          </a:p>
        </p:txBody>
      </p:sp>
      <p:pic>
        <p:nvPicPr>
          <p:cNvPr id="4098" name="Picture 2"/>
          <p:cNvPicPr>
            <a:picLocks noChangeAspect="1" noChangeArrowheads="1"/>
          </p:cNvPicPr>
          <p:nvPr/>
        </p:nvPicPr>
        <p:blipFill>
          <a:blip r:embed="rId2"/>
          <a:srcRect/>
          <a:stretch>
            <a:fillRect/>
          </a:stretch>
        </p:blipFill>
        <p:spPr bwMode="auto">
          <a:xfrm>
            <a:off x="1357290" y="2571744"/>
            <a:ext cx="6053137" cy="2833584"/>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5632311"/>
          </a:xfrm>
          <a:prstGeom prst="rect">
            <a:avLst/>
          </a:prstGeom>
        </p:spPr>
        <p:txBody>
          <a:bodyPr wrap="square">
            <a:spAutoFit/>
          </a:bodyPr>
          <a:lstStyle/>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SPARSE MATRIX REPRESENTATION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We can classify uniquely any element within a matrix by using the triple &lt;</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row,col,value</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 Therefore, we can use an array of triples to represent a sparse matrix.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SpareMatrix</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Create(</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maxRow,maxCol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#define MAX_TERMS 101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typedef</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struct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term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row;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value;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term;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term a[MAX_TERMS]; </a:t>
            </a:r>
          </a:p>
          <a:p>
            <a:r>
              <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Sparse matrix and its transpose stored as triples</a:t>
            </a: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t>triple </a:t>
            </a:r>
            <a:r>
              <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t>Thus, a [0].row contains the number of rows; a [0].col contains the number of columns; and a[0].value contains the total number of nonzero entries</a:t>
            </a:r>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89FEF9D1-2CDE-FE36-8291-18D0884A0694}"/>
              </a:ext>
            </a:extLst>
          </p:cNvPr>
          <p:cNvPicPr>
            <a:picLocks noChangeAspect="1"/>
          </p:cNvPicPr>
          <p:nvPr/>
        </p:nvPicPr>
        <p:blipFill>
          <a:blip r:embed="rId2"/>
          <a:stretch>
            <a:fillRect/>
          </a:stretch>
        </p:blipFill>
        <p:spPr>
          <a:xfrm>
            <a:off x="744388" y="4653136"/>
            <a:ext cx="1595364" cy="35276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srcRect/>
          <a:stretch>
            <a:fillRect/>
          </a:stretch>
        </p:blipFill>
        <p:spPr bwMode="auto">
          <a:xfrm>
            <a:off x="142844" y="214290"/>
            <a:ext cx="8643966" cy="4558389"/>
          </a:xfrm>
          <a:prstGeom prst="rect">
            <a:avLst/>
          </a:prstGeom>
          <a:noFill/>
          <a:ln w="9525">
            <a:noFill/>
            <a:miter lim="800000"/>
            <a:headEnd/>
            <a:tailEnd/>
          </a:ln>
          <a:effectLst/>
        </p:spPr>
      </p:pic>
      <p:sp>
        <p:nvSpPr>
          <p:cNvPr id="6" name="Rectangle 5"/>
          <p:cNvSpPr/>
          <p:nvPr/>
        </p:nvSpPr>
        <p:spPr>
          <a:xfrm>
            <a:off x="428596" y="4809192"/>
            <a:ext cx="8072494" cy="646331"/>
          </a:xfrm>
          <a:prstGeom prst="rect">
            <a:avLst/>
          </a:prstGeom>
        </p:spPr>
        <p:txBody>
          <a:bodyPr wrap="square">
            <a:spAutoFit/>
          </a:bodyPr>
          <a:lstStyle/>
          <a:p>
            <a:r>
              <a:rPr lang="en-US" dirty="0"/>
              <a:t>• a[0].row contains the number of rows; a[0].</a:t>
            </a:r>
            <a:r>
              <a:rPr lang="en-US" dirty="0" err="1"/>
              <a:t>col</a:t>
            </a:r>
            <a:r>
              <a:rPr lang="en-US" dirty="0"/>
              <a:t> contains number of columns and a[0].value contains the total number of nonzero entries.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p:cNvSpPr/>
          <p:nvPr/>
        </p:nvSpPr>
        <p:spPr>
          <a:xfrm>
            <a:off x="107504" y="-9386"/>
            <a:ext cx="8072494" cy="8340745"/>
          </a:xfrm>
          <a:prstGeom prst="rect">
            <a:avLst/>
          </a:prstGeom>
        </p:spPr>
        <p:txBody>
          <a:bodyPr wrap="square">
            <a:spAutoFit/>
          </a:bodyPr>
          <a:lstStyle/>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TRANSPOSING A MATRIX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transpose a matrix, we must interchange the rows and columns.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Each element a[</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][j] in the original matrix becomes element b[j][</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in the transpose matrix. </a:t>
            </a:r>
          </a:p>
          <a:p>
            <a:r>
              <a:rPr lang="pt-B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Algorithm To transpose a matrix: </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all elements in column j </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place element &lt;</a:t>
            </a:r>
            <a:r>
              <a:rPr lang="en-US" sz="20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i,j,value</a:t>
            </a:r>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 </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 element &lt;</a:t>
            </a:r>
            <a:r>
              <a:rPr lang="en-US" sz="20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j,i,value</a:t>
            </a:r>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&gt; </a:t>
            </a: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Transpose analysis</a:t>
            </a:r>
          </a:p>
          <a:p>
            <a:pPr marL="342900" indent="-342900">
              <a:buFont typeface="Arial" panose="020B0604020202020204" pitchFamily="34" charset="0"/>
              <a:buChar char="•"/>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O</a:t>
            </a:r>
            <a:r>
              <a:rPr lang="en-US" sz="200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uter </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loop is iterated a [0].col times</a:t>
            </a:r>
          </a:p>
          <a:p>
            <a:pPr marL="342900" indent="-342900">
              <a:buFont typeface="Arial" panose="020B0604020202020204" pitchFamily="34" charset="0"/>
              <a:buChar char="•"/>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 [0].col holds the number of columns in the original matrix</a:t>
            </a:r>
          </a:p>
          <a:p>
            <a:pPr marL="342900" indent="-342900">
              <a:buFont typeface="Arial" panose="020B0604020202020204" pitchFamily="34" charset="0"/>
              <a:buChar char="•"/>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 addition, one iteration of the inner for loop requires a [0].value time, where a [0].value holds the number of elements in the original matrix.</a:t>
            </a:r>
          </a:p>
          <a:p>
            <a:pPr marL="342900" indent="-342900">
              <a:buFont typeface="Arial" panose="020B0604020202020204" pitchFamily="34" charset="0"/>
              <a:buChar char="•"/>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Total time for the nested for loops is columns • elements. Hence, the asymptotic time complexity is O(columns • elements).</a:t>
            </a: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p:cNvSpPr/>
          <p:nvPr/>
        </p:nvSpPr>
        <p:spPr>
          <a:xfrm>
            <a:off x="214282" y="71414"/>
            <a:ext cx="8072494" cy="6555641"/>
          </a:xfrm>
          <a:prstGeom prst="rect">
            <a:avLst/>
          </a:prstGeom>
        </p:spPr>
        <p:txBody>
          <a:bodyPr wrap="square">
            <a:spAutoFit/>
          </a:bodyPr>
          <a:lstStyle/>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TRANSPOSE OF A SPARSE MATRIX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transpose (term a[], term b[])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b is set to the transpose of a */ </a:t>
            </a:r>
          </a:p>
          <a:p>
            <a:r>
              <a:rPr lang="pt-B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 n, i, j, currentb; </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 = a[0].value; /* total number of elements */ b[0].row = a[0].</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rows in b = columns in a */ b[0].</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a[0].row; /*columns in b = rows in a */ b[0].value = n;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(n &gt; 0)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/*non zero matrix */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1;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0;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a[0].</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transpose by columns in a */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j = 1; j &lt;= n; j++) /* find elements from the current column */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(a[j].</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element is in current column, add it to b */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].row = a[j].</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a[j].row;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].value = a[j].value;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p:cNvSpPr/>
          <p:nvPr/>
        </p:nvSpPr>
        <p:spPr>
          <a:xfrm>
            <a:off x="214282" y="71415"/>
            <a:ext cx="8215370" cy="7048083"/>
          </a:xfrm>
          <a:prstGeom prst="rect">
            <a:avLst/>
          </a:prstGeom>
        </p:spPr>
        <p:txBody>
          <a:bodyPr wrap="square">
            <a:spAutoFit/>
          </a:bodyPr>
          <a:lstStyle/>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TRANSPOSE OF A SPARSE MATRIX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void transpose (term a[], term b[]) {</a:t>
            </a:r>
          </a:p>
          <a:p>
            <a:r>
              <a:rPr lang="en-US" sz="1400" i="1" dirty="0">
                <a:solidFill>
                  <a:schemeClr val="accent2">
                    <a:lumMod val="75000"/>
                  </a:schemeClr>
                </a:solidFill>
                <a:latin typeface="Times New Roman" pitchFamily="18" charset="0"/>
                <a:cs typeface="Times New Roman" pitchFamily="18" charset="0"/>
              </a:rPr>
              <a:t>This function performs the </a:t>
            </a:r>
            <a:r>
              <a:rPr lang="en-US" sz="1400" b="1" i="1" dirty="0">
                <a:solidFill>
                  <a:schemeClr val="accent2">
                    <a:lumMod val="75000"/>
                  </a:schemeClr>
                </a:solidFill>
                <a:latin typeface="Times New Roman" pitchFamily="18" charset="0"/>
                <a:cs typeface="Times New Roman" pitchFamily="18" charset="0"/>
              </a:rPr>
              <a:t>transpose of a sparse matrix</a:t>
            </a:r>
            <a:r>
              <a:rPr lang="en-US" sz="1400" i="1" dirty="0">
                <a:solidFill>
                  <a:schemeClr val="accent2">
                    <a:lumMod val="75000"/>
                  </a:schemeClr>
                </a:solidFill>
                <a:latin typeface="Times New Roman" pitchFamily="18" charset="0"/>
                <a:cs typeface="Times New Roman" pitchFamily="18" charset="0"/>
              </a:rPr>
              <a:t>.</a:t>
            </a:r>
          </a:p>
          <a:p>
            <a:r>
              <a:rPr lang="en-US" sz="1400" i="1" dirty="0">
                <a:solidFill>
                  <a:schemeClr val="accent2">
                    <a:lumMod val="75000"/>
                  </a:schemeClr>
                </a:solidFill>
                <a:latin typeface="Times New Roman" pitchFamily="18" charset="0"/>
                <a:cs typeface="Times New Roman" pitchFamily="18" charset="0"/>
              </a:rPr>
              <a:t>a[] is the input sparse matrix (represented as an array of term </a:t>
            </a:r>
            <a:r>
              <a:rPr lang="en-US" sz="1400" i="1" dirty="0" err="1">
                <a:solidFill>
                  <a:schemeClr val="accent2">
                    <a:lumMod val="75000"/>
                  </a:schemeClr>
                </a:solidFill>
                <a:latin typeface="Times New Roman" pitchFamily="18" charset="0"/>
                <a:cs typeface="Times New Roman" pitchFamily="18" charset="0"/>
              </a:rPr>
              <a:t>structs</a:t>
            </a:r>
            <a:r>
              <a:rPr lang="en-US" sz="1400" i="1" dirty="0">
                <a:solidFill>
                  <a:schemeClr val="accent2">
                    <a:lumMod val="75000"/>
                  </a:schemeClr>
                </a:solidFill>
                <a:latin typeface="Times New Roman" pitchFamily="18" charset="0"/>
                <a:cs typeface="Times New Roman" pitchFamily="18" charset="0"/>
              </a:rPr>
              <a:t>).</a:t>
            </a:r>
          </a:p>
          <a:p>
            <a:r>
              <a:rPr lang="en-US" sz="1400" i="1" dirty="0">
                <a:solidFill>
                  <a:schemeClr val="accent2">
                    <a:lumMod val="75000"/>
                  </a:schemeClr>
                </a:solidFill>
                <a:latin typeface="Times New Roman" pitchFamily="18" charset="0"/>
                <a:cs typeface="Times New Roman" pitchFamily="18" charset="0"/>
              </a:rPr>
              <a:t>b[] will store the </a:t>
            </a:r>
            <a:r>
              <a:rPr lang="en-US" sz="1400" b="1" i="1" dirty="0">
                <a:solidFill>
                  <a:schemeClr val="accent2">
                    <a:lumMod val="75000"/>
                  </a:schemeClr>
                </a:solidFill>
                <a:latin typeface="Times New Roman" pitchFamily="18" charset="0"/>
                <a:cs typeface="Times New Roman" pitchFamily="18" charset="0"/>
              </a:rPr>
              <a:t>transposed matrix</a:t>
            </a:r>
            <a:r>
              <a:rPr lang="en-US" sz="1400" i="1" dirty="0">
                <a:solidFill>
                  <a:schemeClr val="accent2">
                    <a:lumMod val="75000"/>
                  </a:schemeClr>
                </a:solidFill>
                <a:latin typeface="Times New Roman" pitchFamily="18" charset="0"/>
                <a:cs typeface="Times New Roman" pitchFamily="18" charset="0"/>
              </a:rPr>
              <a:t>.</a:t>
            </a:r>
          </a:p>
          <a:p>
            <a:r>
              <a:rPr lang="en-US" sz="1400" i="1" dirty="0">
                <a:solidFill>
                  <a:schemeClr val="accent2">
                    <a:lumMod val="75000"/>
                  </a:schemeClr>
                </a:solidFill>
                <a:latin typeface="Times New Roman" pitchFamily="18" charset="0"/>
                <a:cs typeface="Times New Roman" pitchFamily="18" charset="0"/>
              </a:rPr>
              <a:t>Each element (or "term") in the array represents a non-zero element of the matrix, with:</a:t>
            </a:r>
          </a:p>
          <a:p>
            <a:pPr lvl="1"/>
            <a:r>
              <a:rPr lang="en-US" sz="1400" i="1" dirty="0">
                <a:solidFill>
                  <a:schemeClr val="accent2">
                    <a:lumMod val="75000"/>
                  </a:schemeClr>
                </a:solidFill>
                <a:latin typeface="Times New Roman" pitchFamily="18" charset="0"/>
                <a:cs typeface="Times New Roman" pitchFamily="18" charset="0"/>
              </a:rPr>
              <a:t>row: row index</a:t>
            </a:r>
          </a:p>
          <a:p>
            <a:pPr lvl="1"/>
            <a:r>
              <a:rPr lang="en-US" sz="1400" i="1" dirty="0" err="1">
                <a:solidFill>
                  <a:schemeClr val="accent2">
                    <a:lumMod val="75000"/>
                  </a:schemeClr>
                </a:solidFill>
                <a:latin typeface="Times New Roman" pitchFamily="18" charset="0"/>
                <a:cs typeface="Times New Roman" pitchFamily="18" charset="0"/>
              </a:rPr>
              <a:t>col</a:t>
            </a:r>
            <a:r>
              <a:rPr lang="en-US" sz="1400" i="1" dirty="0">
                <a:solidFill>
                  <a:schemeClr val="accent2">
                    <a:lumMod val="75000"/>
                  </a:schemeClr>
                </a:solidFill>
                <a:latin typeface="Times New Roman" pitchFamily="18" charset="0"/>
                <a:cs typeface="Times New Roman" pitchFamily="18" charset="0"/>
              </a:rPr>
              <a:t>: column index</a:t>
            </a:r>
          </a:p>
          <a:p>
            <a:pPr lvl="1"/>
            <a:r>
              <a:rPr lang="en-US" sz="1400" i="1" dirty="0">
                <a:solidFill>
                  <a:schemeClr val="accent2">
                    <a:lumMod val="75000"/>
                  </a:schemeClr>
                </a:solidFill>
                <a:latin typeface="Times New Roman" pitchFamily="18" charset="0"/>
                <a:cs typeface="Times New Roman" pitchFamily="18" charset="0"/>
              </a:rPr>
              <a:t>value: the actual value</a:t>
            </a: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b is set to the transpose of a */ </a:t>
            </a:r>
          </a:p>
          <a:p>
            <a:r>
              <a:rPr lang="pt-B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int n, i, j, currentb; </a:t>
            </a:r>
          </a:p>
          <a:p>
            <a:r>
              <a:rPr lang="en-US" sz="1400" i="1" dirty="0">
                <a:solidFill>
                  <a:schemeClr val="accent2">
                    <a:lumMod val="75000"/>
                  </a:schemeClr>
                </a:solidFill>
                <a:latin typeface="Times New Roman" pitchFamily="18" charset="0"/>
                <a:cs typeface="Times New Roman" pitchFamily="18" charset="0"/>
              </a:rPr>
              <a:t>These are local variables used in the function:</a:t>
            </a:r>
          </a:p>
          <a:p>
            <a:r>
              <a:rPr lang="en-US" sz="1400" i="1" dirty="0">
                <a:solidFill>
                  <a:schemeClr val="accent2">
                    <a:lumMod val="75000"/>
                  </a:schemeClr>
                </a:solidFill>
                <a:latin typeface="Times New Roman" pitchFamily="18" charset="0"/>
                <a:cs typeface="Times New Roman" pitchFamily="18" charset="0"/>
              </a:rPr>
              <a:t>n: Number of non-zero elements in matrix a.</a:t>
            </a:r>
          </a:p>
          <a:p>
            <a:r>
              <a:rPr lang="en-US" sz="1400" i="1" dirty="0" err="1">
                <a:solidFill>
                  <a:schemeClr val="accent2">
                    <a:lumMod val="75000"/>
                  </a:schemeClr>
                </a:solidFill>
                <a:latin typeface="Times New Roman" pitchFamily="18" charset="0"/>
                <a:cs typeface="Times New Roman" pitchFamily="18" charset="0"/>
              </a:rPr>
              <a:t>i</a:t>
            </a:r>
            <a:r>
              <a:rPr lang="en-US" sz="1400" i="1" dirty="0">
                <a:solidFill>
                  <a:schemeClr val="accent2">
                    <a:lumMod val="75000"/>
                  </a:schemeClr>
                </a:solidFill>
                <a:latin typeface="Times New Roman" pitchFamily="18" charset="0"/>
                <a:cs typeface="Times New Roman" pitchFamily="18" charset="0"/>
              </a:rPr>
              <a:t>, j: Loop counters.</a:t>
            </a:r>
          </a:p>
          <a:p>
            <a:r>
              <a:rPr lang="en-US" sz="1400" i="1" dirty="0" err="1">
                <a:solidFill>
                  <a:schemeClr val="accent2">
                    <a:lumMod val="75000"/>
                  </a:schemeClr>
                </a:solidFill>
                <a:latin typeface="Times New Roman" pitchFamily="18" charset="0"/>
                <a:cs typeface="Times New Roman" pitchFamily="18" charset="0"/>
              </a:rPr>
              <a:t>currentb</a:t>
            </a:r>
            <a:r>
              <a:rPr lang="en-US" sz="1400" i="1" dirty="0">
                <a:solidFill>
                  <a:schemeClr val="accent2">
                    <a:lumMod val="75000"/>
                  </a:schemeClr>
                </a:solidFill>
                <a:latin typeface="Times New Roman" pitchFamily="18" charset="0"/>
                <a:cs typeface="Times New Roman" pitchFamily="18" charset="0"/>
              </a:rPr>
              <a:t>: Index in matrix b[] where the next transposed term will be inserted.</a:t>
            </a: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 = a[0].value; </a:t>
            </a:r>
          </a:p>
          <a:p>
            <a:r>
              <a:rPr lang="en-US" sz="1400" i="1" dirty="0">
                <a:solidFill>
                  <a:schemeClr val="accent2">
                    <a:lumMod val="75000"/>
                  </a:schemeClr>
                </a:solidFill>
                <a:latin typeface="Times New Roman" pitchFamily="18" charset="0"/>
                <a:cs typeface="Times New Roman" pitchFamily="18" charset="0"/>
              </a:rPr>
              <a:t>The 0th index (i.e., a[0]) stores metadata about the matrix:</a:t>
            </a:r>
          </a:p>
          <a:p>
            <a:r>
              <a:rPr lang="en-US" sz="1400" i="1" dirty="0">
                <a:solidFill>
                  <a:schemeClr val="accent2">
                    <a:lumMod val="75000"/>
                  </a:schemeClr>
                </a:solidFill>
                <a:latin typeface="Times New Roman" pitchFamily="18" charset="0"/>
                <a:cs typeface="Times New Roman" pitchFamily="18" charset="0"/>
              </a:rPr>
              <a:t>a[0].value → total number of non-zero elements in the matrix a.</a:t>
            </a: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b[0].row = a[0].</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b[0].</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a[0].row;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b[0].value = n; </a:t>
            </a:r>
          </a:p>
          <a:p>
            <a:r>
              <a:rPr lang="en-US" sz="1400" i="1" dirty="0">
                <a:solidFill>
                  <a:schemeClr val="accent2">
                    <a:lumMod val="75000"/>
                  </a:schemeClr>
                </a:solidFill>
                <a:latin typeface="Times New Roman" pitchFamily="18" charset="0"/>
                <a:cs typeface="Times New Roman" pitchFamily="18" charset="0"/>
              </a:rPr>
              <a:t>In a transpose: Rows and columns are swapped</a:t>
            </a:r>
          </a:p>
          <a:p>
            <a:r>
              <a:rPr lang="en-US" sz="1400" i="1" dirty="0">
                <a:solidFill>
                  <a:schemeClr val="accent2">
                    <a:lumMod val="75000"/>
                  </a:schemeClr>
                </a:solidFill>
                <a:latin typeface="Times New Roman" pitchFamily="18" charset="0"/>
                <a:cs typeface="Times New Roman" pitchFamily="18" charset="0"/>
              </a:rPr>
              <a:t>b[0].row ← a[0].</a:t>
            </a:r>
            <a:r>
              <a:rPr lang="en-US" sz="1400" i="1" dirty="0" err="1">
                <a:solidFill>
                  <a:schemeClr val="accent2">
                    <a:lumMod val="75000"/>
                  </a:schemeClr>
                </a:solidFill>
                <a:latin typeface="Times New Roman" pitchFamily="18" charset="0"/>
                <a:cs typeface="Times New Roman" pitchFamily="18" charset="0"/>
              </a:rPr>
              <a:t>col</a:t>
            </a:r>
            <a:endParaRPr lang="en-US" sz="1400" i="1" dirty="0">
              <a:solidFill>
                <a:schemeClr val="accent2">
                  <a:lumMod val="75000"/>
                </a:schemeClr>
              </a:solidFill>
              <a:latin typeface="Times New Roman" pitchFamily="18" charset="0"/>
              <a:cs typeface="Times New Roman" pitchFamily="18" charset="0"/>
            </a:endParaRPr>
          </a:p>
          <a:p>
            <a:r>
              <a:rPr lang="en-US" sz="1400" i="1" dirty="0">
                <a:solidFill>
                  <a:schemeClr val="accent2">
                    <a:lumMod val="75000"/>
                  </a:schemeClr>
                </a:solidFill>
                <a:latin typeface="Times New Roman" pitchFamily="18" charset="0"/>
                <a:cs typeface="Times New Roman" pitchFamily="18" charset="0"/>
              </a:rPr>
              <a:t>b[0].</a:t>
            </a:r>
            <a:r>
              <a:rPr lang="en-US" sz="1400" i="1" dirty="0" err="1">
                <a:solidFill>
                  <a:schemeClr val="accent2">
                    <a:lumMod val="75000"/>
                  </a:schemeClr>
                </a:solidFill>
                <a:latin typeface="Times New Roman" pitchFamily="18" charset="0"/>
                <a:cs typeface="Times New Roman" pitchFamily="18" charset="0"/>
              </a:rPr>
              <a:t>col</a:t>
            </a:r>
            <a:r>
              <a:rPr lang="en-US" sz="1400" i="1" dirty="0">
                <a:solidFill>
                  <a:schemeClr val="accent2">
                    <a:lumMod val="75000"/>
                  </a:schemeClr>
                </a:solidFill>
                <a:latin typeface="Times New Roman" pitchFamily="18" charset="0"/>
                <a:cs typeface="Times New Roman" pitchFamily="18" charset="0"/>
              </a:rPr>
              <a:t> ← a[0].row</a:t>
            </a:r>
          </a:p>
          <a:p>
            <a:r>
              <a:rPr lang="en-US" sz="1400" i="1" dirty="0">
                <a:solidFill>
                  <a:schemeClr val="accent2">
                    <a:lumMod val="75000"/>
                  </a:schemeClr>
                </a:solidFill>
                <a:latin typeface="Times New Roman" pitchFamily="18" charset="0"/>
                <a:cs typeface="Times New Roman" pitchFamily="18" charset="0"/>
              </a:rPr>
              <a:t>b[0].value ← same number of non-zero elements n</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p:cNvSpPr/>
          <p:nvPr/>
        </p:nvSpPr>
        <p:spPr>
          <a:xfrm>
            <a:off x="214282" y="71414"/>
            <a:ext cx="8072494" cy="6801862"/>
          </a:xfrm>
          <a:prstGeom prst="rect">
            <a:avLst/>
          </a:prstGeom>
        </p:spPr>
        <p:txBody>
          <a:bodyPr wrap="square">
            <a:spAutoFit/>
          </a:bodyPr>
          <a:lstStyle/>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(n &gt; 0) </a:t>
            </a:r>
          </a:p>
          <a:p>
            <a:r>
              <a:rPr lang="en-US" sz="1400" i="1" dirty="0">
                <a:solidFill>
                  <a:schemeClr val="accent2">
                    <a:lumMod val="75000"/>
                  </a:schemeClr>
                </a:solidFill>
                <a:latin typeface="Times New Roman" pitchFamily="18" charset="0"/>
                <a:cs typeface="Times New Roman" pitchFamily="18" charset="0"/>
              </a:rPr>
              <a:t>If n == 0, the matrix is all zeros, nothing to transpose.</a:t>
            </a:r>
          </a:p>
          <a:p>
            <a:r>
              <a:rPr lang="en-US" sz="1400" i="1" dirty="0">
                <a:solidFill>
                  <a:schemeClr val="accent2">
                    <a:lumMod val="75000"/>
                  </a:schemeClr>
                </a:solidFill>
                <a:latin typeface="Times New Roman" pitchFamily="18" charset="0"/>
                <a:cs typeface="Times New Roman" pitchFamily="18" charset="0"/>
              </a:rPr>
              <a:t>Only proceed if there are actual elements to work with.</a:t>
            </a: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1; </a:t>
            </a:r>
          </a:p>
          <a:p>
            <a:r>
              <a:rPr lang="en-US" sz="1400" i="1" dirty="0" err="1">
                <a:solidFill>
                  <a:schemeClr val="accent2">
                    <a:lumMod val="75000"/>
                  </a:schemeClr>
                </a:solidFill>
                <a:latin typeface="Times New Roman" pitchFamily="18" charset="0"/>
                <a:cs typeface="Times New Roman" pitchFamily="18" charset="0"/>
              </a:rPr>
              <a:t>currentb</a:t>
            </a:r>
            <a:r>
              <a:rPr lang="en-US" sz="1400" i="1" dirty="0">
                <a:solidFill>
                  <a:schemeClr val="accent2">
                    <a:lumMod val="75000"/>
                  </a:schemeClr>
                </a:solidFill>
                <a:latin typeface="Times New Roman" pitchFamily="18" charset="0"/>
                <a:cs typeface="Times New Roman" pitchFamily="18" charset="0"/>
              </a:rPr>
              <a:t> keeps track of the next empty spot in array b[] where a transposed element will be stored.</a:t>
            </a:r>
          </a:p>
          <a:p>
            <a:r>
              <a:rPr lang="en-US" sz="1400" i="1" dirty="0">
                <a:solidFill>
                  <a:schemeClr val="accent2">
                    <a:lumMod val="75000"/>
                  </a:schemeClr>
                </a:solidFill>
                <a:latin typeface="Times New Roman" pitchFamily="18" charset="0"/>
                <a:cs typeface="Times New Roman" pitchFamily="18" charset="0"/>
              </a:rPr>
              <a:t>We start at 1 (since b[0] is metadata).</a:t>
            </a: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0;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&lt; a[0].</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transpose by columns in a */ </a:t>
            </a:r>
          </a:p>
          <a:p>
            <a:r>
              <a:rPr lang="en-US" sz="1400" i="1" dirty="0" err="1">
                <a:solidFill>
                  <a:schemeClr val="accent2">
                    <a:lumMod val="75000"/>
                  </a:schemeClr>
                </a:solidFill>
                <a:latin typeface="Times New Roman" pitchFamily="18" charset="0"/>
                <a:cs typeface="Times New Roman" pitchFamily="18" charset="0"/>
              </a:rPr>
              <a:t>i</a:t>
            </a:r>
            <a:r>
              <a:rPr lang="en-US" sz="1400" i="1" dirty="0">
                <a:solidFill>
                  <a:schemeClr val="accent2">
                    <a:lumMod val="75000"/>
                  </a:schemeClr>
                </a:solidFill>
                <a:latin typeface="Times New Roman" pitchFamily="18" charset="0"/>
                <a:cs typeface="Times New Roman" pitchFamily="18" charset="0"/>
              </a:rPr>
              <a:t> represents a column number in matrix a.</a:t>
            </a:r>
          </a:p>
          <a:p>
            <a:r>
              <a:rPr lang="en-US" sz="1400" i="1" dirty="0">
                <a:solidFill>
                  <a:schemeClr val="accent2">
                    <a:lumMod val="75000"/>
                  </a:schemeClr>
                </a:solidFill>
                <a:latin typeface="Times New Roman" pitchFamily="18" charset="0"/>
                <a:cs typeface="Times New Roman" pitchFamily="18" charset="0"/>
              </a:rPr>
              <a:t>We iterate over all columns of a.</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j = 1; j &lt;= n; j++) /* find elements from the current column */ </a:t>
            </a:r>
          </a:p>
          <a:p>
            <a:r>
              <a:rPr lang="en-US" sz="1400" i="1" dirty="0">
                <a:solidFill>
                  <a:schemeClr val="accent2">
                    <a:lumMod val="75000"/>
                  </a:schemeClr>
                </a:solidFill>
                <a:latin typeface="Times New Roman" pitchFamily="18" charset="0"/>
                <a:cs typeface="Times New Roman" pitchFamily="18" charset="0"/>
              </a:rPr>
              <a:t>j goes from 1 to n, scanning all non-zero elements in a.</a:t>
            </a:r>
          </a:p>
          <a:p>
            <a:r>
              <a:rPr lang="en-US" sz="1400" i="1" dirty="0">
                <a:solidFill>
                  <a:schemeClr val="accent2">
                    <a:lumMod val="75000"/>
                  </a:schemeClr>
                </a:solidFill>
                <a:latin typeface="Times New Roman" pitchFamily="18" charset="0"/>
                <a:cs typeface="Times New Roman" pitchFamily="18" charset="0"/>
              </a:rPr>
              <a:t>Remember: elements start from index 1, not 0.</a:t>
            </a: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(a[j].</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1400" i="1" dirty="0">
                <a:solidFill>
                  <a:schemeClr val="accent2">
                    <a:lumMod val="75000"/>
                  </a:schemeClr>
                </a:solidFill>
                <a:latin typeface="Times New Roman" pitchFamily="18" charset="0"/>
                <a:cs typeface="Times New Roman" pitchFamily="18" charset="0"/>
              </a:rPr>
              <a:t>Check if current term in a[j] is in the current column </a:t>
            </a:r>
            <a:r>
              <a:rPr lang="en-US" sz="1400" i="1" dirty="0" err="1">
                <a:solidFill>
                  <a:schemeClr val="accent2">
                    <a:lumMod val="75000"/>
                  </a:schemeClr>
                </a:solidFill>
                <a:latin typeface="Times New Roman" pitchFamily="18" charset="0"/>
                <a:cs typeface="Times New Roman" pitchFamily="18" charset="0"/>
              </a:rPr>
              <a:t>i</a:t>
            </a:r>
            <a:r>
              <a:rPr lang="en-US" sz="1400" i="1" dirty="0">
                <a:solidFill>
                  <a:schemeClr val="accent2">
                    <a:lumMod val="75000"/>
                  </a:schemeClr>
                </a:solidFill>
                <a:latin typeface="Times New Roman" pitchFamily="18" charset="0"/>
                <a:cs typeface="Times New Roman" pitchFamily="18" charset="0"/>
              </a:rPr>
              <a:t>.</a:t>
            </a:r>
          </a:p>
          <a:p>
            <a:r>
              <a:rPr lang="en-US" sz="1400" i="1" dirty="0">
                <a:solidFill>
                  <a:schemeClr val="accent2">
                    <a:lumMod val="75000"/>
                  </a:schemeClr>
                </a:solidFill>
                <a:latin typeface="Times New Roman" pitchFamily="18" charset="0"/>
                <a:cs typeface="Times New Roman" pitchFamily="18" charset="0"/>
              </a:rPr>
              <a:t>If yes, we transpose this term.</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element is in current column, add it to b */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].row = a[j].</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a[j].row;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].value = a[j].value; </a:t>
            </a:r>
          </a:p>
          <a:p>
            <a:r>
              <a:rPr lang="en-US" sz="1400" i="1" dirty="0">
                <a:solidFill>
                  <a:schemeClr val="accent2">
                    <a:lumMod val="75000"/>
                  </a:schemeClr>
                </a:solidFill>
                <a:latin typeface="Times New Roman" pitchFamily="18" charset="0"/>
                <a:cs typeface="Times New Roman" pitchFamily="18" charset="0"/>
              </a:rPr>
              <a:t>Swap the row and column for transpose:</a:t>
            </a:r>
          </a:p>
          <a:p>
            <a:r>
              <a:rPr lang="en-US" sz="1400" i="1" dirty="0">
                <a:solidFill>
                  <a:schemeClr val="accent2">
                    <a:lumMod val="75000"/>
                  </a:schemeClr>
                </a:solidFill>
                <a:latin typeface="Times New Roman" pitchFamily="18" charset="0"/>
                <a:cs typeface="Times New Roman" pitchFamily="18" charset="0"/>
              </a:rPr>
              <a:t>row ← </a:t>
            </a:r>
            <a:r>
              <a:rPr lang="en-US" sz="1400" i="1" dirty="0" err="1">
                <a:solidFill>
                  <a:schemeClr val="accent2">
                    <a:lumMod val="75000"/>
                  </a:schemeClr>
                </a:solidFill>
                <a:latin typeface="Times New Roman" pitchFamily="18" charset="0"/>
                <a:cs typeface="Times New Roman" pitchFamily="18" charset="0"/>
              </a:rPr>
              <a:t>col</a:t>
            </a:r>
            <a:endParaRPr lang="en-US" sz="1400" i="1" dirty="0">
              <a:solidFill>
                <a:schemeClr val="accent2">
                  <a:lumMod val="75000"/>
                </a:schemeClr>
              </a:solidFill>
              <a:latin typeface="Times New Roman" pitchFamily="18" charset="0"/>
              <a:cs typeface="Times New Roman" pitchFamily="18" charset="0"/>
            </a:endParaRPr>
          </a:p>
          <a:p>
            <a:r>
              <a:rPr lang="en-US" sz="1400" i="1" dirty="0" err="1">
                <a:solidFill>
                  <a:schemeClr val="accent2">
                    <a:lumMod val="75000"/>
                  </a:schemeClr>
                </a:solidFill>
                <a:latin typeface="Times New Roman" pitchFamily="18" charset="0"/>
                <a:cs typeface="Times New Roman" pitchFamily="18" charset="0"/>
              </a:rPr>
              <a:t>col</a:t>
            </a:r>
            <a:r>
              <a:rPr lang="en-US" sz="1400" i="1" dirty="0">
                <a:solidFill>
                  <a:schemeClr val="accent2">
                    <a:lumMod val="75000"/>
                  </a:schemeClr>
                </a:solidFill>
                <a:latin typeface="Times New Roman" pitchFamily="18" charset="0"/>
                <a:cs typeface="Times New Roman" pitchFamily="18" charset="0"/>
              </a:rPr>
              <a:t> ← row</a:t>
            </a:r>
          </a:p>
          <a:p>
            <a:r>
              <a:rPr lang="en-US" sz="1400" i="1" dirty="0">
                <a:solidFill>
                  <a:schemeClr val="accent2">
                    <a:lumMod val="75000"/>
                  </a:schemeClr>
                </a:solidFill>
                <a:latin typeface="Times New Roman" pitchFamily="18" charset="0"/>
                <a:cs typeface="Times New Roman" pitchFamily="18" charset="0"/>
              </a:rPr>
              <a:t>Keep the value same.</a:t>
            </a: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currentb</a:t>
            </a:r>
            <a:r>
              <a:rPr lang="en-US" sz="1400" i="1" dirty="0">
                <a:solidFill>
                  <a:schemeClr val="accent2">
                    <a:lumMod val="75000"/>
                  </a:schemeClr>
                </a:solidFill>
                <a:latin typeface="Times New Roman" pitchFamily="18" charset="0"/>
                <a:cs typeface="Times New Roman" pitchFamily="18" charset="0"/>
              </a:rPr>
              <a:t>++;                            //Move to next empty slot in b[] to store the next transposed term.</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6370975"/>
          </a:xfrm>
          <a:prstGeom prst="rect">
            <a:avLst/>
          </a:prstGeom>
          <a:noFill/>
        </p:spPr>
        <p:txBody>
          <a:bodyPr wrap="square" rtlCol="0">
            <a:spAutoFit/>
          </a:bodyPr>
          <a:lstStyle/>
          <a:p>
            <a:r>
              <a:rPr lang="en-US" sz="2400" dirty="0">
                <a:solidFill>
                  <a:schemeClr val="bg2">
                    <a:lumMod val="10000"/>
                  </a:schemeClr>
                </a:solidFill>
                <a:latin typeface="Times New Roman" pitchFamily="18" charset="0"/>
                <a:cs typeface="Times New Roman" pitchFamily="18" charset="0"/>
              </a:rPr>
              <a:t>What is Fast Transpose?</a:t>
            </a:r>
          </a:p>
          <a:p>
            <a:r>
              <a:rPr lang="en-US" sz="2400" dirty="0"/>
              <a:t>A </a:t>
            </a:r>
            <a:r>
              <a:rPr lang="en-US" sz="2400" b="1" dirty="0"/>
              <a:t>sparse matrix</a:t>
            </a:r>
            <a:r>
              <a:rPr lang="en-US" sz="2400" dirty="0"/>
              <a:t> is mostly zeros. Instead of storing all elements, we store only the </a:t>
            </a:r>
            <a:r>
              <a:rPr lang="en-US" sz="2400" b="1" dirty="0"/>
              <a:t>non-zero terms</a:t>
            </a:r>
            <a:r>
              <a:rPr lang="en-US" sz="2400" dirty="0"/>
              <a:t> in a compact format</a:t>
            </a:r>
          </a:p>
          <a:p>
            <a:r>
              <a:rPr lang="en-US" sz="2400" dirty="0">
                <a:solidFill>
                  <a:schemeClr val="bg2">
                    <a:lumMod val="10000"/>
                  </a:schemeClr>
                </a:solidFill>
                <a:latin typeface="Times New Roman" pitchFamily="18" charset="0"/>
                <a:cs typeface="Times New Roman" pitchFamily="18" charset="0"/>
              </a:rPr>
              <a:t>typedef struct {</a:t>
            </a:r>
          </a:p>
          <a:p>
            <a:r>
              <a:rPr lang="en-US" sz="2400" dirty="0">
                <a:solidFill>
                  <a:schemeClr val="bg2">
                    <a:lumMod val="10000"/>
                  </a:schemeClr>
                </a:solidFill>
                <a:latin typeface="Times New Roman" pitchFamily="18" charset="0"/>
                <a:cs typeface="Times New Roman" pitchFamily="18" charset="0"/>
              </a:rPr>
              <a:t>    int row;</a:t>
            </a:r>
          </a:p>
          <a:p>
            <a:r>
              <a:rPr lang="en-US" sz="2400" dirty="0">
                <a:solidFill>
                  <a:schemeClr val="bg2">
                    <a:lumMod val="10000"/>
                  </a:schemeClr>
                </a:solidFill>
                <a:latin typeface="Times New Roman" pitchFamily="18" charset="0"/>
                <a:cs typeface="Times New Roman" pitchFamily="18" charset="0"/>
              </a:rPr>
              <a:t>    int col;</a:t>
            </a:r>
          </a:p>
          <a:p>
            <a:r>
              <a:rPr lang="en-US" sz="2400" dirty="0">
                <a:solidFill>
                  <a:schemeClr val="bg2">
                    <a:lumMod val="10000"/>
                  </a:schemeClr>
                </a:solidFill>
                <a:latin typeface="Times New Roman" pitchFamily="18" charset="0"/>
                <a:cs typeface="Times New Roman" pitchFamily="18" charset="0"/>
              </a:rPr>
              <a:t>    int value;</a:t>
            </a:r>
          </a:p>
          <a:p>
            <a:r>
              <a:rPr lang="en-US" sz="2400" dirty="0">
                <a:solidFill>
                  <a:schemeClr val="bg2">
                    <a:lumMod val="10000"/>
                  </a:schemeClr>
                </a:solidFill>
                <a:latin typeface="Times New Roman" pitchFamily="18" charset="0"/>
                <a:cs typeface="Times New Roman" pitchFamily="18" charset="0"/>
              </a:rPr>
              <a:t>} term;</a:t>
            </a:r>
          </a:p>
          <a:p>
            <a:r>
              <a:rPr lang="en-US" sz="2400" dirty="0"/>
              <a:t>The </a:t>
            </a:r>
            <a:r>
              <a:rPr lang="en-US" sz="2400" b="1" dirty="0"/>
              <a:t>transpose</a:t>
            </a:r>
            <a:r>
              <a:rPr lang="en-US" sz="2400" dirty="0"/>
              <a:t> of a matrix flips rows and columns. Fast transpose does this efficiently by:</a:t>
            </a:r>
          </a:p>
          <a:p>
            <a:pPr marL="342900" indent="-342900">
              <a:buFont typeface="Arial" panose="020B0604020202020204" pitchFamily="34" charset="0"/>
              <a:buChar char="•"/>
            </a:pPr>
            <a:r>
              <a:rPr lang="en-US" sz="2400" dirty="0"/>
              <a:t>Counting non-zero elements per column.</a:t>
            </a:r>
          </a:p>
          <a:p>
            <a:pPr marL="342900" indent="-342900">
              <a:buFont typeface="Arial" panose="020B0604020202020204" pitchFamily="34" charset="0"/>
              <a:buChar char="•"/>
            </a:pPr>
            <a:r>
              <a:rPr lang="en-US" sz="2400" dirty="0"/>
              <a:t>Calculating where each transposed element should go.</a:t>
            </a:r>
          </a:p>
          <a:p>
            <a:pPr marL="342900" indent="-342900">
              <a:buFont typeface="Arial" panose="020B0604020202020204" pitchFamily="34" charset="0"/>
              <a:buChar char="•"/>
            </a:pPr>
            <a:r>
              <a:rPr lang="en-US" sz="2400" dirty="0"/>
              <a:t>Placing them directly without scanning repeatedly.</a:t>
            </a:r>
          </a:p>
          <a:p>
            <a:endParaRPr lang="en-US" sz="2400" dirty="0">
              <a:solidFill>
                <a:schemeClr val="bg2">
                  <a:lumMod val="10000"/>
                </a:schemeClr>
              </a:solidFill>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p:cNvSpPr/>
          <p:nvPr/>
        </p:nvSpPr>
        <p:spPr>
          <a:xfrm>
            <a:off x="214282" y="214290"/>
            <a:ext cx="8072494" cy="707886"/>
          </a:xfrm>
          <a:prstGeom prst="rect">
            <a:avLst/>
          </a:prstGeom>
        </p:spPr>
        <p:txBody>
          <a:bodyPr wrap="square">
            <a:spAutoFit/>
          </a:bodyPr>
          <a:lstStyle/>
          <a:p>
            <a:endParaRPr lang="en-US" sz="2000" dirty="0"/>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E642B-E190-563C-054A-52039AE4B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23517-4D98-59A2-149C-32B1690DC1F6}"/>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A4273922-D5AE-668A-78B5-873D9997B0D8}"/>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27A62EBC-5ED1-14CF-6C07-33C5E1FCA8EF}"/>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0ABDC682-6AE3-15FF-FECC-03B79F479136}"/>
              </a:ext>
            </a:extLst>
          </p:cNvPr>
          <p:cNvSpPr/>
          <p:nvPr/>
        </p:nvSpPr>
        <p:spPr>
          <a:xfrm>
            <a:off x="214282" y="214290"/>
            <a:ext cx="8072494" cy="707886"/>
          </a:xfrm>
          <a:prstGeom prst="rect">
            <a:avLst/>
          </a:prstGeom>
        </p:spPr>
        <p:txBody>
          <a:bodyPr wrap="square">
            <a:spAutoFit/>
          </a:bodyPr>
          <a:lstStyle/>
          <a:p>
            <a:endParaRPr lang="en-US" sz="2000" dirty="0"/>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C5B4A086-62A9-217C-0DFA-F4CF25C7C484}"/>
              </a:ext>
            </a:extLst>
          </p:cNvPr>
          <p:cNvSpPr txBox="1"/>
          <p:nvPr/>
        </p:nvSpPr>
        <p:spPr>
          <a:xfrm>
            <a:off x="71406" y="214290"/>
            <a:ext cx="8389026" cy="5632311"/>
          </a:xfrm>
          <a:prstGeom prst="rect">
            <a:avLst/>
          </a:prstGeom>
          <a:noFill/>
        </p:spPr>
        <p:txBody>
          <a:bodyPr wrap="square">
            <a:spAutoFit/>
          </a:bodyPr>
          <a:lstStyle/>
          <a:p>
            <a:r>
              <a:rPr lang="en-IN" dirty="0"/>
              <a:t>#include &lt;</a:t>
            </a:r>
            <a:r>
              <a:rPr lang="en-IN" dirty="0" err="1"/>
              <a:t>stdio.h</a:t>
            </a:r>
            <a:r>
              <a:rPr lang="en-IN" dirty="0"/>
              <a:t>&gt;</a:t>
            </a:r>
          </a:p>
          <a:p>
            <a:r>
              <a:rPr lang="en-IN" dirty="0"/>
              <a:t>#define MAX_TERMS 100</a:t>
            </a:r>
          </a:p>
          <a:p>
            <a:r>
              <a:rPr lang="en-IN" dirty="0"/>
              <a:t>#define MAX_COL 10</a:t>
            </a:r>
          </a:p>
          <a:p>
            <a:r>
              <a:rPr lang="en-IN" dirty="0"/>
              <a:t>typedef struct </a:t>
            </a:r>
          </a:p>
          <a:p>
            <a:r>
              <a:rPr lang="en-IN" dirty="0"/>
              <a:t>{    int row;    </a:t>
            </a:r>
          </a:p>
          <a:p>
            <a:r>
              <a:rPr lang="en-IN" dirty="0"/>
              <a:t>      int col;    </a:t>
            </a:r>
          </a:p>
          <a:p>
            <a:r>
              <a:rPr lang="en-IN" dirty="0"/>
              <a:t>      int value;} term;</a:t>
            </a:r>
          </a:p>
          <a:p>
            <a:endParaRPr lang="en-IN" dirty="0"/>
          </a:p>
          <a:p>
            <a:r>
              <a:rPr lang="en-IN" dirty="0"/>
              <a:t>void </a:t>
            </a:r>
            <a:r>
              <a:rPr lang="en-IN" dirty="0" err="1"/>
              <a:t>fast_transpose</a:t>
            </a:r>
            <a:r>
              <a:rPr lang="en-IN" dirty="0"/>
              <a:t>(term a[], term b[]) </a:t>
            </a:r>
          </a:p>
          <a:p>
            <a:r>
              <a:rPr lang="en-IN" dirty="0"/>
              <a:t>{   </a:t>
            </a:r>
          </a:p>
          <a:p>
            <a:r>
              <a:rPr lang="en-IN" dirty="0"/>
              <a:t> int </a:t>
            </a:r>
            <a:r>
              <a:rPr lang="en-IN" dirty="0" err="1"/>
              <a:t>row_terms</a:t>
            </a:r>
            <a:r>
              <a:rPr lang="en-IN" dirty="0"/>
              <a:t>[MAX_COL], </a:t>
            </a:r>
            <a:r>
              <a:rPr lang="en-IN" dirty="0" err="1"/>
              <a:t>starting_pos</a:t>
            </a:r>
            <a:r>
              <a:rPr lang="en-IN" dirty="0"/>
              <a:t>[MAX_COL];    </a:t>
            </a:r>
          </a:p>
          <a:p>
            <a:r>
              <a:rPr lang="en-IN" dirty="0"/>
              <a:t>int </a:t>
            </a:r>
            <a:r>
              <a:rPr lang="en-IN" dirty="0" err="1"/>
              <a:t>i</a:t>
            </a:r>
            <a:r>
              <a:rPr lang="en-IN" dirty="0"/>
              <a:t>, j;    </a:t>
            </a:r>
          </a:p>
          <a:p>
            <a:r>
              <a:rPr lang="en-IN" dirty="0"/>
              <a:t>int </a:t>
            </a:r>
            <a:r>
              <a:rPr lang="en-IN" dirty="0" err="1"/>
              <a:t>num_cols</a:t>
            </a:r>
            <a:r>
              <a:rPr lang="en-IN" dirty="0"/>
              <a:t> = a[0].col;    </a:t>
            </a:r>
          </a:p>
          <a:p>
            <a:r>
              <a:rPr lang="en-IN" dirty="0"/>
              <a:t>int </a:t>
            </a:r>
            <a:r>
              <a:rPr lang="en-IN" dirty="0" err="1"/>
              <a:t>num_terms</a:t>
            </a:r>
            <a:r>
              <a:rPr lang="en-IN" dirty="0"/>
              <a:t> = a[0].value;    </a:t>
            </a:r>
          </a:p>
          <a:p>
            <a:endParaRPr lang="en-IN" dirty="0"/>
          </a:p>
          <a:p>
            <a:r>
              <a:rPr lang="en-IN" dirty="0"/>
              <a:t>//Set the Metadata</a:t>
            </a:r>
          </a:p>
          <a:p>
            <a:r>
              <a:rPr lang="en-IN" dirty="0"/>
              <a:t>b[0].row = </a:t>
            </a:r>
            <a:r>
              <a:rPr lang="en-IN" dirty="0" err="1"/>
              <a:t>num_cols</a:t>
            </a:r>
            <a:r>
              <a:rPr lang="en-IN" dirty="0"/>
              <a:t>;    </a:t>
            </a:r>
          </a:p>
          <a:p>
            <a:r>
              <a:rPr lang="en-IN" dirty="0"/>
              <a:t>b[0].col = a[0].row;    </a:t>
            </a:r>
          </a:p>
          <a:p>
            <a:r>
              <a:rPr lang="en-IN" dirty="0"/>
              <a:t>b[0].value = </a:t>
            </a:r>
            <a:r>
              <a:rPr lang="en-IN" dirty="0" err="1"/>
              <a:t>num_terms</a:t>
            </a:r>
            <a:r>
              <a:rPr lang="en-IN" dirty="0"/>
              <a:t>;    </a:t>
            </a:r>
          </a:p>
          <a:p>
            <a:endParaRPr lang="en-IN" dirty="0"/>
          </a:p>
        </p:txBody>
      </p:sp>
    </p:spTree>
    <p:extLst>
      <p:ext uri="{BB962C8B-B14F-4D97-AF65-F5344CB8AC3E}">
        <p14:creationId xmlns:p14="http://schemas.microsoft.com/office/powerpoint/2010/main" val="29787719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4DC8B-6C58-EEA2-E5CC-8835328CE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04CCF-71D0-ABFB-B168-3F061006A68B}"/>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A2B0A034-DF41-B323-BC3A-80DCE2EF011F}"/>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3FC0F36C-D24A-6331-90BA-4B98364ED6BF}"/>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510A6704-B7EC-DD4E-9FE4-AECA34AFCF01}"/>
              </a:ext>
            </a:extLst>
          </p:cNvPr>
          <p:cNvSpPr/>
          <p:nvPr/>
        </p:nvSpPr>
        <p:spPr>
          <a:xfrm>
            <a:off x="214282" y="214290"/>
            <a:ext cx="8072494" cy="707886"/>
          </a:xfrm>
          <a:prstGeom prst="rect">
            <a:avLst/>
          </a:prstGeom>
        </p:spPr>
        <p:txBody>
          <a:bodyPr wrap="square">
            <a:spAutoFit/>
          </a:bodyPr>
          <a:lstStyle/>
          <a:p>
            <a:endParaRPr lang="en-US" sz="2000" dirty="0"/>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C2A93503-1893-6B18-18A4-FD667047271E}"/>
              </a:ext>
            </a:extLst>
          </p:cNvPr>
          <p:cNvSpPr txBox="1"/>
          <p:nvPr/>
        </p:nvSpPr>
        <p:spPr>
          <a:xfrm>
            <a:off x="71406" y="214290"/>
            <a:ext cx="8215370" cy="5355312"/>
          </a:xfrm>
          <a:prstGeom prst="rect">
            <a:avLst/>
          </a:prstGeom>
          <a:noFill/>
        </p:spPr>
        <p:txBody>
          <a:bodyPr wrap="square">
            <a:spAutoFit/>
          </a:bodyPr>
          <a:lstStyle/>
          <a:p>
            <a:r>
              <a:rPr lang="en-IN" dirty="0"/>
              <a:t>if (</a:t>
            </a:r>
            <a:r>
              <a:rPr lang="en-IN" dirty="0" err="1"/>
              <a:t>num_terms</a:t>
            </a:r>
            <a:r>
              <a:rPr lang="en-IN" dirty="0"/>
              <a:t> &gt; 0) {        </a:t>
            </a:r>
          </a:p>
          <a:p>
            <a:r>
              <a:rPr lang="en-IN" dirty="0"/>
              <a:t>for (</a:t>
            </a:r>
            <a:r>
              <a:rPr lang="en-IN" dirty="0" err="1"/>
              <a:t>i</a:t>
            </a:r>
            <a:r>
              <a:rPr lang="en-IN" dirty="0"/>
              <a:t> = 0; </a:t>
            </a:r>
            <a:r>
              <a:rPr lang="en-IN" dirty="0" err="1"/>
              <a:t>i</a:t>
            </a:r>
            <a:r>
              <a:rPr lang="en-IN" dirty="0"/>
              <a:t> &lt; </a:t>
            </a:r>
            <a:r>
              <a:rPr lang="en-IN" dirty="0" err="1"/>
              <a:t>num_cols</a:t>
            </a:r>
            <a:r>
              <a:rPr lang="en-IN" dirty="0"/>
              <a:t>; </a:t>
            </a:r>
            <a:r>
              <a:rPr lang="en-IN" dirty="0" err="1"/>
              <a:t>i</a:t>
            </a:r>
            <a:r>
              <a:rPr lang="en-IN" dirty="0"/>
              <a:t>++)            </a:t>
            </a:r>
          </a:p>
          <a:p>
            <a:r>
              <a:rPr lang="en-IN" dirty="0" err="1"/>
              <a:t>row_terms</a:t>
            </a:r>
            <a:r>
              <a:rPr lang="en-IN" dirty="0"/>
              <a:t>[</a:t>
            </a:r>
            <a:r>
              <a:rPr lang="en-IN" dirty="0" err="1"/>
              <a:t>i</a:t>
            </a:r>
            <a:r>
              <a:rPr lang="en-IN" dirty="0"/>
              <a:t>] = 0;        </a:t>
            </a:r>
          </a:p>
          <a:p>
            <a:endParaRPr lang="en-IN" dirty="0"/>
          </a:p>
          <a:p>
            <a:r>
              <a:rPr lang="en-IN" dirty="0"/>
              <a:t>for (</a:t>
            </a:r>
            <a:r>
              <a:rPr lang="en-IN" dirty="0" err="1"/>
              <a:t>i</a:t>
            </a:r>
            <a:r>
              <a:rPr lang="en-IN" dirty="0"/>
              <a:t> = 1; </a:t>
            </a:r>
            <a:r>
              <a:rPr lang="en-IN" dirty="0" err="1"/>
              <a:t>i</a:t>
            </a:r>
            <a:r>
              <a:rPr lang="en-IN" dirty="0"/>
              <a:t> &lt;= </a:t>
            </a:r>
            <a:r>
              <a:rPr lang="en-IN" dirty="0" err="1"/>
              <a:t>num_terms</a:t>
            </a:r>
            <a:r>
              <a:rPr lang="en-IN" dirty="0"/>
              <a:t>; </a:t>
            </a:r>
            <a:r>
              <a:rPr lang="en-IN" dirty="0" err="1"/>
              <a:t>i</a:t>
            </a:r>
            <a:r>
              <a:rPr lang="en-IN" dirty="0"/>
              <a:t>++)            </a:t>
            </a:r>
          </a:p>
          <a:p>
            <a:r>
              <a:rPr lang="en-IN" dirty="0" err="1"/>
              <a:t>row_terms</a:t>
            </a:r>
            <a:r>
              <a:rPr lang="en-IN" dirty="0"/>
              <a:t>[a[</a:t>
            </a:r>
            <a:r>
              <a:rPr lang="en-IN" dirty="0" err="1"/>
              <a:t>i</a:t>
            </a:r>
            <a:r>
              <a:rPr lang="en-IN" dirty="0"/>
              <a:t>].col]++;       </a:t>
            </a:r>
          </a:p>
          <a:p>
            <a:endParaRPr lang="en-IN" dirty="0"/>
          </a:p>
          <a:p>
            <a:r>
              <a:rPr lang="en-IN" dirty="0" err="1"/>
              <a:t>starting_pos</a:t>
            </a:r>
            <a:r>
              <a:rPr lang="en-IN" dirty="0"/>
              <a:t>[0] = 1;        </a:t>
            </a:r>
          </a:p>
          <a:p>
            <a:r>
              <a:rPr lang="en-IN" dirty="0"/>
              <a:t>for (</a:t>
            </a:r>
            <a:r>
              <a:rPr lang="en-IN" dirty="0" err="1"/>
              <a:t>i</a:t>
            </a:r>
            <a:r>
              <a:rPr lang="en-IN" dirty="0"/>
              <a:t> = 1; </a:t>
            </a:r>
            <a:r>
              <a:rPr lang="en-IN" dirty="0" err="1"/>
              <a:t>i</a:t>
            </a:r>
            <a:r>
              <a:rPr lang="en-IN" dirty="0"/>
              <a:t> &lt; </a:t>
            </a:r>
            <a:r>
              <a:rPr lang="en-IN" dirty="0" err="1"/>
              <a:t>num_cols</a:t>
            </a:r>
            <a:r>
              <a:rPr lang="en-IN" dirty="0"/>
              <a:t>; </a:t>
            </a:r>
            <a:r>
              <a:rPr lang="en-IN" dirty="0" err="1"/>
              <a:t>i</a:t>
            </a:r>
            <a:r>
              <a:rPr lang="en-IN" dirty="0"/>
              <a:t>++)            </a:t>
            </a:r>
          </a:p>
          <a:p>
            <a:r>
              <a:rPr lang="en-IN" dirty="0" err="1"/>
              <a:t>starting_pos</a:t>
            </a:r>
            <a:r>
              <a:rPr lang="en-IN" dirty="0"/>
              <a:t>[</a:t>
            </a:r>
            <a:r>
              <a:rPr lang="en-IN" dirty="0" err="1"/>
              <a:t>i</a:t>
            </a:r>
            <a:r>
              <a:rPr lang="en-IN" dirty="0"/>
              <a:t>] = </a:t>
            </a:r>
            <a:r>
              <a:rPr lang="en-IN" dirty="0" err="1"/>
              <a:t>starting_pos</a:t>
            </a:r>
            <a:r>
              <a:rPr lang="en-IN" dirty="0"/>
              <a:t>[</a:t>
            </a:r>
            <a:r>
              <a:rPr lang="en-IN" dirty="0" err="1"/>
              <a:t>i</a:t>
            </a:r>
            <a:r>
              <a:rPr lang="en-IN" dirty="0"/>
              <a:t> - 1] + </a:t>
            </a:r>
            <a:r>
              <a:rPr lang="en-IN" dirty="0" err="1"/>
              <a:t>row_terms</a:t>
            </a:r>
            <a:r>
              <a:rPr lang="en-IN" dirty="0"/>
              <a:t>[</a:t>
            </a:r>
            <a:r>
              <a:rPr lang="en-IN" dirty="0" err="1"/>
              <a:t>i</a:t>
            </a:r>
            <a:r>
              <a:rPr lang="en-IN" dirty="0"/>
              <a:t> - 1];        </a:t>
            </a:r>
          </a:p>
          <a:p>
            <a:endParaRPr lang="en-IN" dirty="0"/>
          </a:p>
          <a:p>
            <a:r>
              <a:rPr lang="en-IN" dirty="0"/>
              <a:t>for (</a:t>
            </a:r>
            <a:r>
              <a:rPr lang="en-IN" dirty="0" err="1"/>
              <a:t>i</a:t>
            </a:r>
            <a:r>
              <a:rPr lang="en-IN" dirty="0"/>
              <a:t> = 1; </a:t>
            </a:r>
            <a:r>
              <a:rPr lang="en-IN" dirty="0" err="1"/>
              <a:t>i</a:t>
            </a:r>
            <a:r>
              <a:rPr lang="en-IN" dirty="0"/>
              <a:t> &lt;= </a:t>
            </a:r>
            <a:r>
              <a:rPr lang="en-IN" dirty="0" err="1"/>
              <a:t>num_terms</a:t>
            </a:r>
            <a:r>
              <a:rPr lang="en-IN" dirty="0"/>
              <a:t>; </a:t>
            </a:r>
            <a:r>
              <a:rPr lang="en-IN" dirty="0" err="1"/>
              <a:t>i</a:t>
            </a:r>
            <a:r>
              <a:rPr lang="en-IN" dirty="0"/>
              <a:t>++) {            </a:t>
            </a:r>
          </a:p>
          <a:p>
            <a:r>
              <a:rPr lang="en-IN" dirty="0"/>
              <a:t>j = </a:t>
            </a:r>
            <a:r>
              <a:rPr lang="en-IN" dirty="0" err="1"/>
              <a:t>starting_pos</a:t>
            </a:r>
            <a:r>
              <a:rPr lang="en-IN" dirty="0"/>
              <a:t>[a[</a:t>
            </a:r>
            <a:r>
              <a:rPr lang="en-IN" dirty="0" err="1"/>
              <a:t>i</a:t>
            </a:r>
            <a:r>
              <a:rPr lang="en-IN" dirty="0"/>
              <a:t>].col]++;            </a:t>
            </a:r>
          </a:p>
          <a:p>
            <a:r>
              <a:rPr lang="en-IN" dirty="0"/>
              <a:t>b[j].row = a[</a:t>
            </a:r>
            <a:r>
              <a:rPr lang="en-IN" dirty="0" err="1"/>
              <a:t>i</a:t>
            </a:r>
            <a:r>
              <a:rPr lang="en-IN" dirty="0"/>
              <a:t>].col;            </a:t>
            </a:r>
          </a:p>
          <a:p>
            <a:r>
              <a:rPr lang="en-IN" dirty="0"/>
              <a:t>b[j].col = a[</a:t>
            </a:r>
            <a:r>
              <a:rPr lang="en-IN" dirty="0" err="1"/>
              <a:t>i</a:t>
            </a:r>
            <a:r>
              <a:rPr lang="en-IN" dirty="0"/>
              <a:t>].row;            </a:t>
            </a:r>
          </a:p>
          <a:p>
            <a:r>
              <a:rPr lang="en-IN" dirty="0"/>
              <a:t>b[j].value = a[</a:t>
            </a:r>
            <a:r>
              <a:rPr lang="en-IN" dirty="0" err="1"/>
              <a:t>i</a:t>
            </a:r>
            <a:r>
              <a:rPr lang="en-IN" dirty="0"/>
              <a:t>].value;        </a:t>
            </a:r>
          </a:p>
          <a:p>
            <a:r>
              <a:rPr lang="en-IN" dirty="0"/>
              <a:t>}    </a:t>
            </a:r>
          </a:p>
          <a:p>
            <a:r>
              <a:rPr lang="en-IN" dirty="0"/>
              <a:t>}</a:t>
            </a:r>
          </a:p>
          <a:p>
            <a:r>
              <a:rPr lang="en-IN" dirty="0"/>
              <a:t>}</a:t>
            </a:r>
          </a:p>
        </p:txBody>
      </p:sp>
    </p:spTree>
    <p:extLst>
      <p:ext uri="{BB962C8B-B14F-4D97-AF65-F5344CB8AC3E}">
        <p14:creationId xmlns:p14="http://schemas.microsoft.com/office/powerpoint/2010/main" val="38405054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85AA-40B6-32CC-6471-834E51869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84D6E-882D-8356-D74A-B75112C9585B}"/>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DBFF085C-E3C6-CEEA-8D87-20AFA79AF44C}"/>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FDF8BCEB-B8CD-E109-B92F-D6DE38BCEEA0}"/>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8CE4D7C0-7BEC-6A4E-A2C7-69BDB3F25E7E}"/>
              </a:ext>
            </a:extLst>
          </p:cNvPr>
          <p:cNvSpPr/>
          <p:nvPr/>
        </p:nvSpPr>
        <p:spPr>
          <a:xfrm>
            <a:off x="214282" y="214290"/>
            <a:ext cx="8072494" cy="707886"/>
          </a:xfrm>
          <a:prstGeom prst="rect">
            <a:avLst/>
          </a:prstGeom>
        </p:spPr>
        <p:txBody>
          <a:bodyPr wrap="square">
            <a:spAutoFit/>
          </a:bodyPr>
          <a:lstStyle/>
          <a:p>
            <a:endParaRPr lang="en-US" sz="2000" dirty="0"/>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3DD2A7E1-DBED-9FC7-E9A5-5AABD1A258A7}"/>
              </a:ext>
            </a:extLst>
          </p:cNvPr>
          <p:cNvSpPr txBox="1"/>
          <p:nvPr/>
        </p:nvSpPr>
        <p:spPr>
          <a:xfrm>
            <a:off x="71406" y="214290"/>
            <a:ext cx="8215370" cy="6186309"/>
          </a:xfrm>
          <a:prstGeom prst="rect">
            <a:avLst/>
          </a:prstGeom>
          <a:noFill/>
        </p:spPr>
        <p:txBody>
          <a:bodyPr wrap="square">
            <a:spAutoFit/>
          </a:bodyPr>
          <a:lstStyle/>
          <a:p>
            <a:r>
              <a:rPr lang="en-IN" dirty="0"/>
              <a:t>void </a:t>
            </a:r>
            <a:r>
              <a:rPr lang="en-IN" dirty="0" err="1"/>
              <a:t>print_matrix</a:t>
            </a:r>
            <a:r>
              <a:rPr lang="en-IN" dirty="0"/>
              <a:t>(term m[]) {    </a:t>
            </a:r>
          </a:p>
          <a:p>
            <a:r>
              <a:rPr lang="en-IN" dirty="0" err="1"/>
              <a:t>printf</a:t>
            </a:r>
            <a:r>
              <a:rPr lang="en-IN" dirty="0"/>
              <a:t>("\</a:t>
            </a:r>
            <a:r>
              <a:rPr lang="en-IN" dirty="0" err="1"/>
              <a:t>nSparse</a:t>
            </a:r>
            <a:r>
              <a:rPr lang="en-IN" dirty="0"/>
              <a:t> Matrix Representation:\n");    </a:t>
            </a:r>
          </a:p>
          <a:p>
            <a:r>
              <a:rPr lang="en-IN" dirty="0" err="1"/>
              <a:t>printf</a:t>
            </a:r>
            <a:r>
              <a:rPr lang="en-IN" dirty="0"/>
              <a:t>("Index\</a:t>
            </a:r>
            <a:r>
              <a:rPr lang="en-IN" dirty="0" err="1"/>
              <a:t>tRow</a:t>
            </a:r>
            <a:r>
              <a:rPr lang="en-IN" dirty="0"/>
              <a:t>\</a:t>
            </a:r>
            <a:r>
              <a:rPr lang="en-IN" dirty="0" err="1"/>
              <a:t>tCol</a:t>
            </a:r>
            <a:r>
              <a:rPr lang="en-IN" dirty="0"/>
              <a:t>\</a:t>
            </a:r>
            <a:r>
              <a:rPr lang="en-IN" dirty="0" err="1"/>
              <a:t>tValue</a:t>
            </a:r>
            <a:r>
              <a:rPr lang="en-IN" dirty="0"/>
              <a:t>\n");    </a:t>
            </a:r>
          </a:p>
          <a:p>
            <a:r>
              <a:rPr lang="en-IN" dirty="0"/>
              <a:t>for (int </a:t>
            </a:r>
            <a:r>
              <a:rPr lang="en-IN" dirty="0" err="1"/>
              <a:t>i</a:t>
            </a:r>
            <a:r>
              <a:rPr lang="en-IN" dirty="0"/>
              <a:t> = 0; </a:t>
            </a:r>
            <a:r>
              <a:rPr lang="en-IN" dirty="0" err="1"/>
              <a:t>i</a:t>
            </a:r>
            <a:r>
              <a:rPr lang="en-IN" dirty="0"/>
              <a:t> &lt;= m[0].value; </a:t>
            </a:r>
            <a:r>
              <a:rPr lang="en-IN" dirty="0" err="1"/>
              <a:t>i</a:t>
            </a:r>
            <a:r>
              <a:rPr lang="en-IN" dirty="0"/>
              <a:t>++) </a:t>
            </a:r>
          </a:p>
          <a:p>
            <a:r>
              <a:rPr lang="en-IN" dirty="0"/>
              <a:t>{        </a:t>
            </a:r>
          </a:p>
          <a:p>
            <a:r>
              <a:rPr lang="en-IN" dirty="0" err="1"/>
              <a:t>printf</a:t>
            </a:r>
            <a:r>
              <a:rPr lang="en-IN" dirty="0"/>
              <a:t>("%d\</a:t>
            </a:r>
            <a:r>
              <a:rPr lang="en-IN" dirty="0" err="1"/>
              <a:t>t%d</a:t>
            </a:r>
            <a:r>
              <a:rPr lang="en-IN" dirty="0"/>
              <a:t>\</a:t>
            </a:r>
            <a:r>
              <a:rPr lang="en-IN" dirty="0" err="1"/>
              <a:t>t%d</a:t>
            </a:r>
            <a:r>
              <a:rPr lang="en-IN" dirty="0"/>
              <a:t>\</a:t>
            </a:r>
            <a:r>
              <a:rPr lang="en-IN" dirty="0" err="1"/>
              <a:t>t%d</a:t>
            </a:r>
            <a:r>
              <a:rPr lang="en-IN" dirty="0"/>
              <a:t>\n", </a:t>
            </a:r>
            <a:r>
              <a:rPr lang="en-IN" dirty="0" err="1"/>
              <a:t>i</a:t>
            </a:r>
            <a:r>
              <a:rPr lang="en-IN" dirty="0"/>
              <a:t>, m[</a:t>
            </a:r>
            <a:r>
              <a:rPr lang="en-IN" dirty="0" err="1"/>
              <a:t>i</a:t>
            </a:r>
            <a:r>
              <a:rPr lang="en-IN" dirty="0"/>
              <a:t>].row, m[</a:t>
            </a:r>
            <a:r>
              <a:rPr lang="en-IN" dirty="0" err="1"/>
              <a:t>i</a:t>
            </a:r>
            <a:r>
              <a:rPr lang="en-IN" dirty="0"/>
              <a:t>].col, m[</a:t>
            </a:r>
            <a:r>
              <a:rPr lang="en-IN" dirty="0" err="1"/>
              <a:t>i</a:t>
            </a:r>
            <a:r>
              <a:rPr lang="en-IN" dirty="0"/>
              <a:t>].value);    </a:t>
            </a:r>
          </a:p>
          <a:p>
            <a:r>
              <a:rPr lang="en-IN" dirty="0"/>
              <a:t>}</a:t>
            </a:r>
          </a:p>
          <a:p>
            <a:r>
              <a:rPr lang="en-IN" dirty="0"/>
              <a:t>}</a:t>
            </a:r>
          </a:p>
          <a:p>
            <a:endParaRPr lang="en-IN" dirty="0"/>
          </a:p>
          <a:p>
            <a:r>
              <a:rPr lang="en-IN" dirty="0"/>
              <a:t>int main() </a:t>
            </a:r>
          </a:p>
          <a:p>
            <a:r>
              <a:rPr lang="en-IN" dirty="0"/>
              <a:t>{    </a:t>
            </a:r>
          </a:p>
          <a:p>
            <a:r>
              <a:rPr lang="en-IN" dirty="0"/>
              <a:t>term a[MAX_TERMS] = {        </a:t>
            </a:r>
          </a:p>
          <a:p>
            <a:r>
              <a:rPr lang="en-IN" dirty="0"/>
              <a:t>{6, 6, 8},   // Metadata: 6x6 matrix with 8 non-zero terms        </a:t>
            </a:r>
          </a:p>
          <a:p>
            <a:r>
              <a:rPr lang="en-IN" dirty="0"/>
              <a:t>{0, 0, 15},        </a:t>
            </a:r>
          </a:p>
          <a:p>
            <a:r>
              <a:rPr lang="en-IN" dirty="0"/>
              <a:t>{0, 3, 22},        </a:t>
            </a:r>
          </a:p>
          <a:p>
            <a:r>
              <a:rPr lang="en-IN" dirty="0"/>
              <a:t>{0, 5, -15},        </a:t>
            </a:r>
          </a:p>
          <a:p>
            <a:r>
              <a:rPr lang="en-IN" dirty="0"/>
              <a:t>{1, 1, 11},        </a:t>
            </a:r>
          </a:p>
          <a:p>
            <a:r>
              <a:rPr lang="en-IN" dirty="0"/>
              <a:t>{1, 2, 3},        </a:t>
            </a:r>
          </a:p>
          <a:p>
            <a:r>
              <a:rPr lang="en-IN" dirty="0"/>
              <a:t>{2, 3, -6},        </a:t>
            </a:r>
          </a:p>
          <a:p>
            <a:r>
              <a:rPr lang="en-IN" dirty="0"/>
              <a:t>{4, 0, 91},        </a:t>
            </a:r>
          </a:p>
          <a:p>
            <a:r>
              <a:rPr lang="en-IN" dirty="0"/>
              <a:t>{5, 2, 28}    </a:t>
            </a:r>
          </a:p>
          <a:p>
            <a:r>
              <a:rPr lang="en-IN" dirty="0"/>
              <a:t>};    </a:t>
            </a:r>
          </a:p>
        </p:txBody>
      </p:sp>
    </p:spTree>
    <p:extLst>
      <p:ext uri="{BB962C8B-B14F-4D97-AF65-F5344CB8AC3E}">
        <p14:creationId xmlns:p14="http://schemas.microsoft.com/office/powerpoint/2010/main" val="24588342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A007-E372-6460-8B5D-331E56B9D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3127A-4D69-F0BF-02D0-1B16E497B2B9}"/>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A4400330-2685-11FE-1A44-3EC6F782ACC0}"/>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5EFC502B-9DDC-04AF-DEA9-50EA6C77B6A8}"/>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7E61ABAE-D399-9357-18EC-E7EFC444E084}"/>
              </a:ext>
            </a:extLst>
          </p:cNvPr>
          <p:cNvSpPr/>
          <p:nvPr/>
        </p:nvSpPr>
        <p:spPr>
          <a:xfrm>
            <a:off x="214282" y="214290"/>
            <a:ext cx="8072494" cy="707886"/>
          </a:xfrm>
          <a:prstGeom prst="rect">
            <a:avLst/>
          </a:prstGeom>
        </p:spPr>
        <p:txBody>
          <a:bodyPr wrap="square">
            <a:spAutoFit/>
          </a:bodyPr>
          <a:lstStyle/>
          <a:p>
            <a:endParaRPr lang="en-US" sz="2000" dirty="0"/>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EE18065A-6875-A786-8060-A1FCDD323560}"/>
              </a:ext>
            </a:extLst>
          </p:cNvPr>
          <p:cNvSpPr txBox="1"/>
          <p:nvPr/>
        </p:nvSpPr>
        <p:spPr>
          <a:xfrm>
            <a:off x="71406" y="214290"/>
            <a:ext cx="8215370" cy="2308324"/>
          </a:xfrm>
          <a:prstGeom prst="rect">
            <a:avLst/>
          </a:prstGeom>
          <a:noFill/>
        </p:spPr>
        <p:txBody>
          <a:bodyPr wrap="square">
            <a:spAutoFit/>
          </a:bodyPr>
          <a:lstStyle/>
          <a:p>
            <a:r>
              <a:rPr lang="en-IN" dirty="0"/>
              <a:t>term b[MAX_TERMS]; // Transposed matrix    </a:t>
            </a:r>
          </a:p>
          <a:p>
            <a:r>
              <a:rPr lang="en-IN" dirty="0" err="1"/>
              <a:t>printf</a:t>
            </a:r>
            <a:r>
              <a:rPr lang="en-IN" dirty="0"/>
              <a:t>("Original Matrix:");    </a:t>
            </a:r>
          </a:p>
          <a:p>
            <a:r>
              <a:rPr lang="en-IN" dirty="0" err="1"/>
              <a:t>print_matrix</a:t>
            </a:r>
            <a:r>
              <a:rPr lang="en-IN" dirty="0"/>
              <a:t>(a);    </a:t>
            </a:r>
          </a:p>
          <a:p>
            <a:r>
              <a:rPr lang="en-IN" dirty="0" err="1"/>
              <a:t>fast_transpose</a:t>
            </a:r>
            <a:r>
              <a:rPr lang="en-IN" dirty="0"/>
              <a:t>(a, b);    </a:t>
            </a:r>
          </a:p>
          <a:p>
            <a:r>
              <a:rPr lang="en-IN" dirty="0" err="1"/>
              <a:t>printf</a:t>
            </a:r>
            <a:r>
              <a:rPr lang="en-IN" dirty="0"/>
              <a:t>("\</a:t>
            </a:r>
            <a:r>
              <a:rPr lang="en-IN" dirty="0" err="1"/>
              <a:t>nTransposed</a:t>
            </a:r>
            <a:r>
              <a:rPr lang="en-IN" dirty="0"/>
              <a:t> Matrix:");    </a:t>
            </a:r>
          </a:p>
          <a:p>
            <a:r>
              <a:rPr lang="en-IN" dirty="0" err="1"/>
              <a:t>print_matrix</a:t>
            </a:r>
            <a:r>
              <a:rPr lang="en-IN" dirty="0"/>
              <a:t>(b);    </a:t>
            </a:r>
          </a:p>
          <a:p>
            <a:r>
              <a:rPr lang="en-IN" dirty="0"/>
              <a:t>return 0;</a:t>
            </a:r>
          </a:p>
          <a:p>
            <a:r>
              <a:rPr lang="en-IN" dirty="0"/>
              <a:t>}</a:t>
            </a:r>
          </a:p>
        </p:txBody>
      </p:sp>
    </p:spTree>
    <p:extLst>
      <p:ext uri="{BB962C8B-B14F-4D97-AF65-F5344CB8AC3E}">
        <p14:creationId xmlns:p14="http://schemas.microsoft.com/office/powerpoint/2010/main" val="21150931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p:cNvSpPr/>
          <p:nvPr/>
        </p:nvSpPr>
        <p:spPr>
          <a:xfrm>
            <a:off x="214282" y="610727"/>
            <a:ext cx="8072494" cy="4431983"/>
          </a:xfrm>
          <a:prstGeom prst="rect">
            <a:avLst/>
          </a:prstGeom>
        </p:spPr>
        <p:txBody>
          <a:bodyPr wrap="square">
            <a:spAutoFit/>
          </a:bodyPr>
          <a:lstStyle/>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for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1; &lt;=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num_terms</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j =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starting_pos</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b[j].row = a[</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b[j].</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col</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a[</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].row;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b[j].value = a[</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].value;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1400" i="1" dirty="0">
                <a:solidFill>
                  <a:schemeClr val="accent2">
                    <a:lumMod val="75000"/>
                  </a:schemeClr>
                </a:solidFill>
                <a:latin typeface="Times New Roman" pitchFamily="18" charset="0"/>
                <a:cs typeface="Times New Roman" pitchFamily="18" charset="0"/>
              </a:rPr>
              <a:t>Breakdown:</a:t>
            </a:r>
          </a:p>
          <a:p>
            <a:r>
              <a:rPr lang="en-US" sz="1400" i="1" dirty="0">
                <a:solidFill>
                  <a:schemeClr val="accent2">
                    <a:lumMod val="75000"/>
                  </a:schemeClr>
                </a:solidFill>
                <a:latin typeface="Times New Roman" pitchFamily="18" charset="0"/>
                <a:cs typeface="Times New Roman" pitchFamily="18" charset="0"/>
              </a:rPr>
              <a:t>For each term in a:</a:t>
            </a:r>
          </a:p>
          <a:p>
            <a:pPr lvl="1"/>
            <a:r>
              <a:rPr lang="en-US" sz="1400" i="1" dirty="0">
                <a:solidFill>
                  <a:schemeClr val="accent2">
                    <a:lumMod val="75000"/>
                  </a:schemeClr>
                </a:solidFill>
                <a:latin typeface="Times New Roman" pitchFamily="18" charset="0"/>
                <a:cs typeface="Times New Roman" pitchFamily="18" charset="0"/>
              </a:rPr>
              <a:t>Use its column (a[</a:t>
            </a:r>
            <a:r>
              <a:rPr lang="en-US" sz="1400" i="1" dirty="0" err="1">
                <a:solidFill>
                  <a:schemeClr val="accent2">
                    <a:lumMod val="75000"/>
                  </a:schemeClr>
                </a:solidFill>
                <a:latin typeface="Times New Roman" pitchFamily="18" charset="0"/>
                <a:cs typeface="Times New Roman" pitchFamily="18" charset="0"/>
              </a:rPr>
              <a:t>i</a:t>
            </a:r>
            <a:r>
              <a:rPr lang="en-US" sz="1400" i="1" dirty="0">
                <a:solidFill>
                  <a:schemeClr val="accent2">
                    <a:lumMod val="75000"/>
                  </a:schemeClr>
                </a:solidFill>
                <a:latin typeface="Times New Roman" pitchFamily="18" charset="0"/>
                <a:cs typeface="Times New Roman" pitchFamily="18" charset="0"/>
              </a:rPr>
              <a:t>].</a:t>
            </a:r>
            <a:r>
              <a:rPr lang="en-US" sz="1400" i="1" dirty="0" err="1">
                <a:solidFill>
                  <a:schemeClr val="accent2">
                    <a:lumMod val="75000"/>
                  </a:schemeClr>
                </a:solidFill>
                <a:latin typeface="Times New Roman" pitchFamily="18" charset="0"/>
                <a:cs typeface="Times New Roman" pitchFamily="18" charset="0"/>
              </a:rPr>
              <a:t>col</a:t>
            </a:r>
            <a:r>
              <a:rPr lang="en-US" sz="1400" i="1" dirty="0">
                <a:solidFill>
                  <a:schemeClr val="accent2">
                    <a:lumMod val="75000"/>
                  </a:schemeClr>
                </a:solidFill>
                <a:latin typeface="Times New Roman" pitchFamily="18" charset="0"/>
                <a:cs typeface="Times New Roman" pitchFamily="18" charset="0"/>
              </a:rPr>
              <a:t>) to determine which row it will go to in b.</a:t>
            </a:r>
          </a:p>
          <a:p>
            <a:pPr lvl="1"/>
            <a:r>
              <a:rPr lang="en-US" sz="1400" i="1" dirty="0">
                <a:solidFill>
                  <a:schemeClr val="accent2">
                    <a:lumMod val="75000"/>
                  </a:schemeClr>
                </a:solidFill>
                <a:latin typeface="Times New Roman" pitchFamily="18" charset="0"/>
                <a:cs typeface="Times New Roman" pitchFamily="18" charset="0"/>
              </a:rPr>
              <a:t>Use </a:t>
            </a:r>
            <a:r>
              <a:rPr lang="en-US" sz="1400" i="1" dirty="0" err="1">
                <a:solidFill>
                  <a:schemeClr val="accent2">
                    <a:lumMod val="75000"/>
                  </a:schemeClr>
                </a:solidFill>
                <a:latin typeface="Times New Roman" pitchFamily="18" charset="0"/>
                <a:cs typeface="Times New Roman" pitchFamily="18" charset="0"/>
              </a:rPr>
              <a:t>startingPos</a:t>
            </a:r>
            <a:r>
              <a:rPr lang="en-US" sz="1400" i="1" dirty="0">
                <a:solidFill>
                  <a:schemeClr val="accent2">
                    <a:lumMod val="75000"/>
                  </a:schemeClr>
                </a:solidFill>
                <a:latin typeface="Times New Roman" pitchFamily="18" charset="0"/>
                <a:cs typeface="Times New Roman" pitchFamily="18" charset="0"/>
              </a:rPr>
              <a:t> to find exact position in b array.</a:t>
            </a:r>
          </a:p>
          <a:p>
            <a:pPr lvl="1"/>
            <a:r>
              <a:rPr lang="en-US" sz="1400" i="1" dirty="0">
                <a:solidFill>
                  <a:schemeClr val="accent2">
                    <a:lumMod val="75000"/>
                  </a:schemeClr>
                </a:solidFill>
                <a:latin typeface="Times New Roman" pitchFamily="18" charset="0"/>
                <a:cs typeface="Times New Roman" pitchFamily="18" charset="0"/>
              </a:rPr>
              <a:t>Swap row and column.</a:t>
            </a:r>
          </a:p>
          <a:p>
            <a:pPr lvl="1"/>
            <a:r>
              <a:rPr lang="en-US" sz="1400" i="1" dirty="0">
                <a:solidFill>
                  <a:schemeClr val="accent2">
                    <a:lumMod val="75000"/>
                  </a:schemeClr>
                </a:solidFill>
                <a:latin typeface="Times New Roman" pitchFamily="18" charset="0"/>
                <a:cs typeface="Times New Roman" pitchFamily="18" charset="0"/>
              </a:rPr>
              <a:t>Copy the value.</a:t>
            </a:r>
          </a:p>
          <a:p>
            <a:r>
              <a:rPr lang="en-US" sz="1400" i="1" dirty="0">
                <a:solidFill>
                  <a:schemeClr val="accent2">
                    <a:lumMod val="75000"/>
                  </a:schemeClr>
                </a:solidFill>
                <a:latin typeface="Times New Roman" pitchFamily="18" charset="0"/>
                <a:cs typeface="Times New Roman" pitchFamily="18" charset="0"/>
              </a:rPr>
              <a:t>After placing it, increment </a:t>
            </a:r>
            <a:r>
              <a:rPr lang="en-US" sz="1400" i="1" dirty="0" err="1">
                <a:solidFill>
                  <a:schemeClr val="accent2">
                    <a:lumMod val="75000"/>
                  </a:schemeClr>
                </a:solidFill>
                <a:latin typeface="Times New Roman" pitchFamily="18" charset="0"/>
                <a:cs typeface="Times New Roman" pitchFamily="18" charset="0"/>
              </a:rPr>
              <a:t>startingPos</a:t>
            </a:r>
            <a:r>
              <a:rPr lang="en-US" sz="1400" i="1" dirty="0">
                <a:solidFill>
                  <a:schemeClr val="accent2">
                    <a:lumMod val="75000"/>
                  </a:schemeClr>
                </a:solidFill>
                <a:latin typeface="Times New Roman" pitchFamily="18" charset="0"/>
                <a:cs typeface="Times New Roman" pitchFamily="18" charset="0"/>
              </a:rPr>
              <a:t> to point to the next empty slot for that row.</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3A143-B1A7-F07D-5B63-5C9D8E447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52FEC-22AC-BD2D-8A62-22D046C9B96E}"/>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73A31582-7DF9-C590-14A6-EEE7400D390E}"/>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388BA685-C86E-E5B9-6082-74B9F3C542AA}"/>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B9359C41-BD32-4CC5-CA19-05F95A407A24}"/>
              </a:ext>
            </a:extLst>
          </p:cNvPr>
          <p:cNvSpPr/>
          <p:nvPr/>
        </p:nvSpPr>
        <p:spPr>
          <a:xfrm>
            <a:off x="171914" y="316969"/>
            <a:ext cx="8072494" cy="6247864"/>
          </a:xfrm>
          <a:prstGeom prst="rect">
            <a:avLst/>
          </a:prstGeom>
        </p:spPr>
        <p:txBody>
          <a:bodyPr wrap="square">
            <a:spAutoFit/>
          </a:bodyPr>
          <a:lstStyle/>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Pattern matching </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Consider two strings </a:t>
            </a:r>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a:t>
            </a:r>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where,</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pat is a pattern to be searched for in str.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easiest way to find if the pat is in str is by using the built in function </a:t>
            </a:r>
            <a:r>
              <a:rPr lang="en-US" sz="20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strstr</a:t>
            </a:r>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Common Usage of Pattern Matching : </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Text Editors and word processors </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Find and Replace</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Search Engines </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When a user enters a query, search engines utilize sophisticated string-matching algorithms to find relevant web pages and documents</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Spam Filters</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Email services employ string matching to identify and filter out unwanted or malicious emails (spam).</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Plagiarism Detection</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Software designed to detect plagiarism uses string matching to compare a submitted document against a vast database of existing texts</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Spell Checkers and Autocorrect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These tools use string matching to compare typed words against a dictionary of correctly spelled words.</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41501965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67130-CD06-C5A3-29D8-E6178E035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E448B-A7D4-AE47-D7D1-976C01306556}"/>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5D0D42C7-0C6C-BD95-BBAF-CD43907DBB60}"/>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0B39B97C-E91B-6F5A-639B-A6133C79BB86}"/>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4CF0440B-8A0E-DA3C-9A9E-866BA1FF7648}"/>
              </a:ext>
            </a:extLst>
          </p:cNvPr>
          <p:cNvSpPr/>
          <p:nvPr/>
        </p:nvSpPr>
        <p:spPr>
          <a:xfrm>
            <a:off x="71406" y="71414"/>
            <a:ext cx="8173002" cy="6247864"/>
          </a:xfrm>
          <a:prstGeom prst="rect">
            <a:avLst/>
          </a:prstGeom>
        </p:spPr>
        <p:txBody>
          <a:bodyPr wrap="square">
            <a:spAutoFit/>
          </a:bodyPr>
          <a:lstStyle/>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Common pattern matching algos:</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Brute force/Basic/Naïve  -  O(M*N)</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KMP(Knuth Morris Pratt  -  O(M+N)</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Boyer Moore</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Rabin Karp</a:t>
            </a: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STRSTR – </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built in function for pattern matching</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Example: If we have a declaration as follows</a:t>
            </a: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Char pat[</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max_size</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str[</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max_size</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pattern matching can be carried out as follows</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strstr</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str,pat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pattern found in the string is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Else</a:t>
            </a:r>
          </a:p>
          <a:p>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Printf</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The pattern was not found”);</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call (t =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strstr</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string,pat</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returns a null pointer if pat is not in string. If pat is in string, t holds a pointer to the start of pat in string. The entire string beginning at position t is printed out.</a:t>
            </a:r>
          </a:p>
        </p:txBody>
      </p:sp>
    </p:spTree>
    <p:extLst>
      <p:ext uri="{BB962C8B-B14F-4D97-AF65-F5344CB8AC3E}">
        <p14:creationId xmlns:p14="http://schemas.microsoft.com/office/powerpoint/2010/main" val="1650207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24E47-3B8E-B814-A5A2-373721C2E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FAFD70-47F9-B55F-FF01-B9E9C60D33FA}"/>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7571A9D2-483F-5E43-7A9E-AA56834350CC}"/>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DC334298-1F97-A4F6-510D-0B8B1227255A}"/>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6E7CA9FD-C436-DD46-E755-E6FA90F35867}"/>
              </a:ext>
            </a:extLst>
          </p:cNvPr>
          <p:cNvSpPr/>
          <p:nvPr/>
        </p:nvSpPr>
        <p:spPr>
          <a:xfrm>
            <a:off x="171914" y="316969"/>
            <a:ext cx="8072494" cy="4093428"/>
          </a:xfrm>
          <a:prstGeom prst="rect">
            <a:avLst/>
          </a:prstGeom>
        </p:spPr>
        <p:txBody>
          <a:bodyPr wrap="square">
            <a:spAutoFit/>
          </a:bodyPr>
          <a:lstStyle/>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Although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strstr</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seems ideally suited to pattern matching, </a:t>
            </a: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there are two reasons why we may want to develop our own pattern matching function: </a:t>
            </a:r>
          </a:p>
          <a:p>
            <a:pPr marL="457200" indent="-457200">
              <a:buAutoNum type="arabicParenBoth"/>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function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strstr</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new to ANSI C. Therefore, it may not be available with the compiler we are using. </a:t>
            </a:r>
          </a:p>
          <a:p>
            <a:pPr marL="457200" indent="-457200">
              <a:buAutoNum type="arabicParenBoth"/>
            </a:pP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There are several different methods for implementing a pattern matching function. The easiest but least efficient method sequentially examines each character of the string until it finds the pattern or it reaches the end of the string. </a:t>
            </a:r>
          </a:p>
          <a:p>
            <a:pPr marL="457200" indent="-457200">
              <a:buAutoNum type="arabicParenBoth"/>
            </a:pPr>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pat is not in string, this method has a computing time of O(n ■ m) </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the length of pat and </a:t>
            </a: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m</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is the length of string. </a:t>
            </a:r>
          </a:p>
        </p:txBody>
      </p:sp>
    </p:spTree>
    <p:extLst>
      <p:ext uri="{BB962C8B-B14F-4D97-AF65-F5344CB8AC3E}">
        <p14:creationId xmlns:p14="http://schemas.microsoft.com/office/powerpoint/2010/main" val="22368570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F052B-1764-B664-FE86-485636107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C03C5-2F82-5F7B-8B2A-B638BF33B7B0}"/>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4E4717F2-881B-5119-4611-54649B66F90F}"/>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8AE35C3D-DFC5-25DC-E7AD-40C2748B3F1E}"/>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3546FFA3-7185-8EB9-7F5E-3E3BC363D27C}"/>
              </a:ext>
            </a:extLst>
          </p:cNvPr>
          <p:cNvPicPr>
            <a:picLocks noChangeAspect="1"/>
          </p:cNvPicPr>
          <p:nvPr/>
        </p:nvPicPr>
        <p:blipFill>
          <a:blip r:embed="rId3"/>
          <a:stretch>
            <a:fillRect/>
          </a:stretch>
        </p:blipFill>
        <p:spPr>
          <a:xfrm>
            <a:off x="-1221058" y="42640"/>
            <a:ext cx="6297114" cy="6914752"/>
          </a:xfrm>
          <a:prstGeom prst="rect">
            <a:avLst/>
          </a:prstGeom>
        </p:spPr>
      </p:pic>
      <p:pic>
        <p:nvPicPr>
          <p:cNvPr id="9" name="Picture 8">
            <a:extLst>
              <a:ext uri="{FF2B5EF4-FFF2-40B4-BE49-F238E27FC236}">
                <a16:creationId xmlns:a16="http://schemas.microsoft.com/office/drawing/2014/main" id="{CB3A71B7-FF2F-FA0C-D136-1083BA71086F}"/>
              </a:ext>
            </a:extLst>
          </p:cNvPr>
          <p:cNvPicPr>
            <a:picLocks noChangeAspect="1"/>
          </p:cNvPicPr>
          <p:nvPr/>
        </p:nvPicPr>
        <p:blipFill>
          <a:blip r:embed="rId4"/>
          <a:stretch>
            <a:fillRect/>
          </a:stretch>
        </p:blipFill>
        <p:spPr>
          <a:xfrm>
            <a:off x="5386690" y="-42071"/>
            <a:ext cx="5522013" cy="6500835"/>
          </a:xfrm>
          <a:prstGeom prst="rect">
            <a:avLst/>
          </a:prstGeom>
        </p:spPr>
      </p:pic>
    </p:spTree>
    <p:extLst>
      <p:ext uri="{BB962C8B-B14F-4D97-AF65-F5344CB8AC3E}">
        <p14:creationId xmlns:p14="http://schemas.microsoft.com/office/powerpoint/2010/main" val="10626345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4D5DC-189D-0E4F-2753-3DD003D4F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266C8-D1D9-85FB-3AA8-460312DAF2C8}"/>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6E8945D8-DD1D-5B19-1C15-0DA833E8B2C2}"/>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46FDA655-684C-4BDD-DFC8-FF3C72AD79D0}"/>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F5DB1C75-BC31-E8F1-AD6C-6DBEBF993C93}"/>
              </a:ext>
            </a:extLst>
          </p:cNvPr>
          <p:cNvSpPr txBox="1"/>
          <p:nvPr/>
        </p:nvSpPr>
        <p:spPr>
          <a:xfrm>
            <a:off x="71406" y="539963"/>
            <a:ext cx="8286808" cy="5324535"/>
          </a:xfrm>
          <a:prstGeom prst="rect">
            <a:avLst/>
          </a:prstGeom>
          <a:noFill/>
        </p:spPr>
        <p:txBody>
          <a:bodyPr wrap="square">
            <a:spAutoFit/>
          </a:bodyPr>
          <a:lstStyle/>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First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nfind</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compares string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endmatch</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pat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lastp</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If they match,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nfind</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uses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j to move through the two strings until a mismatch occurs or until all of pat has been matched. The variable start is used to reset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if a mismatch occurs. </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Analysis of </a:t>
            </a:r>
            <a:r>
              <a:rPr lang="en-US" sz="20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nfind</a:t>
            </a:r>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If we apply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nfind</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string = "aa • • • a" and pat = "a • • • ab", then the computing time for these strings is linear in the length of the string O(m), which is certainly far better than the sequential method. Although the improvements we made over the sequential method speed up processing on the average, the worst-case computing time is still O(n• m).</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Note : Why j==</a:t>
            </a:r>
            <a:r>
              <a:rPr lang="en-US" sz="2000" i="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lastp</a:t>
            </a:r>
            <a:r>
              <a:rPr lang="en-US"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 gives successful pattern matching,</a:t>
            </a:r>
          </a:p>
          <a:p>
            <a:r>
              <a:rPr lang="en-IN"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The loop checks j&lt;</a:t>
            </a:r>
            <a:r>
              <a:rPr lang="en-IN" sz="2000" i="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lastp</a:t>
            </a:r>
            <a:r>
              <a:rPr lang="en-IN"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so it verifies all the characters except the last one.</a:t>
            </a:r>
          </a:p>
          <a:p>
            <a:endParaRPr lang="en-IN"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i="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02ABA6E1-9519-2E1D-42EE-75210E9C9DC7}"/>
              </a:ext>
            </a:extLst>
          </p:cNvPr>
          <p:cNvGraphicFramePr>
            <a:graphicFrameLocks noGrp="1"/>
          </p:cNvGraphicFramePr>
          <p:nvPr>
            <p:extLst>
              <p:ext uri="{D42A27DB-BD31-4B8C-83A1-F6EECF244321}">
                <p14:modId xmlns:p14="http://schemas.microsoft.com/office/powerpoint/2010/main" val="2209252929"/>
              </p:ext>
            </p:extLst>
          </p:nvPr>
        </p:nvGraphicFramePr>
        <p:xfrm>
          <a:off x="179512" y="4847560"/>
          <a:ext cx="6936436" cy="741680"/>
        </p:xfrm>
        <a:graphic>
          <a:graphicData uri="http://schemas.openxmlformats.org/drawingml/2006/table">
            <a:tbl>
              <a:tblPr firstRow="1" bandRow="1">
                <a:tableStyleId>{5C22544A-7EE6-4342-B048-85BDC9FD1C3A}</a:tableStyleId>
              </a:tblPr>
              <a:tblGrid>
                <a:gridCol w="974878">
                  <a:extLst>
                    <a:ext uri="{9D8B030D-6E8A-4147-A177-3AD203B41FA5}">
                      <a16:colId xmlns:a16="http://schemas.microsoft.com/office/drawing/2014/main" val="2908360838"/>
                    </a:ext>
                  </a:extLst>
                </a:gridCol>
                <a:gridCol w="393274">
                  <a:extLst>
                    <a:ext uri="{9D8B030D-6E8A-4147-A177-3AD203B41FA5}">
                      <a16:colId xmlns:a16="http://schemas.microsoft.com/office/drawing/2014/main" val="247806185"/>
                    </a:ext>
                  </a:extLst>
                </a:gridCol>
                <a:gridCol w="432048">
                  <a:extLst>
                    <a:ext uri="{9D8B030D-6E8A-4147-A177-3AD203B41FA5}">
                      <a16:colId xmlns:a16="http://schemas.microsoft.com/office/drawing/2014/main" val="3168700855"/>
                    </a:ext>
                  </a:extLst>
                </a:gridCol>
                <a:gridCol w="504056">
                  <a:extLst>
                    <a:ext uri="{9D8B030D-6E8A-4147-A177-3AD203B41FA5}">
                      <a16:colId xmlns:a16="http://schemas.microsoft.com/office/drawing/2014/main" val="3027402569"/>
                    </a:ext>
                  </a:extLst>
                </a:gridCol>
                <a:gridCol w="432048">
                  <a:extLst>
                    <a:ext uri="{9D8B030D-6E8A-4147-A177-3AD203B41FA5}">
                      <a16:colId xmlns:a16="http://schemas.microsoft.com/office/drawing/2014/main" val="1986746932"/>
                    </a:ext>
                  </a:extLst>
                </a:gridCol>
                <a:gridCol w="465128">
                  <a:extLst>
                    <a:ext uri="{9D8B030D-6E8A-4147-A177-3AD203B41FA5}">
                      <a16:colId xmlns:a16="http://schemas.microsoft.com/office/drawing/2014/main" val="1882937290"/>
                    </a:ext>
                  </a:extLst>
                </a:gridCol>
                <a:gridCol w="533572">
                  <a:extLst>
                    <a:ext uri="{9D8B030D-6E8A-4147-A177-3AD203B41FA5}">
                      <a16:colId xmlns:a16="http://schemas.microsoft.com/office/drawing/2014/main" val="1798706447"/>
                    </a:ext>
                  </a:extLst>
                </a:gridCol>
                <a:gridCol w="533572">
                  <a:extLst>
                    <a:ext uri="{9D8B030D-6E8A-4147-A177-3AD203B41FA5}">
                      <a16:colId xmlns:a16="http://schemas.microsoft.com/office/drawing/2014/main" val="306715333"/>
                    </a:ext>
                  </a:extLst>
                </a:gridCol>
                <a:gridCol w="533572">
                  <a:extLst>
                    <a:ext uri="{9D8B030D-6E8A-4147-A177-3AD203B41FA5}">
                      <a16:colId xmlns:a16="http://schemas.microsoft.com/office/drawing/2014/main" val="1513055616"/>
                    </a:ext>
                  </a:extLst>
                </a:gridCol>
                <a:gridCol w="533572">
                  <a:extLst>
                    <a:ext uri="{9D8B030D-6E8A-4147-A177-3AD203B41FA5}">
                      <a16:colId xmlns:a16="http://schemas.microsoft.com/office/drawing/2014/main" val="1226109333"/>
                    </a:ext>
                  </a:extLst>
                </a:gridCol>
                <a:gridCol w="533572">
                  <a:extLst>
                    <a:ext uri="{9D8B030D-6E8A-4147-A177-3AD203B41FA5}">
                      <a16:colId xmlns:a16="http://schemas.microsoft.com/office/drawing/2014/main" val="3923586145"/>
                    </a:ext>
                  </a:extLst>
                </a:gridCol>
                <a:gridCol w="533572">
                  <a:extLst>
                    <a:ext uri="{9D8B030D-6E8A-4147-A177-3AD203B41FA5}">
                      <a16:colId xmlns:a16="http://schemas.microsoft.com/office/drawing/2014/main" val="1354817122"/>
                    </a:ext>
                  </a:extLst>
                </a:gridCol>
                <a:gridCol w="533572">
                  <a:extLst>
                    <a:ext uri="{9D8B030D-6E8A-4147-A177-3AD203B41FA5}">
                      <a16:colId xmlns:a16="http://schemas.microsoft.com/office/drawing/2014/main" val="599448068"/>
                    </a:ext>
                  </a:extLst>
                </a:gridCol>
              </a:tblGrid>
              <a:tr h="370840">
                <a:tc>
                  <a:txBody>
                    <a:bodyPr/>
                    <a:lstStyle/>
                    <a:p>
                      <a:r>
                        <a:rPr lang="en-US" b="0" dirty="0">
                          <a:solidFill>
                            <a:schemeClr val="tx1"/>
                          </a:solidFill>
                        </a:rPr>
                        <a:t>String</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A</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B</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C</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D</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A</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B</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C</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A</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B</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C</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D</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F</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2747923"/>
                  </a:ext>
                </a:extLst>
              </a:tr>
              <a:tr h="370840">
                <a:tc>
                  <a:txBody>
                    <a:bodyPr/>
                    <a:lstStyle/>
                    <a:p>
                      <a:r>
                        <a:rPr lang="en-US" b="0" dirty="0">
                          <a:solidFill>
                            <a:schemeClr val="tx1"/>
                          </a:solidFill>
                        </a:rPr>
                        <a:t>Pattern</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A</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B</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C</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D</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cap="none" baseline="0" dirty="0">
                          <a:solidFill>
                            <a:schemeClr val="tx1"/>
                          </a:solidFill>
                        </a:rPr>
                        <a:t>F</a:t>
                      </a: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IN" b="0" cap="none"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0916027"/>
                  </a:ext>
                </a:extLst>
              </a:tr>
            </a:tbl>
          </a:graphicData>
        </a:graphic>
      </p:graphicFrame>
    </p:spTree>
    <p:extLst>
      <p:ext uri="{BB962C8B-B14F-4D97-AF65-F5344CB8AC3E}">
        <p14:creationId xmlns:p14="http://schemas.microsoft.com/office/powerpoint/2010/main" val="26378740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2EC58-B5C3-5B9A-3D92-6C1F09F63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73CB5-200D-6EFB-F6F9-7EC9BAC14364}"/>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415AA9A3-9F44-067F-DF35-1AB6B611E02E}"/>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80AF7213-E8C7-FDE6-EAFB-8C02FE25A9FA}"/>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796B4BB5-04CE-8DEF-FCBF-2BDC84616C9D}"/>
              </a:ext>
            </a:extLst>
          </p:cNvPr>
          <p:cNvSpPr txBox="1"/>
          <p:nvPr/>
        </p:nvSpPr>
        <p:spPr>
          <a:xfrm>
            <a:off x="179512" y="357167"/>
            <a:ext cx="8178702" cy="6555641"/>
          </a:xfrm>
          <a:prstGeom prst="rect">
            <a:avLst/>
          </a:prstGeom>
          <a:noFill/>
        </p:spPr>
        <p:txBody>
          <a:bodyPr wrap="square">
            <a:spAutoFit/>
          </a:bodyPr>
          <a:lstStyle/>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KMP </a:t>
            </a:r>
            <a:r>
              <a:rPr lang="en-US" sz="20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Alogrithm</a:t>
            </a:r>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Effective algorithm that works in O(</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strlen</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(string) + </a:t>
            </a:r>
            <a:r>
              <a:rPr lang="en-US"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strlen</a:t>
            </a:r>
            <a:r>
              <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(pat)) time. This is optimal for this problem as in the worst case it is necessary to look at all characters in the pattern and string at least once. We want to search the string for the pattern without moving backwards in the string. That is, if a mismatch occurs, we want to use our knowledge of the characters in the pattern and the position in the pattern where the mismatch occurred to determine where we should continue the search. Knuth, Morris, and Pratt have developed a pattern matching algorithm that works in this way and has linear complexity.</a:t>
            </a:r>
          </a:p>
          <a:p>
            <a:endParaRPr lang="en-US"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pat = ‘a b c d a b c’</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Prefix = a, ab,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abc</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abcd</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Suffix = c,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bc</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abc</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dabc</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t>
            </a: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1911482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1B92C-44BE-7256-3F1A-3DC4B8908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24D7A-6E87-E9FE-CECF-05554AC0D674}"/>
              </a:ext>
            </a:extLst>
          </p:cNvPr>
          <p:cNvSpPr txBox="1">
            <a:spLocks/>
          </p:cNvSpPr>
          <p:nvPr/>
        </p:nvSpPr>
        <p:spPr>
          <a:xfrm>
            <a:off x="285720" y="357166"/>
            <a:ext cx="8572560" cy="6500834"/>
          </a:xfrm>
          <a:prstGeom prst="rect">
            <a:avLst/>
          </a:prstGeom>
        </p:spPr>
        <p:txBody>
          <a:bodyPr>
            <a:normAutofit/>
          </a:bodyPr>
          <a:lstStyle/>
          <a:p>
            <a:pPr>
              <a:spcBef>
                <a:spcPct val="0"/>
              </a:spcBef>
              <a:defRPr/>
            </a:pPr>
            <a:r>
              <a:rPr lang="en-US"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rPr>
              <a:t> </a:t>
            </a:r>
            <a:endParaRPr lang="en-IN" sz="3200" b="1" dirty="0">
              <a:solidFill>
                <a:schemeClr val="bg2">
                  <a:lumMod val="25000"/>
                </a:schemeClr>
              </a:solidFill>
              <a:effectLst>
                <a:outerShdw blurRad="31750" dist="25400" dir="5400000" algn="tl" rotWithShape="0">
                  <a:srgbClr val="000000">
                    <a:alpha val="25000"/>
                  </a:srgbClr>
                </a:outerShdw>
              </a:effectLst>
              <a:latin typeface="Times New Roman" pitchFamily="18" charset="0"/>
              <a:ea typeface="+mj-ea"/>
              <a:cs typeface="Times New Roman" pitchFamily="18" charset="0"/>
            </a:endParaRPr>
          </a:p>
        </p:txBody>
      </p:sp>
      <p:sp>
        <p:nvSpPr>
          <p:cNvPr id="4" name="TextBox 3">
            <a:extLst>
              <a:ext uri="{FF2B5EF4-FFF2-40B4-BE49-F238E27FC236}">
                <a16:creationId xmlns:a16="http://schemas.microsoft.com/office/drawing/2014/main" id="{A58ECC67-0637-C0C7-AFAF-991367C650EC}"/>
              </a:ext>
            </a:extLst>
          </p:cNvPr>
          <p:cNvSpPr txBox="1"/>
          <p:nvPr/>
        </p:nvSpPr>
        <p:spPr>
          <a:xfrm>
            <a:off x="285720" y="285728"/>
            <a:ext cx="8072494" cy="1569660"/>
          </a:xfrm>
          <a:prstGeom prst="rect">
            <a:avLst/>
          </a:prstGeom>
          <a:noFill/>
        </p:spPr>
        <p:txBody>
          <a:bodyPr wrap="square" rtlCol="0">
            <a:spAutoFit/>
          </a:bodyPr>
          <a:lstStyle/>
          <a:p>
            <a:endParaRPr lang="en-US" sz="2400" dirty="0"/>
          </a:p>
          <a:p>
            <a:endParaRPr lang="en-US" sz="2400" dirty="0">
              <a:solidFill>
                <a:schemeClr val="bg2">
                  <a:lumMod val="10000"/>
                </a:schemeClr>
              </a:solidFill>
              <a:latin typeface="Times New Roman" pitchFamily="18" charset="0"/>
              <a:cs typeface="Times New Roman" pitchFamily="18" charset="0"/>
            </a:endParaRPr>
          </a:p>
          <a:p>
            <a:endParaRPr lang="en-US" sz="2400" b="1" dirty="0"/>
          </a:p>
          <a:p>
            <a:endParaRPr lang="en-US" sz="2400" dirty="0">
              <a:solidFill>
                <a:schemeClr val="bg2">
                  <a:lumMod val="10000"/>
                </a:schemeClr>
              </a:solidFill>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6E721A50-C8B4-8219-48A7-6B66EC51B0BC}"/>
              </a:ext>
            </a:extLst>
          </p:cNvPr>
          <p:cNvSpPr/>
          <p:nvPr/>
        </p:nvSpPr>
        <p:spPr>
          <a:xfrm>
            <a:off x="0" y="71414"/>
            <a:ext cx="8643966" cy="1015663"/>
          </a:xfrm>
          <a:prstGeom prst="rect">
            <a:avLst/>
          </a:prstGeom>
        </p:spPr>
        <p:txBody>
          <a:bodyPr wrap="square">
            <a:spAutoFit/>
          </a:bodyPr>
          <a:lstStyle/>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fr-FR"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u="sng"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4ECF2AD0-79E9-AC92-C663-92E92AF4B352}"/>
              </a:ext>
            </a:extLst>
          </p:cNvPr>
          <p:cNvSpPr txBox="1"/>
          <p:nvPr/>
        </p:nvSpPr>
        <p:spPr>
          <a:xfrm>
            <a:off x="35496" y="44624"/>
            <a:ext cx="8178702" cy="7786747"/>
          </a:xfrm>
          <a:prstGeom prst="rect">
            <a:avLst/>
          </a:prstGeom>
          <a:noFill/>
        </p:spPr>
        <p:txBody>
          <a:bodyPr wrap="square">
            <a:spAutoFit/>
          </a:bodyPr>
          <a:lstStyle/>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KMP </a:t>
            </a:r>
            <a:r>
              <a:rPr lang="en-US" sz="2000" b="1"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Alogrithm</a:t>
            </a:r>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Pie table or LPS table(Longest prefix same as Suffix) or failure computation</a:t>
            </a: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US" sz="2000" b="1"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Will find out if pattern is present in the string,x1 using KMP algorithm</a:t>
            </a:r>
          </a:p>
          <a:p>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Steps :</a:t>
            </a:r>
          </a:p>
          <a:p>
            <a:pPr marL="342900" indent="-342900">
              <a:buFontTx/>
              <a:buChar char="-"/>
            </a:pP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Identify the pattern and create a pie table or LPS table or failure computation</a:t>
            </a:r>
          </a:p>
          <a:p>
            <a:pPr marL="342900" indent="-342900">
              <a:buFontTx/>
              <a:buChar char="-"/>
            </a:pP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Start matching the pattern by assigning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the start of the string</a:t>
            </a:r>
          </a:p>
          <a:p>
            <a:pPr marL="342900" indent="-342900">
              <a:buFontTx/>
              <a:buChar char="-"/>
            </a:pP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And assign j to the 0</a:t>
            </a:r>
            <a:r>
              <a:rPr lang="en-IN" sz="2000" baseline="30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th</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position of the pattern</a:t>
            </a:r>
          </a:p>
          <a:p>
            <a:pPr marL="342900" indent="-342900">
              <a:buFontTx/>
              <a:buChar char="-"/>
            </a:pP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Compare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j+1 characters and continue with the pattern matching</a:t>
            </a:r>
          </a:p>
          <a:p>
            <a:pPr marL="342900" indent="-342900">
              <a:buFontTx/>
              <a:buChar char="-"/>
            </a:pP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character matched,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j pointer increments.</a:t>
            </a:r>
          </a:p>
          <a:p>
            <a:pPr marL="342900" indent="-342900">
              <a:buFontTx/>
              <a:buChar char="-"/>
            </a:pP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If character not matching, backtrack of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should not happen in KMP algorithm instead keep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pointer intact(in same position) and move j to the value assigned to the current character pointed and continue comparing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and j+1 series.</a:t>
            </a:r>
          </a:p>
          <a:p>
            <a:pPr marL="342900" indent="-342900">
              <a:buFontTx/>
              <a:buChar char="-"/>
            </a:pP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When j cannot be further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bracktracked</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to the value, then </a:t>
            </a:r>
            <a:r>
              <a:rPr lang="en-IN" sz="2000" dirty="0" err="1">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i</a:t>
            </a:r>
            <a:r>
              <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rPr>
              <a:t> will be incremented.</a:t>
            </a:r>
          </a:p>
          <a:p>
            <a:pPr marL="342900" indent="-342900">
              <a:buFontTx/>
              <a:buChar char="-"/>
            </a:pPr>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a:p>
            <a:endParaRPr lang="en-IN" sz="2000" dirty="0">
              <a:solidFill>
                <a:schemeClr val="bg2">
                  <a:lumMod val="25000"/>
                </a:schemeClr>
              </a:solidFill>
              <a:effectLst>
                <a:outerShdw blurRad="31750" dist="25400" dir="5400000" algn="tl" rotWithShape="0">
                  <a:srgbClr val="000000">
                    <a:alpha val="25000"/>
                  </a:srgbClr>
                </a:outerShdw>
              </a:effectLst>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42A93518-BA9D-6A1B-C39F-97C248164A01}"/>
              </a:ext>
            </a:extLst>
          </p:cNvPr>
          <p:cNvGraphicFramePr>
            <a:graphicFrameLocks noGrp="1"/>
          </p:cNvGraphicFramePr>
          <p:nvPr>
            <p:extLst>
              <p:ext uri="{D42A27DB-BD31-4B8C-83A1-F6EECF244321}">
                <p14:modId xmlns:p14="http://schemas.microsoft.com/office/powerpoint/2010/main" val="2656671799"/>
              </p:ext>
            </p:extLst>
          </p:nvPr>
        </p:nvGraphicFramePr>
        <p:xfrm>
          <a:off x="1524000" y="1397000"/>
          <a:ext cx="5541820"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145177578"/>
                    </a:ext>
                  </a:extLst>
                </a:gridCol>
                <a:gridCol w="554182">
                  <a:extLst>
                    <a:ext uri="{9D8B030D-6E8A-4147-A177-3AD203B41FA5}">
                      <a16:colId xmlns:a16="http://schemas.microsoft.com/office/drawing/2014/main" val="1969881975"/>
                    </a:ext>
                  </a:extLst>
                </a:gridCol>
                <a:gridCol w="554182">
                  <a:extLst>
                    <a:ext uri="{9D8B030D-6E8A-4147-A177-3AD203B41FA5}">
                      <a16:colId xmlns:a16="http://schemas.microsoft.com/office/drawing/2014/main" val="1039754215"/>
                    </a:ext>
                  </a:extLst>
                </a:gridCol>
                <a:gridCol w="554182">
                  <a:extLst>
                    <a:ext uri="{9D8B030D-6E8A-4147-A177-3AD203B41FA5}">
                      <a16:colId xmlns:a16="http://schemas.microsoft.com/office/drawing/2014/main" val="3426885617"/>
                    </a:ext>
                  </a:extLst>
                </a:gridCol>
                <a:gridCol w="554182">
                  <a:extLst>
                    <a:ext uri="{9D8B030D-6E8A-4147-A177-3AD203B41FA5}">
                      <a16:colId xmlns:a16="http://schemas.microsoft.com/office/drawing/2014/main" val="3731418394"/>
                    </a:ext>
                  </a:extLst>
                </a:gridCol>
                <a:gridCol w="554182">
                  <a:extLst>
                    <a:ext uri="{9D8B030D-6E8A-4147-A177-3AD203B41FA5}">
                      <a16:colId xmlns:a16="http://schemas.microsoft.com/office/drawing/2014/main" val="3163339564"/>
                    </a:ext>
                  </a:extLst>
                </a:gridCol>
                <a:gridCol w="554182">
                  <a:extLst>
                    <a:ext uri="{9D8B030D-6E8A-4147-A177-3AD203B41FA5}">
                      <a16:colId xmlns:a16="http://schemas.microsoft.com/office/drawing/2014/main" val="3714368187"/>
                    </a:ext>
                  </a:extLst>
                </a:gridCol>
                <a:gridCol w="554182">
                  <a:extLst>
                    <a:ext uri="{9D8B030D-6E8A-4147-A177-3AD203B41FA5}">
                      <a16:colId xmlns:a16="http://schemas.microsoft.com/office/drawing/2014/main" val="957579690"/>
                    </a:ext>
                  </a:extLst>
                </a:gridCol>
                <a:gridCol w="554182">
                  <a:extLst>
                    <a:ext uri="{9D8B030D-6E8A-4147-A177-3AD203B41FA5}">
                      <a16:colId xmlns:a16="http://schemas.microsoft.com/office/drawing/2014/main" val="1896563850"/>
                    </a:ext>
                  </a:extLst>
                </a:gridCol>
                <a:gridCol w="554182">
                  <a:extLst>
                    <a:ext uri="{9D8B030D-6E8A-4147-A177-3AD203B41FA5}">
                      <a16:colId xmlns:a16="http://schemas.microsoft.com/office/drawing/2014/main" val="2818199349"/>
                    </a:ext>
                  </a:extLst>
                </a:gridCol>
              </a:tblGrid>
              <a:tr h="370840">
                <a:tc>
                  <a:txBody>
                    <a:bodyPr/>
                    <a:lstStyle/>
                    <a:p>
                      <a:pPr algn="ctr"/>
                      <a:r>
                        <a:rPr lang="en-US" dirty="0">
                          <a:solidFill>
                            <a:schemeClr val="tx1"/>
                          </a:solidFill>
                        </a:rPr>
                        <a:t>A</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B</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C</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D</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A</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B</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A</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B</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F</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110707"/>
                  </a:ext>
                </a:extLst>
              </a:tr>
              <a:tr h="370840">
                <a:tc>
                  <a:txBody>
                    <a:bodyPr/>
                    <a:lstStyle/>
                    <a:p>
                      <a:pPr algn="ctr"/>
                      <a:r>
                        <a:rPr lang="en-US" dirty="0"/>
                        <a:t>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1553263"/>
                  </a:ext>
                </a:extLst>
              </a:tr>
            </a:tbl>
          </a:graphicData>
        </a:graphic>
      </p:graphicFrame>
    </p:spTree>
    <p:extLst>
      <p:ext uri="{BB962C8B-B14F-4D97-AF65-F5344CB8AC3E}">
        <p14:creationId xmlns:p14="http://schemas.microsoft.com/office/powerpoint/2010/main" val="30310374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2693</TotalTime>
  <Words>7158</Words>
  <Application>Microsoft Office PowerPoint</Application>
  <PresentationFormat>On-screen Show (4:3)</PresentationFormat>
  <Paragraphs>1079</Paragraphs>
  <Slides>68</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Algerian</vt:lpstr>
      <vt:lpstr>Aptos</vt:lpstr>
      <vt:lpstr>Aptos Narrow</vt:lpstr>
      <vt:lpstr>Arial</vt:lpstr>
      <vt:lpstr>Calibri</vt:lpstr>
      <vt:lpstr>Calibri Light</vt:lpstr>
      <vt:lpstr>Times New Roman</vt:lpstr>
      <vt:lpstr>Wingdings</vt:lpstr>
      <vt:lpstr>Retrospect</vt:lpstr>
      <vt:lpstr>DATA STRUCTURES AND APPLICATIONS</vt:lpstr>
      <vt:lpstr>TextBooks</vt:lpstr>
      <vt:lpstr>TopICS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Programming using C</dc:title>
  <dc:creator>Windows User</dc:creator>
  <cp:lastModifiedBy>Priya HN</cp:lastModifiedBy>
  <cp:revision>107</cp:revision>
  <dcterms:created xsi:type="dcterms:W3CDTF">2025-08-29T01:00:54Z</dcterms:created>
  <dcterms:modified xsi:type="dcterms:W3CDTF">2025-10-23T10:34:57Z</dcterms:modified>
</cp:coreProperties>
</file>