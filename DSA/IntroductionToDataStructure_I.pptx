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9" r:id="rId3"/>
    <p:sldId id="270" r:id="rId4"/>
    <p:sldId id="258" r:id="rId5"/>
    <p:sldId id="259" r:id="rId6"/>
    <p:sldId id="260" r:id="rId7"/>
    <p:sldId id="261" r:id="rId8"/>
    <p:sldId id="262" r:id="rId9"/>
    <p:sldId id="263" r:id="rId10"/>
    <p:sldId id="264" r:id="rId11"/>
    <p:sldId id="265" r:id="rId12"/>
    <p:sldId id="266" r:id="rId13"/>
    <p:sldId id="267" r:id="rId14"/>
    <p:sldId id="268" r:id="rId15"/>
    <p:sldId id="271" r:id="rId16"/>
    <p:sldId id="272" r:id="rId17"/>
    <p:sldId id="273" r:id="rId18"/>
    <p:sldId id="274" r:id="rId19"/>
    <p:sldId id="275" r:id="rId20"/>
    <p:sldId id="299" r:id="rId21"/>
    <p:sldId id="302" r:id="rId22"/>
    <p:sldId id="300" r:id="rId23"/>
    <p:sldId id="301" r:id="rId24"/>
    <p:sldId id="276" r:id="rId25"/>
    <p:sldId id="277"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60"/>
  </p:normalViewPr>
  <p:slideViewPr>
    <p:cSldViewPr>
      <p:cViewPr varScale="1">
        <p:scale>
          <a:sx n="70" d="100"/>
          <a:sy n="70" d="100"/>
        </p:scale>
        <p:origin x="1204" y="3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C7D5B429-2941-47A8-BC89-86C2E4686CF3}" type="datetimeFigureOut">
              <a:rPr lang="en-US" smtClean="0"/>
              <a:pPr/>
              <a:t>10/23/2025</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FF5529D7-1925-4C58-B23A-B78C48636FD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7D5B429-2941-47A8-BC89-86C2E4686CF3}" type="datetimeFigureOut">
              <a:rPr lang="en-US" smtClean="0"/>
              <a:pPr/>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529D7-1925-4C58-B23A-B78C48636FDF}"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C7D5B429-2941-47A8-BC89-86C2E4686CF3}" type="datetimeFigureOut">
              <a:rPr lang="en-US" smtClean="0"/>
              <a:pPr/>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529D7-1925-4C58-B23A-B78C48636FDF}"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7D5B429-2941-47A8-BC89-86C2E4686CF3}" type="datetimeFigureOut">
              <a:rPr lang="en-US" smtClean="0"/>
              <a:pPr/>
              <a:t>10/23/2025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5529D7-1925-4C58-B23A-B78C48636FDF}"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C7D5B429-2941-47A8-BC89-86C2E4686CF3}" type="datetimeFigureOut">
              <a:rPr lang="en-US" smtClean="0"/>
              <a:pPr/>
              <a:t>10/23/2025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5529D7-1925-4C58-B23A-B78C48636FD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7D5B429-2941-47A8-BC89-86C2E4686CF3}" type="datetimeFigureOut">
              <a:rPr lang="en-US" smtClean="0"/>
              <a:pPr/>
              <a:t>10/23/2025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5529D7-1925-4C58-B23A-B78C48636FDF}"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D5B429-2941-47A8-BC89-86C2E4686CF3}" type="datetimeFigureOut">
              <a:rPr lang="en-US" smtClean="0"/>
              <a:pPr/>
              <a:t>10/23/2025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5529D7-1925-4C58-B23A-B78C48636FD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C7D5B429-2941-47A8-BC89-86C2E4686CF3}" type="datetimeFigureOut">
              <a:rPr lang="en-US" smtClean="0"/>
              <a:pPr/>
              <a:t>10/23/2025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5529D7-1925-4C58-B23A-B78C48636FD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C7D5B429-2941-47A8-BC89-86C2E4686CF3}" type="datetimeFigureOut">
              <a:rPr lang="en-US" smtClean="0"/>
              <a:pPr/>
              <a:t>10/23/2025</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FF5529D7-1925-4C58-B23A-B78C48636FDF}"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7D5B429-2941-47A8-BC89-86C2E4686CF3}" type="datetimeFigureOut">
              <a:rPr lang="en-US" smtClean="0"/>
              <a:pPr/>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529D7-1925-4C58-B23A-B78C48636FD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7D5B429-2941-47A8-BC89-86C2E4686CF3}" type="datetimeFigureOut">
              <a:rPr lang="en-US" smtClean="0"/>
              <a:pPr/>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529D7-1925-4C58-B23A-B78C48636FD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C7D5B429-2941-47A8-BC89-86C2E4686CF3}" type="datetimeFigureOut">
              <a:rPr lang="en-US" smtClean="0"/>
              <a:pPr/>
              <a:t>10/23/2025</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FF5529D7-1925-4C58-B23A-B78C48636FD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099305"/>
            <a:ext cx="7772400" cy="1829761"/>
          </a:xfrm>
        </p:spPr>
        <p:txBody>
          <a:bodyPr>
            <a:normAutofit/>
          </a:bodyPr>
          <a:lstStyle/>
          <a:p>
            <a:pPr algn="ctr"/>
            <a:r>
              <a:rPr lang="en-US" sz="4400" dirty="0">
                <a:latin typeface="Algerian" pitchFamily="82" charset="0"/>
              </a:rPr>
              <a:t>DATA STRUCTURES AND APPLICATIONS</a:t>
            </a:r>
          </a:p>
        </p:txBody>
      </p:sp>
      <p:sp>
        <p:nvSpPr>
          <p:cNvPr id="5" name="Title 1"/>
          <p:cNvSpPr txBox="1">
            <a:spLocks/>
          </p:cNvSpPr>
          <p:nvPr/>
        </p:nvSpPr>
        <p:spPr>
          <a:xfrm>
            <a:off x="838200" y="3571876"/>
            <a:ext cx="7772400" cy="1357322"/>
          </a:xfrm>
          <a:prstGeom prst="rect">
            <a:avLst/>
          </a:prstGeom>
        </p:spPr>
        <p:txBody>
          <a:bodyPr vert="horz" anchor="b">
            <a:normAutofit/>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Algerian" pitchFamily="82" charset="0"/>
                <a:ea typeface="+mj-ea"/>
                <a:cs typeface="+mj-cs"/>
              </a:rPr>
              <a:t>Module</a:t>
            </a:r>
            <a:r>
              <a:rPr kumimoji="0" lang="en-US" sz="4400" b="1" i="0" u="none" strike="noStrike" kern="1200" cap="none" spc="0" normalizeH="0" noProof="0" dirty="0">
                <a:ln>
                  <a:noFill/>
                </a:ln>
                <a:solidFill>
                  <a:schemeClr val="tx2"/>
                </a:solidFill>
                <a:effectLst>
                  <a:outerShdw blurRad="31750" dist="25400" dir="5400000" algn="tl" rotWithShape="0">
                    <a:srgbClr val="000000">
                      <a:alpha val="25000"/>
                    </a:srgbClr>
                  </a:outerShdw>
                </a:effectLst>
                <a:uLnTx/>
                <a:uFillTx/>
                <a:latin typeface="Algerian" pitchFamily="82" charset="0"/>
                <a:ea typeface="+mj-ea"/>
                <a:cs typeface="+mj-cs"/>
              </a:rPr>
              <a:t> - 1</a:t>
            </a:r>
            <a:endParaRPr kumimoji="0" lang="en-US" sz="44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Algerian" pitchFamily="82" charset="0"/>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4290"/>
            <a:ext cx="7772400" cy="714380"/>
          </a:xfrm>
        </p:spPr>
        <p:txBody>
          <a:bodyPr>
            <a:normAutofit fontScale="90000"/>
          </a:bodyPr>
          <a:lstStyle/>
          <a:p>
            <a:pPr algn="ctr"/>
            <a:r>
              <a:rPr lang="en-US" sz="4400" dirty="0" err="1">
                <a:latin typeface="Algerian" pitchFamily="82" charset="0"/>
              </a:rPr>
              <a:t>TextBooks</a:t>
            </a:r>
            <a:endParaRPr lang="en-US" sz="4400" dirty="0">
              <a:latin typeface="Algerian" pitchFamily="82" charset="0"/>
            </a:endParaRPr>
          </a:p>
        </p:txBody>
      </p:sp>
      <p:sp>
        <p:nvSpPr>
          <p:cNvPr id="5" name="Title 1"/>
          <p:cNvSpPr txBox="1">
            <a:spLocks/>
          </p:cNvSpPr>
          <p:nvPr/>
        </p:nvSpPr>
        <p:spPr>
          <a:xfrm>
            <a:off x="838200" y="1500174"/>
            <a:ext cx="7772400" cy="3429024"/>
          </a:xfrm>
          <a:prstGeom prst="rect">
            <a:avLst/>
          </a:prstGeom>
        </p:spPr>
        <p:txBody>
          <a:bodyPr vert="horz" anchor="b">
            <a:normAutofit/>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Algerian" pitchFamily="82" charset="0"/>
              <a:ea typeface="+mj-ea"/>
              <a:cs typeface="+mj-cs"/>
            </a:endParaRPr>
          </a:p>
        </p:txBody>
      </p:sp>
      <p:sp>
        <p:nvSpPr>
          <p:cNvPr id="4" name="Rectangle 3"/>
          <p:cNvSpPr/>
          <p:nvPr/>
        </p:nvSpPr>
        <p:spPr>
          <a:xfrm>
            <a:off x="642910" y="928670"/>
            <a:ext cx="7929618" cy="5355312"/>
          </a:xfrm>
          <a:prstGeom prst="rect">
            <a:avLst/>
          </a:prstGeom>
        </p:spPr>
        <p:txBody>
          <a:bodyPr wrap="square">
            <a:spAutoFit/>
          </a:bodyPr>
          <a:lstStyle/>
          <a:p>
            <a:r>
              <a:rPr lang="en-US" b="1" dirty="0"/>
              <a:t>Textbook:</a:t>
            </a:r>
          </a:p>
          <a:p>
            <a:r>
              <a:rPr lang="en-US" dirty="0"/>
              <a:t>1. Ellis Horowitz, </a:t>
            </a:r>
            <a:r>
              <a:rPr lang="en-US" dirty="0" err="1"/>
              <a:t>Sartaj</a:t>
            </a:r>
            <a:r>
              <a:rPr lang="en-US" dirty="0"/>
              <a:t> </a:t>
            </a:r>
            <a:r>
              <a:rPr lang="en-US" dirty="0" err="1"/>
              <a:t>Sahni</a:t>
            </a:r>
            <a:r>
              <a:rPr lang="en-US" dirty="0"/>
              <a:t> and Susan Anderson-Freed, Fundamentals of Data Structures in C, 2nd Ed, Universities Press, 2014</a:t>
            </a:r>
          </a:p>
          <a:p>
            <a:r>
              <a:rPr lang="en-US" b="1" dirty="0"/>
              <a:t>Reference Books:</a:t>
            </a:r>
          </a:p>
          <a:p>
            <a:r>
              <a:rPr lang="en-US" dirty="0"/>
              <a:t>1. Seymour </a:t>
            </a:r>
            <a:r>
              <a:rPr lang="en-US" dirty="0" err="1"/>
              <a:t>Lipschutz</a:t>
            </a:r>
            <a:r>
              <a:rPr lang="en-US" dirty="0"/>
              <a:t>, Data Structures </a:t>
            </a:r>
            <a:r>
              <a:rPr lang="en-US" dirty="0" err="1"/>
              <a:t>Schaum's</a:t>
            </a:r>
            <a:r>
              <a:rPr lang="en-US" dirty="0"/>
              <a:t> Outlines, Revised 1st Ed, McGraw Hill,</a:t>
            </a:r>
          </a:p>
          <a:p>
            <a:r>
              <a:rPr lang="en-US" dirty="0"/>
              <a:t>2014.</a:t>
            </a:r>
          </a:p>
          <a:p>
            <a:r>
              <a:rPr lang="en-US" dirty="0"/>
              <a:t>2. </a:t>
            </a:r>
            <a:r>
              <a:rPr lang="en-US" dirty="0" err="1"/>
              <a:t>Gilberg</a:t>
            </a:r>
            <a:r>
              <a:rPr lang="en-US" dirty="0"/>
              <a:t> &amp; </a:t>
            </a:r>
            <a:r>
              <a:rPr lang="en-US" dirty="0" err="1"/>
              <a:t>Forouzan</a:t>
            </a:r>
            <a:r>
              <a:rPr lang="en-US" dirty="0"/>
              <a:t>, Data Structures: A Pseudo-code approach with C, 2nd Ed, </a:t>
            </a:r>
            <a:r>
              <a:rPr lang="en-US" dirty="0" err="1"/>
              <a:t>Cengage</a:t>
            </a:r>
            <a:endParaRPr lang="en-US" dirty="0"/>
          </a:p>
          <a:p>
            <a:r>
              <a:rPr lang="en-US" dirty="0"/>
              <a:t>Learning,2014.</a:t>
            </a:r>
          </a:p>
          <a:p>
            <a:r>
              <a:rPr lang="en-US" dirty="0"/>
              <a:t>3. </a:t>
            </a:r>
            <a:r>
              <a:rPr lang="en-US" dirty="0" err="1"/>
              <a:t>Reema</a:t>
            </a:r>
            <a:r>
              <a:rPr lang="en-US" dirty="0"/>
              <a:t> </a:t>
            </a:r>
            <a:r>
              <a:rPr lang="en-US" dirty="0" err="1"/>
              <a:t>Thareja</a:t>
            </a:r>
            <a:r>
              <a:rPr lang="en-US" dirty="0"/>
              <a:t>, Data Structures using C, 3rd Ed, Oxford press, 2012.</a:t>
            </a:r>
          </a:p>
          <a:p>
            <a:r>
              <a:rPr lang="en-US" dirty="0"/>
              <a:t>4. Jean-Paul Tremblay &amp; Paul G. Sorenson, An Introduction to Data Structures with</a:t>
            </a:r>
          </a:p>
          <a:p>
            <a:r>
              <a:rPr lang="en-US" dirty="0"/>
              <a:t>Applications, 2nd Ed, McGraw Hill, 2013</a:t>
            </a:r>
          </a:p>
          <a:p>
            <a:r>
              <a:rPr lang="en-US" dirty="0"/>
              <a:t>5. A M </a:t>
            </a:r>
            <a:r>
              <a:rPr lang="en-US" dirty="0" err="1"/>
              <a:t>Tenenbaum</a:t>
            </a:r>
            <a:r>
              <a:rPr lang="en-US" dirty="0"/>
              <a:t>, Data Structures using C, PHI, 1989</a:t>
            </a:r>
          </a:p>
          <a:p>
            <a:r>
              <a:rPr lang="en-US" dirty="0"/>
              <a:t>6. Robert Kruse, Data Structures and Program Design in C, 2nd Ed, PHI, 1996.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4290"/>
            <a:ext cx="7772400" cy="714380"/>
          </a:xfrm>
        </p:spPr>
        <p:txBody>
          <a:bodyPr>
            <a:normAutofit fontScale="90000"/>
          </a:bodyPr>
          <a:lstStyle/>
          <a:p>
            <a:pPr algn="ctr"/>
            <a:r>
              <a:rPr lang="en-IN" sz="4400" dirty="0" err="1">
                <a:latin typeface="Algerian" pitchFamily="82" charset="0"/>
              </a:rPr>
              <a:t>TopICS</a:t>
            </a:r>
            <a:endParaRPr lang="en-US" sz="4400" dirty="0">
              <a:latin typeface="Algerian" pitchFamily="82" charset="0"/>
            </a:endParaRPr>
          </a:p>
        </p:txBody>
      </p:sp>
      <p:sp>
        <p:nvSpPr>
          <p:cNvPr id="5" name="Title 1"/>
          <p:cNvSpPr txBox="1">
            <a:spLocks/>
          </p:cNvSpPr>
          <p:nvPr/>
        </p:nvSpPr>
        <p:spPr>
          <a:xfrm>
            <a:off x="838200" y="1500174"/>
            <a:ext cx="7772400" cy="3429024"/>
          </a:xfrm>
          <a:prstGeom prst="rect">
            <a:avLst/>
          </a:prstGeom>
        </p:spPr>
        <p:txBody>
          <a:bodyPr vert="horz" anchor="b">
            <a:normAutofit/>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Algerian" pitchFamily="82" charset="0"/>
              <a:ea typeface="+mj-ea"/>
              <a:cs typeface="+mj-cs"/>
            </a:endParaRPr>
          </a:p>
        </p:txBody>
      </p:sp>
      <p:sp>
        <p:nvSpPr>
          <p:cNvPr id="4" name="Title 1"/>
          <p:cNvSpPr txBox="1">
            <a:spLocks/>
          </p:cNvSpPr>
          <p:nvPr/>
        </p:nvSpPr>
        <p:spPr>
          <a:xfrm>
            <a:off x="642910" y="1357298"/>
            <a:ext cx="7915276" cy="4143404"/>
          </a:xfrm>
          <a:prstGeom prst="rect">
            <a:avLst/>
          </a:prstGeom>
        </p:spPr>
        <p:txBody>
          <a:bodyPr vert="horz" anchor="b">
            <a:normAutofit fontScale="97500"/>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Algerian" pitchFamily="82" charset="0"/>
              <a:ea typeface="+mj-ea"/>
              <a:cs typeface="+mj-cs"/>
            </a:endParaRPr>
          </a:p>
        </p:txBody>
      </p:sp>
      <p:sp>
        <p:nvSpPr>
          <p:cNvPr id="7" name="Rectangle 6"/>
          <p:cNvSpPr/>
          <p:nvPr/>
        </p:nvSpPr>
        <p:spPr>
          <a:xfrm>
            <a:off x="714348" y="785794"/>
            <a:ext cx="7929618" cy="6001643"/>
          </a:xfrm>
          <a:prstGeom prst="rect">
            <a:avLst/>
          </a:prstGeom>
        </p:spPr>
        <p:txBody>
          <a:bodyPr wrap="square">
            <a:spAutoFit/>
          </a:bodyPr>
          <a:lstStyle/>
          <a:p>
            <a:pPr>
              <a:buFont typeface="Arial" pitchFamily="34" charset="0"/>
              <a:buChar char="•"/>
            </a:pPr>
            <a:r>
              <a:rPr lang="en-US" sz="2400" b="1" dirty="0">
                <a:effectLst>
                  <a:outerShdw blurRad="31750" dist="25400" dir="5400000" algn="tl" rotWithShape="0">
                    <a:srgbClr val="000000">
                      <a:alpha val="25000"/>
                    </a:srgbClr>
                  </a:outerShdw>
                </a:effectLst>
                <a:latin typeface="Times New Roman" pitchFamily="18" charset="0"/>
                <a:cs typeface="Times New Roman" pitchFamily="18" charset="0"/>
              </a:rPr>
              <a:t>INTRODUCTION TO DATA STRUCTURES</a:t>
            </a:r>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Data Structures</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Classifications (Primitive &amp; Non-Primitive)</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Data structure Operations</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Review of pointers and dynamic Memory Allocation</a:t>
            </a:r>
          </a:p>
          <a:p>
            <a:r>
              <a:rPr lang="en-US" sz="2400" b="1" dirty="0">
                <a:effectLst>
                  <a:outerShdw blurRad="31750" dist="25400" dir="5400000" algn="tl" rotWithShape="0">
                    <a:srgbClr val="000000">
                      <a:alpha val="25000"/>
                    </a:srgbClr>
                  </a:outerShdw>
                </a:effectLst>
                <a:latin typeface="Times New Roman" pitchFamily="18" charset="0"/>
                <a:cs typeface="Times New Roman" pitchFamily="18" charset="0"/>
              </a:rPr>
              <a:t>ARRAYS and STRUCTURES</a:t>
            </a:r>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Arrays</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Dynamic Allocated Arrays </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Structures and Unions</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Polynomials </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Sparse Matrices</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representation of Multidimensional Arrays</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Strings</a:t>
            </a:r>
          </a:p>
          <a:p>
            <a:r>
              <a:rPr lang="en-US" sz="2400" b="1" dirty="0">
                <a:effectLst>
                  <a:outerShdw blurRad="31750" dist="25400" dir="5400000" algn="tl" rotWithShape="0">
                    <a:srgbClr val="000000">
                      <a:alpha val="25000"/>
                    </a:srgbClr>
                  </a:outerShdw>
                </a:effectLst>
                <a:latin typeface="Times New Roman" pitchFamily="18" charset="0"/>
                <a:cs typeface="Times New Roman" pitchFamily="18" charset="0"/>
              </a:rPr>
              <a:t>STACKS</a:t>
            </a:r>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 Stacks</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Stacks Using Dynamic Arrays</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Evaluation and conversion of Expressions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785794"/>
            <a:ext cx="8429684" cy="5715040"/>
          </a:xfrm>
          <a:prstGeom prst="rect">
            <a:avLst/>
          </a:prstGeom>
        </p:spPr>
        <p:txBody>
          <a:bodyPr>
            <a:normAutofit/>
          </a:bodyPr>
          <a:lstStyle/>
          <a:p>
            <a:r>
              <a:rPr lang="en-US" sz="2800" dirty="0"/>
              <a:t> </a:t>
            </a:r>
            <a:r>
              <a:rPr lang="en-US" sz="4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Introduction to Data Structures </a:t>
            </a:r>
          </a:p>
          <a:p>
            <a:endParaRPr lang="en-US" sz="2400" dirty="0"/>
          </a:p>
          <a:p>
            <a:r>
              <a:rPr lang="en-US"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Data Structure is a way of collecting and organizing data in such a way that we can perform operations on these data in an effective way. Data Structures is about rendering data elements in terms of some relationship, for better organization and storage. For example, we have data player's name "</a:t>
            </a:r>
            <a:r>
              <a:rPr lang="en-US" sz="26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Virat</a:t>
            </a:r>
            <a:r>
              <a:rPr lang="en-US"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and age 26. Here "</a:t>
            </a:r>
            <a:r>
              <a:rPr lang="en-US" sz="26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Virat</a:t>
            </a:r>
            <a:r>
              <a:rPr lang="en-US"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is of String data type and 26 is of integer data type. </a:t>
            </a:r>
          </a:p>
          <a:p>
            <a:r>
              <a:rPr lang="en-US"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We can organize this data as a record like Player record. Now we can collect and store player's records in a file or database as a data structure. For example: "</a:t>
            </a:r>
            <a:r>
              <a:rPr lang="en-US" sz="26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Dhoni</a:t>
            </a:r>
            <a:r>
              <a:rPr lang="en-US"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30, "</a:t>
            </a:r>
            <a:r>
              <a:rPr lang="en-US" sz="26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Gambhir</a:t>
            </a:r>
            <a:r>
              <a:rPr lang="en-US"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31, "</a:t>
            </a:r>
            <a:r>
              <a:rPr lang="en-US" sz="26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Sehwag</a:t>
            </a:r>
            <a:r>
              <a:rPr lang="en-US"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33. </a:t>
            </a:r>
          </a:p>
          <a:p>
            <a:pPr lvl="0">
              <a:spcBef>
                <a:spcPct val="0"/>
              </a:spcBef>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1214422"/>
            <a:ext cx="8429684" cy="6000792"/>
          </a:xfrm>
          <a:prstGeom prst="rect">
            <a:avLst/>
          </a:prstGeom>
        </p:spPr>
        <p:txBody>
          <a:bodyPr>
            <a:normAutofit/>
          </a:bodyPr>
          <a:lstStyle/>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In simple language, Data Structures are structures programmed to store ordered data, so that various operations can be performed on it easily.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It represents the knowledge of data to be organized in memory. It should be designed and implemented in such a way that it reduces the complexity and increases the efficiency.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Data may be organized in many different ways. The logical or mathematical model of a particular organization of data is called a data structure. </a:t>
            </a:r>
          </a:p>
          <a:p>
            <a:endParaRPr lang="en-US" sz="2400" b="1" dirty="0"/>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fontScale="85000" lnSpcReduction="20000"/>
          </a:bodyPr>
          <a:lstStyle/>
          <a:p>
            <a:endParaRPr lang="en-US" sz="3200" dirty="0"/>
          </a:p>
          <a:p>
            <a:r>
              <a:rPr lang="en-US"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3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Classification of data structures</a:t>
            </a:r>
          </a:p>
          <a:p>
            <a:endParaRPr lang="en-US" sz="3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Data structures are generally categorized into two classes: </a:t>
            </a:r>
          </a:p>
          <a:p>
            <a:r>
              <a:rPr lang="en-US"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Primitive data Structures </a:t>
            </a:r>
          </a:p>
          <a:p>
            <a:r>
              <a:rPr lang="en-US"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Non-primitive data Structures </a:t>
            </a:r>
          </a:p>
          <a:p>
            <a:endParaRPr lang="en-US"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6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Primitive Data Structures </a:t>
            </a:r>
          </a:p>
          <a:p>
            <a:r>
              <a:rPr lang="en-US"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Primitive data structures are the fundamental data types which are supported by a programming language. Some basic data types are integer, real, character, and Boolean. The terms ‘data type’, ‘basic data type’, and ‘primitive data type’ are often used interchangeably.</a:t>
            </a:r>
          </a:p>
          <a:p>
            <a:r>
              <a:rPr lang="en-IN"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Examples : </a:t>
            </a:r>
            <a:endParaRPr lang="en-US"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Whole numbers (no fractional part) C: </a:t>
            </a:r>
            <a:r>
              <a:rPr lang="en-US" sz="26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x = 10;</a:t>
            </a:r>
          </a:p>
          <a:p>
            <a:r>
              <a:rPr lang="en-US"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Real numbers with fractional part. C: double d = 3.14</a:t>
            </a:r>
          </a:p>
          <a:p>
            <a:r>
              <a:rPr lang="en-US"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Single character ; char c = 'A';</a:t>
            </a:r>
          </a:p>
          <a:p>
            <a:r>
              <a:rPr lang="en-US"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Pointer / Reference (language-specific) ; </a:t>
            </a:r>
            <a:r>
              <a:rPr lang="fr-FR"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Code: C: </a:t>
            </a:r>
            <a:r>
              <a:rPr lang="fr-FR" sz="26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fr-FR"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*p = &amp;x;</a:t>
            </a:r>
          </a:p>
          <a:p>
            <a:r>
              <a:rPr lang="en-US"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Boolean : _</a:t>
            </a:r>
            <a:r>
              <a:rPr lang="en-US" sz="26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Bool</a:t>
            </a:r>
            <a:r>
              <a:rPr lang="en-US"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b = 1</a:t>
            </a:r>
            <a:endParaRPr lang="fr-FR" sz="26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400" dirty="0">
                <a:solidFill>
                  <a:schemeClr val="bg2">
                    <a:lumMod val="10000"/>
                  </a:schemeClr>
                </a:solidFill>
                <a:latin typeface="Times New Roman" pitchFamily="18" charset="0"/>
                <a:cs typeface="Times New Roman" pitchFamily="18" charset="0"/>
              </a:rPr>
              <a:t> </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r>
              <a:rPr lang="en-US" sz="2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Non-Primitive Data Structures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Non-primitive data structures are those data structures which are created using primitive data structures. Examples of such data structures include linked lists, stacks, trees, and graphs.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Arrays: Fixed-size collection of elements of the same type.</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Linked Lists: Elements (nodes) linked using pointers; can be singly, doubly, or circular.</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Stacks: Follows Last-In-First-Out (LIFO) principle.</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Queues: Follows First-In-First-Out (FIFO) principle.</a:t>
            </a:r>
          </a:p>
          <a:p>
            <a:endPar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Based on the structure and arrangement of data, non-primitive data structures is further classified into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Linear Data Structure </a:t>
            </a:r>
            <a:endParaRPr lang="en-US" sz="2400" dirty="0"/>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Non-linear Data Structure </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endParaRPr lang="en-IN" sz="2600" dirty="0">
              <a:solidFill>
                <a:schemeClr val="bg2">
                  <a:lumMod val="10000"/>
                </a:schemeClr>
              </a:solidFill>
              <a:latin typeface="Times New Roman" pitchFamily="18" charset="0"/>
              <a:cs typeface="Times New Roman"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
        <p:nvSpPr>
          <p:cNvPr id="4" name="TextBox 3"/>
          <p:cNvSpPr txBox="1"/>
          <p:nvPr/>
        </p:nvSpPr>
        <p:spPr>
          <a:xfrm>
            <a:off x="285720" y="691764"/>
            <a:ext cx="8072494" cy="4308872"/>
          </a:xfrm>
          <a:prstGeom prst="rect">
            <a:avLst/>
          </a:prstGeom>
          <a:noFill/>
        </p:spPr>
        <p:txBody>
          <a:bodyPr wrap="square" rtlCol="0">
            <a:sp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Linear data Structures </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the elements of a data structure are stored in a linear or sequential order, then it is a linear data structure. Examples include arrays, linked lists, stacks, and queues. </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Linear data structures can be represented in memory in two different ways.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One way is to have to a linear relationship between elements by means of sequential memory locations.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The other way is to have a linear relationship between elements by means of links.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endParaRPr lang="en-IN" sz="2600" dirty="0">
              <a:solidFill>
                <a:schemeClr val="bg2">
                  <a:lumMod val="10000"/>
                </a:schemeClr>
              </a:solidFill>
              <a:latin typeface="Times New Roman" pitchFamily="18" charset="0"/>
              <a:cs typeface="Times New Roman"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
        <p:nvSpPr>
          <p:cNvPr id="4" name="TextBox 3"/>
          <p:cNvSpPr txBox="1"/>
          <p:nvPr/>
        </p:nvSpPr>
        <p:spPr>
          <a:xfrm>
            <a:off x="285720" y="857232"/>
            <a:ext cx="8072494" cy="3447098"/>
          </a:xfrm>
          <a:prstGeom prst="rect">
            <a:avLst/>
          </a:prstGeom>
          <a:noFill/>
        </p:spPr>
        <p:txBody>
          <a:bodyPr wrap="square" rtlCol="0">
            <a:sp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Non-linear data Structures </a:t>
            </a:r>
          </a:p>
          <a:p>
            <a:pPr>
              <a:spcBef>
                <a:spcPct val="0"/>
              </a:spcBef>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the elements of a data structure are not stored in a sequential order, then it is a non-linear data structure.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The relationship of adjacency is not maintained between elements of a non-linear data structure.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This structure is mainly used to represent data containing a hierarchical relationship between elements. </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Examples include trees and graphs. </a:t>
            </a:r>
          </a:p>
        </p:txBody>
      </p:sp>
      <p:pic>
        <p:nvPicPr>
          <p:cNvPr id="3" name="Picture 2"/>
          <p:cNvPicPr>
            <a:picLocks noChangeAspect="1" noChangeArrowheads="1"/>
          </p:cNvPicPr>
          <p:nvPr/>
        </p:nvPicPr>
        <p:blipFill>
          <a:blip r:embed="rId2"/>
          <a:srcRect/>
          <a:stretch>
            <a:fillRect/>
          </a:stretch>
        </p:blipFill>
        <p:spPr bwMode="auto">
          <a:xfrm>
            <a:off x="304800" y="1571625"/>
            <a:ext cx="8534400" cy="371475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
        <p:nvSpPr>
          <p:cNvPr id="4" name="TextBox 3"/>
          <p:cNvSpPr txBox="1"/>
          <p:nvPr/>
        </p:nvSpPr>
        <p:spPr>
          <a:xfrm>
            <a:off x="285720" y="500042"/>
            <a:ext cx="8072494" cy="2769989"/>
          </a:xfrm>
          <a:prstGeom prst="rect">
            <a:avLst/>
          </a:prstGeom>
          <a:noFill/>
        </p:spPr>
        <p:txBody>
          <a:bodyPr wrap="square" rtlCol="0">
            <a:sp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Data structure Operations </a:t>
            </a:r>
          </a:p>
          <a:p>
            <a:pPr>
              <a:spcBef>
                <a:spcPct val="0"/>
              </a:spcBef>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Data are processed by means of certain operations which appearing in the data structure. In fact, particular data structure that one chooses for a given situation depends largely on the frequency with which specific operations are performed. This section introduces the reader to some of the most frequently used of these operations.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Data structure Operations </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
        <p:nvSpPr>
          <p:cNvPr id="4" name="TextBox 3"/>
          <p:cNvSpPr txBox="1"/>
          <p:nvPr/>
        </p:nvSpPr>
        <p:spPr>
          <a:xfrm>
            <a:off x="357158" y="1345718"/>
            <a:ext cx="8143932" cy="4154984"/>
          </a:xfrm>
          <a:prstGeom prst="rect">
            <a:avLst/>
          </a:prstGeom>
          <a:noFill/>
        </p:spPr>
        <p:txBody>
          <a:bodyPr wrap="square" rtlCol="0">
            <a:spAutoFit/>
          </a:bodyPr>
          <a:lstStyle/>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(1) Traversing: Accessing each record exactly once so that certain items in the record may be processed (This accessing and processing is sometimes called visiting the record).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(2) Searching: Finding the location of the record with a given key value, or finding the location of all records which satisfy one or more conditions.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(3) Inserting: Adding a new record to the structure.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(4) Deleting: Removing the record from the structure.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(5) Sorting: Arranging the data or record in some logical order (Ascending or descending order).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(6) Merging: Combining the record in two different sorted files into a single sorted file.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
        <p:nvSpPr>
          <p:cNvPr id="4" name="TextBox 3"/>
          <p:cNvSpPr txBox="1"/>
          <p:nvPr/>
        </p:nvSpPr>
        <p:spPr>
          <a:xfrm>
            <a:off x="285720" y="710400"/>
            <a:ext cx="8072494" cy="4154984"/>
          </a:xfrm>
          <a:prstGeom prst="rect">
            <a:avLst/>
          </a:prstGeom>
          <a:noFill/>
        </p:spPr>
        <p:txBody>
          <a:bodyPr wrap="square" rtlCol="0">
            <a:spAutoFit/>
          </a:bodyPr>
          <a:lstStyle/>
          <a:p>
            <a:r>
              <a:rPr lang="en-US" sz="2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POINTERS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In computer science, a pointer is a programming language data type whose value refers directly to (or "points to") another value stored elsewhere in the computer memory using its address.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This is a memory-location which holds the address of another memory-location.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The 2 most important operators used w.r.t pointer are: </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&amp; (address operator)  - Gets the memory address of a variable</a:t>
            </a:r>
          </a:p>
          <a:p>
            <a:pPr>
              <a:buFont typeface="Arial" charset="0"/>
              <a:buChar char="•"/>
            </a:pP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(dereferencing/indirection operator) - Accesses the value stored at that address</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
        <p:nvSpPr>
          <p:cNvPr id="5" name="Rectangle 4"/>
          <p:cNvSpPr/>
          <p:nvPr/>
        </p:nvSpPr>
        <p:spPr>
          <a:xfrm>
            <a:off x="285720" y="2380300"/>
            <a:ext cx="8286808" cy="923330"/>
          </a:xfrm>
          <a:prstGeom prst="rect">
            <a:avLst/>
          </a:prstGeom>
        </p:spPr>
        <p:txBody>
          <a:bodyPr wrap="square">
            <a:spAutoFit/>
          </a:bodyPr>
          <a:lstStyle/>
          <a:p>
            <a:endParaRPr lang="en-US" dirty="0"/>
          </a:p>
          <a:p>
            <a:endParaRPr lang="en-IN" b="1" dirty="0"/>
          </a:p>
          <a:p>
            <a:endParaRPr lang="en-US" dirty="0"/>
          </a:p>
        </p:txBody>
      </p:sp>
      <p:sp>
        <p:nvSpPr>
          <p:cNvPr id="6" name="Rectangle 5"/>
          <p:cNvSpPr/>
          <p:nvPr/>
        </p:nvSpPr>
        <p:spPr>
          <a:xfrm>
            <a:off x="714348" y="857232"/>
            <a:ext cx="7929618" cy="6524863"/>
          </a:xfrm>
          <a:prstGeom prst="rect">
            <a:avLst/>
          </a:prstGeom>
        </p:spPr>
        <p:txBody>
          <a:bodyPr wrap="square">
            <a:spAutoFit/>
          </a:bodyPr>
          <a:lstStyle/>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#include &lt;</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stdio.h</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&gt;</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main()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num = 10;         // A normal integer variable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ptr</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 pointer to an integer</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ptr</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&amp;num;           // Store the address of num in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ptr</a:t>
            </a:r>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("Value of num: %d\n", num);         // Prints 10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("Address of num: %p\n", &amp;num);      // Prints address of num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("Value using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ptr</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%d\n",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ptr</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Dereference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ptr</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to get value of num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("Address stored in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ptr</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%p\n",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ptr</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Same as &amp;num</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return 0;</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pPr algn="r"/>
            <a:r>
              <a:rPr lang="en-US"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Output : Value of num: 10</a:t>
            </a:r>
          </a:p>
          <a:p>
            <a:pPr algn="r"/>
            <a:r>
              <a:rPr lang="en-US"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Address of num: 0x7ffeefbff5ac</a:t>
            </a:r>
          </a:p>
          <a:p>
            <a:pPr algn="r"/>
            <a:r>
              <a:rPr lang="en-US"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Value using </a:t>
            </a:r>
            <a:r>
              <a:rPr lang="en-US"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ptr</a:t>
            </a:r>
            <a:r>
              <a:rPr lang="en-US"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10</a:t>
            </a:r>
          </a:p>
          <a:p>
            <a:pPr algn="r"/>
            <a:r>
              <a:rPr lang="en-US"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Address stored in </a:t>
            </a:r>
            <a:r>
              <a:rPr lang="en-US"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ptr</a:t>
            </a:r>
            <a:r>
              <a:rPr lang="en-US"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0x7ffeefbff5ac</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lnSpcReduction="10000"/>
          </a:bodyPr>
          <a:lstStyle/>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#include&lt;</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stdio.h</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&gt;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void main()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a=10,b=20; //Declare a data variable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*p,*q; //Declare a pointer variable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p=&amp;a, q=&amp;b; //Initialize a pointer variable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x=*p + *q;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("%d+%d=%d",*p,*q, x); //Access data using pointer variable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NULL POINTER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The null pointer points to no object or function. </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i.e. it does not point to any part of the memory.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if(p==NULL)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 does not point to any memory");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else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("access the value of p");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1000108"/>
            <a:ext cx="8429684" cy="5715040"/>
          </a:xfrm>
          <a:prstGeom prst="rect">
            <a:avLst/>
          </a:prstGeom>
        </p:spPr>
        <p:txBody>
          <a:bodyPr>
            <a:noAutofit/>
          </a:bodyPr>
          <a:lstStyle/>
          <a:p>
            <a:r>
              <a:rPr lang="en-US" sz="2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DYNAMIC MEMORY ALLOCATION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This is process of allocating memory-space during execution-time (or run-time).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This is used if there is an unpredictable storage requirement.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Memory-allocation is done on a heap.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Memory management functions include:</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malloc</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(memory allocate)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calloc</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(contiguous memory allocate) </a:t>
            </a:r>
            <a:endParaRPr lang="en-US" sz="2400" dirty="0"/>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realloc</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(resize memory)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free (de-allocate memory) </a:t>
            </a:r>
          </a:p>
          <a:p>
            <a:endParaRPr lang="en-US" sz="2400" dirty="0"/>
          </a:p>
          <a:p>
            <a:endParaRPr lang="en-US" sz="2400" dirty="0"/>
          </a:p>
          <a:p>
            <a:endParaRPr lang="en-US" sz="2400" dirty="0"/>
          </a:p>
          <a:p>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Why is Dynamic Memory Allocation required?</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 C, if you use static memory allocation (like arrays), you must decide the size before the program runs. That’s a problem when:</a:t>
            </a:r>
          </a:p>
          <a:p>
            <a:pPr>
              <a:buFont typeface="Arial" pitchFamily="34" charset="0"/>
              <a:buChar char="•"/>
            </a:pP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You don’t know how much data you’ll need </a:t>
            </a:r>
          </a:p>
          <a:p>
            <a:pPr>
              <a:buFont typeface="Arial" pitchFamily="34" charset="0"/>
              <a:buChar char="•"/>
            </a:pP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You want to adjust memory size during execution</a:t>
            </a:r>
          </a:p>
          <a:p>
            <a:pPr>
              <a:buFont typeface="Arial" pitchFamily="34" charset="0"/>
              <a:buChar char="•"/>
            </a:pP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You need to store large or variable-sized data</a:t>
            </a:r>
          </a:p>
          <a:p>
            <a:pPr>
              <a:buFont typeface="Arial" pitchFamily="34" charset="0"/>
              <a:buChar char="•"/>
            </a:pPr>
            <a:endPar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Static Memory allocation drawbacks</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arr</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[100];  // Fixed size, even if you only need 10 elements</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This wastes memory or crashes if you need more than 100.</a:t>
            </a:r>
          </a:p>
          <a:p>
            <a:endPar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How Dynamic Memory Allocation is useful?</a:t>
            </a:r>
          </a:p>
          <a:p>
            <a:pPr>
              <a:buFontTx/>
              <a:buChar char="-"/>
            </a:pP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Allocate memory at </a:t>
            </a:r>
            <a:r>
              <a:rPr lang="en-IN"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RunTime</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You can ask the system for memory while the program is running, based on user input or file size</a:t>
            </a:r>
          </a:p>
          <a:p>
            <a:pPr>
              <a:buFontTx/>
              <a:buChar char="-"/>
            </a:pP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arr</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malloc</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 *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sizeof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n decided at runtime</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Create Flexible Data Structures</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Helps in building:</a:t>
            </a:r>
          </a:p>
          <a:p>
            <a:pPr>
              <a:buFont typeface="Arial" pitchFamily="34" charset="0"/>
              <a:buChar char="•"/>
            </a:pP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Linked lists</a:t>
            </a:r>
          </a:p>
          <a:p>
            <a:pPr>
              <a:buFont typeface="Arial" pitchFamily="34" charset="0"/>
              <a:buChar char="•"/>
            </a:pP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Trees</a:t>
            </a:r>
          </a:p>
          <a:p>
            <a:pPr>
              <a:buFont typeface="Arial" pitchFamily="34" charset="0"/>
              <a:buChar char="•"/>
            </a:pP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Graphs</a:t>
            </a:r>
          </a:p>
          <a:p>
            <a:pPr>
              <a:buFont typeface="Arial" pitchFamily="34" charset="0"/>
              <a:buChar char="•"/>
            </a:pP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Queues and stacks</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These structures grow and shrink as needed, thanks to pointers and dynamic memory.</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3. Optimize Memory Usage</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You only use memory when needed, and you can release it when done using free()—no waste!</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4. Handle Unknown or Large Data</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Perfect for reading files, processing user input, or handling real-time data streams where size isn’t known in advance.</a:t>
            </a:r>
          </a:p>
          <a:p>
            <a:endParaRPr lang="en-US" sz="2400" dirty="0"/>
          </a:p>
          <a:p>
            <a:endParaRPr lang="en-US" sz="2200" b="1" dirty="0"/>
          </a:p>
        </p:txBody>
      </p:sp>
      <p:sp>
        <p:nvSpPr>
          <p:cNvPr id="4" name="TextBox 3"/>
          <p:cNvSpPr txBox="1"/>
          <p:nvPr/>
        </p:nvSpPr>
        <p:spPr>
          <a:xfrm>
            <a:off x="285720" y="571481"/>
            <a:ext cx="8358246" cy="1200329"/>
          </a:xfrm>
          <a:prstGeom prst="rect">
            <a:avLst/>
          </a:prstGeom>
          <a:noFill/>
        </p:spPr>
        <p:txBody>
          <a:bodyPr wrap="square" rtlCol="0">
            <a:spAutoFit/>
          </a:bodyPr>
          <a:lstStyle/>
          <a:p>
            <a:endParaRPr lang="en-US" sz="2400" dirty="0"/>
          </a:p>
          <a:p>
            <a:r>
              <a:rPr lang="en-US" sz="2400" dirty="0">
                <a:solidFill>
                  <a:schemeClr val="bg2">
                    <a:lumMod val="10000"/>
                  </a:schemeClr>
                </a:solidFill>
                <a:latin typeface="Times New Roman" pitchFamily="18" charset="0"/>
                <a:cs typeface="Times New Roman" pitchFamily="18" charset="0"/>
              </a:rPr>
              <a:t> </a:t>
            </a:r>
          </a:p>
          <a:p>
            <a:endParaRPr lang="en-US" sz="2400" dirty="0">
              <a:solidFill>
                <a:schemeClr val="bg2">
                  <a:lumMod val="10000"/>
                </a:schemeClr>
              </a:solidFill>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R="0" lvl="0" indent="0" fontAlgn="auto">
              <a:lnSpc>
                <a:spcPct val="100000"/>
              </a:lnSpc>
              <a:spcBef>
                <a:spcPct val="0"/>
              </a:spcBef>
              <a:spcAft>
                <a:spcPts val="0"/>
              </a:spcAft>
              <a:buClrTx/>
              <a:buSzTx/>
              <a:buFontTx/>
              <a:buNone/>
              <a:tabLst/>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357166"/>
            <a:ext cx="8072494" cy="6894195"/>
          </a:xfrm>
          <a:prstGeom prst="rect">
            <a:avLst/>
          </a:prstGeom>
          <a:noFill/>
        </p:spPr>
        <p:txBody>
          <a:bodyPr wrap="square" rtlCol="0">
            <a:spAutoFit/>
          </a:bodyPr>
          <a:lstStyle/>
          <a:p>
            <a:r>
              <a:rPr lang="en-US" sz="2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MALLOC</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(Memory allocate)</a:t>
            </a:r>
          </a:p>
          <a:p>
            <a:pPr marL="342900" indent="-342900">
              <a:buFont typeface="Wingdings" panose="05000000000000000000" pitchFamily="2" charset="2"/>
              <a:buChar char="Ø"/>
            </a:pP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This function is used to allocate required amount of memory-space during run-time.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If memory allocation succeeds, then address of first byte of allocated space is returned. If memory allocation fails, then NULL is returned.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#include&lt;</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stdio.h</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&gt;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void main()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,*pi;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pi=(</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malloc</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sizeof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*pi=1024; </a:t>
            </a:r>
          </a:p>
          <a:p>
            <a:r>
              <a:rPr lang="de-DE"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printf("an integer =%d",pi);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free(pi);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DANGLING REFERENCE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Whenever all pointers to a dynamically allocated area of storage are lost, the storage is lost to the program. This is called a dangling reference. </a:t>
            </a:r>
          </a:p>
          <a:p>
            <a:endParaRPr lang="en-US" sz="2400" dirty="0">
              <a:solidFill>
                <a:schemeClr val="bg2">
                  <a:lumMod val="10000"/>
                </a:schemeClr>
              </a:solidFill>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R="0" lvl="0" indent="0" fontAlgn="auto">
              <a:lnSpc>
                <a:spcPct val="100000"/>
              </a:lnSpc>
              <a:spcBef>
                <a:spcPct val="0"/>
              </a:spcBef>
              <a:spcAft>
                <a:spcPts val="0"/>
              </a:spcAft>
              <a:buClrTx/>
              <a:buSzTx/>
              <a:buFontTx/>
              <a:buNone/>
              <a:tabLst/>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500042"/>
            <a:ext cx="8072494" cy="6524863"/>
          </a:xfrm>
          <a:prstGeom prst="rect">
            <a:avLst/>
          </a:prstGeom>
          <a:noFill/>
        </p:spPr>
        <p:txBody>
          <a:bodyPr wrap="square" rtlCol="0">
            <a:spAutoFit/>
          </a:bodyPr>
          <a:lstStyle/>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Dynamically allocated arrays in C using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malloc</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#include &lt;</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stdio.h</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&gt;</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#include &lt;</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stdlib.h</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&gt;  // Required for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malloc</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and free</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main()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arr</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size,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("Enter the number of elements: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scanf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 &amp;size);</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Dynamically allocate memory for 'size' integers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arr</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malloc</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(size *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sizeof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Check if memory allocation was successful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if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arr</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NULL)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("Memory allocation failed!\n");</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return 1;</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04664"/>
            <a:ext cx="8429684" cy="5715040"/>
          </a:xfrm>
          <a:prstGeom prst="rect">
            <a:avLst/>
          </a:prstGeom>
        </p:spPr>
        <p:txBody>
          <a:bodyPr>
            <a:normAutofit/>
          </a:bodyPr>
          <a:lstStyle/>
          <a:p>
            <a:pPr marR="0" lvl="0" indent="0" fontAlgn="auto">
              <a:lnSpc>
                <a:spcPct val="100000"/>
              </a:lnSpc>
              <a:spcBef>
                <a:spcPct val="0"/>
              </a:spcBef>
              <a:spcAft>
                <a:spcPts val="0"/>
              </a:spcAft>
              <a:buClrTx/>
              <a:buSzTx/>
              <a:buFontTx/>
              <a:buNone/>
              <a:tabLst/>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500042"/>
            <a:ext cx="8072494" cy="6771084"/>
          </a:xfrm>
          <a:prstGeom prst="rect">
            <a:avLst/>
          </a:prstGeom>
          <a:noFill/>
        </p:spPr>
        <p:txBody>
          <a:bodyPr wrap="square" rtlCol="0">
            <a:spAutoFit/>
          </a:bodyPr>
          <a:lstStyle/>
          <a:p>
            <a:r>
              <a:rPr lang="en-US" sz="2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REALLOC</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(reallocation of memory)</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These functions resize memory previously allocated by either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malloc</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or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calloc</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For example,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realloc</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p,s</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//this changes the size of memory-block pointed at by p to 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When s&gt;</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oldSize</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the additional s-</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oldSize</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have an unspecified value and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when s&lt;</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oldSize</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the rightmost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oldSize</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 bytes of old block are freed.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On successful resizing, it returns a pointer to the start of the new block. On failure, it returns the value NULL.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To create clean and readable programs, the REALLOC macro can be created as shown below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#define REALLOC(</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p,s</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if((p=</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realloc</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p,s</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))==NULL)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("insufficient memory");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exit(0);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R="0" lvl="0" indent="0" fontAlgn="auto">
              <a:lnSpc>
                <a:spcPct val="100000"/>
              </a:lnSpc>
              <a:spcBef>
                <a:spcPct val="0"/>
              </a:spcBef>
              <a:spcAft>
                <a:spcPts val="0"/>
              </a:spcAft>
              <a:buClrTx/>
              <a:buSzTx/>
              <a:buFontTx/>
              <a:buNone/>
              <a:tabLst/>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500042"/>
            <a:ext cx="8072494" cy="6186309"/>
          </a:xfrm>
          <a:prstGeom prst="rect">
            <a:avLst/>
          </a:prstGeom>
          <a:noFill/>
        </p:spPr>
        <p:txBody>
          <a:bodyPr wrap="square" rtlCol="0">
            <a:spAutoFit/>
          </a:bodyPr>
          <a:lstStyle/>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Dynamically allocated arrays in C using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malloc</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Input values into the array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("Enter %d integers:\n", size);</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for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0;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&lt; size;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scanf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 &amp;</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arr</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Print the values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("You entered:\n");</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for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0;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&lt; size;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 ",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arr</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Free the allocated memory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free(</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arr</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return 0;</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R="0" lvl="0" indent="0" fontAlgn="auto">
              <a:lnSpc>
                <a:spcPct val="100000"/>
              </a:lnSpc>
              <a:spcBef>
                <a:spcPct val="0"/>
              </a:spcBef>
              <a:spcAft>
                <a:spcPts val="0"/>
              </a:spcAft>
              <a:buClrTx/>
              <a:buSzTx/>
              <a:buFontTx/>
              <a:buNone/>
              <a:tabLst/>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500042"/>
            <a:ext cx="8072494" cy="6863417"/>
          </a:xfrm>
          <a:prstGeom prst="rect">
            <a:avLst/>
          </a:prstGeom>
          <a:noFill/>
        </p:spPr>
        <p:txBody>
          <a:bodyPr wrap="square" rtlCol="0">
            <a:spAutoFit/>
          </a:bodyPr>
          <a:lstStyle/>
          <a:p>
            <a:r>
              <a:rPr lang="en-US" sz="2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CALLOC</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Contiguous memory allocate) </a:t>
            </a:r>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These functions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allocate user-specified amount of memory &amp;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Initialize the allocated memory to 0.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On successful memory-allocation, it returns a pointer to the start of the new block.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On failure, it returns the value NULL.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Memory can be allocated using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calloc</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as shown below: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*p;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calloc</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sizeof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//where n=array size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To create clean and readable programs, a CALLOC macro can be created as shown below: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#define CALLOC(</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p,n,s</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if((p=</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calloc</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n,s</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))==NULL)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("insufficient memory");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exit(0);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endPar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a:spcBef>
                <a:spcPct val="0"/>
              </a:spcBef>
              <a:defRPr/>
            </a:pP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a:spcBef>
                <a:spcPct val="0"/>
              </a:spcBef>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a:spcBef>
                <a:spcPct val="0"/>
              </a:spcBef>
              <a:defRPr/>
            </a:pP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a:spcBef>
                <a:spcPct val="0"/>
              </a:spcBef>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a:spcBef>
                <a:spcPct val="0"/>
              </a:spcBef>
              <a:defRPr/>
            </a:pP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a:spcBef>
                <a:spcPct val="0"/>
              </a:spcBef>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a:spcBef>
                <a:spcPct val="0"/>
              </a:spcBef>
              <a:defRPr/>
            </a:pP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a:spcBef>
                <a:spcPct val="0"/>
              </a:spcBef>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
        <p:nvSpPr>
          <p:cNvPr id="4" name="TextBox 3"/>
          <p:cNvSpPr txBox="1"/>
          <p:nvPr/>
        </p:nvSpPr>
        <p:spPr>
          <a:xfrm>
            <a:off x="285720" y="571480"/>
            <a:ext cx="8072494" cy="7355860"/>
          </a:xfrm>
          <a:prstGeom prst="rect">
            <a:avLst/>
          </a:prstGeom>
          <a:noFill/>
        </p:spPr>
        <p:txBody>
          <a:bodyPr wrap="square" rtlCol="0">
            <a:spAutoFit/>
          </a:bodyPr>
          <a:lstStyle/>
          <a:p>
            <a:r>
              <a:rPr lang="en-US" sz="2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POINTERS CAN BE DANGEROUS </a:t>
            </a:r>
          </a:p>
          <a:p>
            <a:pPr marL="457200" indent="-457200">
              <a:buAutoNum type="arabicParenR"/>
            </a:pP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Set all pointers to NULL when they are not actually pointing to an object. This makes sure that you will not attempt to access an area of memory that is either </a:t>
            </a:r>
          </a:p>
          <a:p>
            <a:pPr marL="457200" indent="-457200"/>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out of range of your program or </a:t>
            </a:r>
          </a:p>
          <a:p>
            <a:pPr marL="457200" indent="-457200"/>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that does not contain a pointer reference to a legitimate object . </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2) Use explicit type casts when converting between pointer types.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pi=</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malloc</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sizeof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//assign to pi a pointer to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=(float*)pi; //casts an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pointer to a ‘float’ pointer </a:t>
            </a:r>
          </a:p>
          <a:p>
            <a:endParaRPr lang="en-US" sz="2400" dirty="0"/>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3) Pointers have same size as data type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Since int is the default type specifier, some programmers omit return type when defining a function. The return type defaults to ‘int’ which can later be interpreted as a pointer. Therefore, programmer has to define explicit return types for functions. </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400" dirty="0"/>
          </a:p>
          <a:p>
            <a:endParaRPr lang="en-US" sz="2400" i="1" dirty="0">
              <a:solidFill>
                <a:schemeClr val="bg2">
                  <a:lumMod val="10000"/>
                </a:schemeClr>
              </a:solidFill>
              <a:latin typeface="Times New Roman" pitchFamily="18" charset="0"/>
              <a:cs typeface="Times New Roman" pitchFamily="18" charset="0"/>
            </a:endParaRPr>
          </a:p>
          <a:p>
            <a:r>
              <a:rPr lang="en-US" sz="2400" dirty="0">
                <a:solidFill>
                  <a:schemeClr val="bg2">
                    <a:lumMod val="10000"/>
                  </a:schemeClr>
                </a:solidFill>
                <a:latin typeface="Times New Roman" pitchFamily="18" charset="0"/>
                <a:cs typeface="Times New Roman" pitchFamily="18" charset="0"/>
              </a:rPr>
              <a:t> </a:t>
            </a:r>
          </a:p>
          <a:p>
            <a:endParaRPr lang="en-US" sz="2400" dirty="0">
              <a:solidFill>
                <a:schemeClr val="bg2">
                  <a:lumMod val="10000"/>
                </a:schemeClr>
              </a:solidFill>
              <a:latin typeface="Times New Roman" pitchFamily="18" charset="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
        <p:nvSpPr>
          <p:cNvPr id="4" name="TextBox 3"/>
          <p:cNvSpPr txBox="1"/>
          <p:nvPr/>
        </p:nvSpPr>
        <p:spPr>
          <a:xfrm>
            <a:off x="285720" y="571480"/>
            <a:ext cx="8072494" cy="3877985"/>
          </a:xfrm>
          <a:prstGeom prst="rect">
            <a:avLst/>
          </a:prstGeom>
          <a:noFill/>
        </p:spPr>
        <p:txBody>
          <a:bodyPr wrap="square" rtlCol="0">
            <a:spAutoFit/>
          </a:bodyPr>
          <a:lstStyle/>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Swap function using pointers: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void swap(</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*p,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*q) //both parameters are pointers to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ints</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temp=*p;  //declares temp as an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and assigns to it the contents of what p points to *p=*q;  //stores what q points to into the location where p points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*q=temp;  //places the contents temp in location pointed to by q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endPar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400" dirty="0">
                <a:solidFill>
                  <a:schemeClr val="bg2">
                    <a:lumMod val="10000"/>
                  </a:schemeClr>
                </a:solidFill>
                <a:latin typeface="Times New Roman" pitchFamily="18" charset="0"/>
                <a:cs typeface="Times New Roman" pitchFamily="18" charset="0"/>
              </a:rPr>
              <a:t> </a:t>
            </a:r>
          </a:p>
          <a:p>
            <a:endParaRPr lang="en-US" sz="2400" dirty="0">
              <a:solidFill>
                <a:schemeClr val="bg2">
                  <a:lumMod val="10000"/>
                </a:schemeClr>
              </a:solidFill>
              <a:latin typeface="Times New Roman" pitchFamily="18" charset="0"/>
              <a:cs typeface="Times New Roman"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1248</TotalTime>
  <Words>2550</Words>
  <Application>Microsoft Office PowerPoint</Application>
  <PresentationFormat>On-screen Show (4:3)</PresentationFormat>
  <Paragraphs>277</Paragraphs>
  <Slides>25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Algerian</vt:lpstr>
      <vt:lpstr>Arial</vt:lpstr>
      <vt:lpstr>Lucida Sans Unicode</vt:lpstr>
      <vt:lpstr>Times New Roman</vt:lpstr>
      <vt:lpstr>Verdana</vt:lpstr>
      <vt:lpstr>Wingdings</vt:lpstr>
      <vt:lpstr>Wingdings 2</vt:lpstr>
      <vt:lpstr>Wingdings 3</vt:lpstr>
      <vt:lpstr>Concourse</vt:lpstr>
      <vt:lpstr>DATA STRUCTURES AND APPLICATIONS</vt:lpstr>
      <vt:lpstr>TextBooks</vt:lpstr>
      <vt:lpstr>TopICS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Programming using C</dc:title>
  <dc:creator>Windows User</dc:creator>
  <cp:lastModifiedBy>Priya HN</cp:lastModifiedBy>
  <cp:revision>60</cp:revision>
  <dcterms:created xsi:type="dcterms:W3CDTF">2025-08-29T01:00:54Z</dcterms:created>
  <dcterms:modified xsi:type="dcterms:W3CDTF">2025-10-23T10:01:24Z</dcterms:modified>
</cp:coreProperties>
</file>