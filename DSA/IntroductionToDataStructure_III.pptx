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sldIdLst>
    <p:sldId id="256" r:id="rId2"/>
    <p:sldId id="269" r:id="rId3"/>
    <p:sldId id="270" r:id="rId4"/>
    <p:sldId id="267" r:id="rId5"/>
    <p:sldId id="268" r:id="rId6"/>
    <p:sldId id="271" r:id="rId7"/>
    <p:sldId id="272" r:id="rId8"/>
    <p:sldId id="273" r:id="rId9"/>
    <p:sldId id="275" r:id="rId10"/>
    <p:sldId id="299" r:id="rId11"/>
    <p:sldId id="300" r:id="rId12"/>
    <p:sldId id="301" r:id="rId13"/>
    <p:sldId id="276" r:id="rId14"/>
    <p:sldId id="277" r:id="rId15"/>
    <p:sldId id="278" r:id="rId16"/>
    <p:sldId id="280" r:id="rId17"/>
    <p:sldId id="302" r:id="rId18"/>
    <p:sldId id="303" r:id="rId19"/>
    <p:sldId id="304" r:id="rId20"/>
    <p:sldId id="305" r:id="rId21"/>
    <p:sldId id="306" r:id="rId22"/>
    <p:sldId id="281" r:id="rId23"/>
    <p:sldId id="307" r:id="rId24"/>
    <p:sldId id="308" r:id="rId25"/>
    <p:sldId id="283" r:id="rId26"/>
    <p:sldId id="284" r:id="rId27"/>
    <p:sldId id="285" r:id="rId28"/>
    <p:sldId id="286" r:id="rId29"/>
    <p:sldId id="28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09E442-850D-4E4A-8EC8-9C7461E7F8EC}" type="datetimeFigureOut">
              <a:rPr lang="en-IN" smtClean="0"/>
              <a:t>11-10-2025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9E818C-5932-4001-BF6A-E05E38C0FD40}" type="slidenum">
              <a:rPr lang="en-IN" smtClean="0"/>
              <a:t>‹#›</a:t>
            </a:fld>
            <a:endParaRPr lang="en-IN"/>
          </a:p>
        </p:txBody>
      </p:sp>
    </p:spTree>
    <p:extLst>
      <p:ext uri="{BB962C8B-B14F-4D97-AF65-F5344CB8AC3E}">
        <p14:creationId xmlns:p14="http://schemas.microsoft.com/office/powerpoint/2010/main" val="4273833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9E818C-5932-4001-BF6A-E05E38C0FD40}" type="slidenum">
              <a:rPr lang="en-IN" smtClean="0"/>
              <a:t>14</a:t>
            </a:fld>
            <a:endParaRPr lang="en-IN"/>
          </a:p>
        </p:txBody>
      </p:sp>
    </p:spTree>
    <p:extLst>
      <p:ext uri="{BB962C8B-B14F-4D97-AF65-F5344CB8AC3E}">
        <p14:creationId xmlns:p14="http://schemas.microsoft.com/office/powerpoint/2010/main" val="208453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9E818C-5932-4001-BF6A-E05E38C0FD40}" type="slidenum">
              <a:rPr lang="en-IN" smtClean="0"/>
              <a:t>26</a:t>
            </a:fld>
            <a:endParaRPr lang="en-IN"/>
          </a:p>
        </p:txBody>
      </p:sp>
    </p:spTree>
    <p:extLst>
      <p:ext uri="{BB962C8B-B14F-4D97-AF65-F5344CB8AC3E}">
        <p14:creationId xmlns:p14="http://schemas.microsoft.com/office/powerpoint/2010/main" val="12211827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7D5B429-2941-47A8-BC89-86C2E4686CF3}" type="datetimeFigureOut">
              <a:rPr lang="en-US" smtClean="0"/>
              <a:pPr/>
              <a:t>10/11/2025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F5529D7-1925-4C58-B23A-B78C48636FD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D5B429-2941-47A8-BC89-86C2E4686CF3}"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7D5B429-2941-47A8-BC89-86C2E4686CF3}"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7D5B429-2941-47A8-BC89-86C2E4686CF3}"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5529D7-1925-4C58-B23A-B78C48636FDF}"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7D5B429-2941-47A8-BC89-86C2E4686CF3}" type="datetimeFigureOut">
              <a:rPr lang="en-US" smtClean="0"/>
              <a:pPr/>
              <a:t>10/11/2025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5529D7-1925-4C58-B23A-B78C48636F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7D5B429-2941-47A8-BC89-86C2E4686CF3}" type="datetimeFigureOut">
              <a:rPr lang="en-US" smtClean="0"/>
              <a:pPr/>
              <a:t>10/11/2025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5529D7-1925-4C58-B23A-B78C48636FDF}"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D5B429-2941-47A8-BC89-86C2E4686CF3}" type="datetimeFigureOut">
              <a:rPr lang="en-US" smtClean="0"/>
              <a:pPr/>
              <a:t>10/11/2025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5529D7-1925-4C58-B23A-B78C48636F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C7D5B429-2941-47A8-BC89-86C2E4686CF3}"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5529D7-1925-4C58-B23A-B78C48636F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7D5B429-2941-47A8-BC89-86C2E4686CF3}" type="datetimeFigureOut">
              <a:rPr lang="en-US" smtClean="0"/>
              <a:pPr/>
              <a:t>10/11/2025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FF5529D7-1925-4C58-B23A-B78C48636FDF}"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D5B429-2941-47A8-BC89-86C2E4686CF3}"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D5B429-2941-47A8-BC89-86C2E4686CF3}"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7D5B429-2941-47A8-BC89-86C2E4686CF3}" type="datetimeFigureOut">
              <a:rPr lang="en-US" smtClean="0"/>
              <a:pPr/>
              <a:t>10/11/2025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FF5529D7-1925-4C58-B23A-B78C48636FD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9305"/>
            <a:ext cx="7772400" cy="1829761"/>
          </a:xfrm>
        </p:spPr>
        <p:txBody>
          <a:bodyPr>
            <a:normAutofit/>
          </a:bodyPr>
          <a:lstStyle/>
          <a:p>
            <a:pPr algn="ctr"/>
            <a:r>
              <a:rPr lang="en-US" sz="4400" dirty="0">
                <a:latin typeface="Algerian" pitchFamily="82" charset="0"/>
              </a:rPr>
              <a:t>DATA STRUCTURES AND APPLICATIONS</a:t>
            </a:r>
          </a:p>
        </p:txBody>
      </p:sp>
      <p:sp>
        <p:nvSpPr>
          <p:cNvPr id="5" name="Title 1"/>
          <p:cNvSpPr txBox="1">
            <a:spLocks/>
          </p:cNvSpPr>
          <p:nvPr/>
        </p:nvSpPr>
        <p:spPr>
          <a:xfrm>
            <a:off x="838200" y="3571876"/>
            <a:ext cx="7772400" cy="1357322"/>
          </a:xfrm>
          <a:prstGeom prst="rect">
            <a:avLst/>
          </a:prstGeom>
        </p:spPr>
        <p:txBody>
          <a:bodyPr vert="horz" anchor="b">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rPr>
              <a:t>Module</a:t>
            </a:r>
            <a:r>
              <a:rPr kumimoji="0" lang="en-US" sz="4400" b="1" i="0" u="none" strike="noStrike" kern="1200" cap="none" spc="0" normalizeH="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rPr>
              <a:t> - 1</a:t>
            </a: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4290"/>
            <a:ext cx="7772400" cy="714380"/>
          </a:xfrm>
        </p:spPr>
        <p:txBody>
          <a:bodyPr>
            <a:normAutofit fontScale="90000"/>
          </a:bodyPr>
          <a:lstStyle/>
          <a:p>
            <a:pPr algn="ctr"/>
            <a:r>
              <a:rPr lang="en-US" sz="4400" dirty="0" err="1">
                <a:latin typeface="Algerian" pitchFamily="82" charset="0"/>
              </a:rPr>
              <a:t>TextBooks</a:t>
            </a:r>
            <a:endParaRPr lang="en-US" sz="4400" dirty="0">
              <a:latin typeface="Algerian" pitchFamily="82" charset="0"/>
            </a:endParaRPr>
          </a:p>
        </p:txBody>
      </p:sp>
      <p:sp>
        <p:nvSpPr>
          <p:cNvPr id="5" name="Title 1"/>
          <p:cNvSpPr txBox="1">
            <a:spLocks/>
          </p:cNvSpPr>
          <p:nvPr/>
        </p:nvSpPr>
        <p:spPr>
          <a:xfrm>
            <a:off x="838200" y="1500174"/>
            <a:ext cx="7772400" cy="3429024"/>
          </a:xfrm>
          <a:prstGeom prst="rect">
            <a:avLst/>
          </a:prstGeom>
        </p:spPr>
        <p:txBody>
          <a:bodyPr vert="horz" anchor="b">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
        <p:nvSpPr>
          <p:cNvPr id="4" name="Rectangle 3"/>
          <p:cNvSpPr/>
          <p:nvPr/>
        </p:nvSpPr>
        <p:spPr>
          <a:xfrm>
            <a:off x="642910" y="928670"/>
            <a:ext cx="7929618" cy="5355312"/>
          </a:xfrm>
          <a:prstGeom prst="rect">
            <a:avLst/>
          </a:prstGeom>
        </p:spPr>
        <p:txBody>
          <a:bodyPr wrap="square">
            <a:spAutoFit/>
          </a:bodyPr>
          <a:lstStyle/>
          <a:p>
            <a:r>
              <a:rPr lang="en-US" b="1" dirty="0"/>
              <a:t>Textbook:</a:t>
            </a:r>
          </a:p>
          <a:p>
            <a:r>
              <a:rPr lang="en-US" dirty="0"/>
              <a:t>1. Ellis Horowitz, </a:t>
            </a:r>
            <a:r>
              <a:rPr lang="en-US" dirty="0" err="1"/>
              <a:t>Sartaj</a:t>
            </a:r>
            <a:r>
              <a:rPr lang="en-US" dirty="0"/>
              <a:t> </a:t>
            </a:r>
            <a:r>
              <a:rPr lang="en-US" dirty="0" err="1"/>
              <a:t>Sahni</a:t>
            </a:r>
            <a:r>
              <a:rPr lang="en-US" dirty="0"/>
              <a:t> and Susan Anderson-Freed, Fundamentals of Data Structures in C, 2nd Ed, Universities Press, 2014</a:t>
            </a:r>
          </a:p>
          <a:p>
            <a:r>
              <a:rPr lang="en-US" b="1" dirty="0"/>
              <a:t>Reference Books:</a:t>
            </a:r>
          </a:p>
          <a:p>
            <a:r>
              <a:rPr lang="en-US" dirty="0"/>
              <a:t>1. Seymour </a:t>
            </a:r>
            <a:r>
              <a:rPr lang="en-US" dirty="0" err="1"/>
              <a:t>Lipschutz</a:t>
            </a:r>
            <a:r>
              <a:rPr lang="en-US" dirty="0"/>
              <a:t>, Data Structures </a:t>
            </a:r>
            <a:r>
              <a:rPr lang="en-US" dirty="0" err="1"/>
              <a:t>Schaum's</a:t>
            </a:r>
            <a:r>
              <a:rPr lang="en-US" dirty="0"/>
              <a:t> Outlines, Revised 1st Ed, McGraw Hill,</a:t>
            </a:r>
          </a:p>
          <a:p>
            <a:r>
              <a:rPr lang="en-US" dirty="0"/>
              <a:t>2014.</a:t>
            </a:r>
          </a:p>
          <a:p>
            <a:r>
              <a:rPr lang="en-US" dirty="0"/>
              <a:t>2. </a:t>
            </a:r>
            <a:r>
              <a:rPr lang="en-US" dirty="0" err="1"/>
              <a:t>Gilberg</a:t>
            </a:r>
            <a:r>
              <a:rPr lang="en-US" dirty="0"/>
              <a:t> &amp; </a:t>
            </a:r>
            <a:r>
              <a:rPr lang="en-US" dirty="0" err="1"/>
              <a:t>Forouzan</a:t>
            </a:r>
            <a:r>
              <a:rPr lang="en-US" dirty="0"/>
              <a:t>, Data Structures: A Pseudo-code approach with C, 2nd Ed, </a:t>
            </a:r>
            <a:r>
              <a:rPr lang="en-US" dirty="0" err="1"/>
              <a:t>Cengage</a:t>
            </a:r>
            <a:endParaRPr lang="en-US" dirty="0"/>
          </a:p>
          <a:p>
            <a:r>
              <a:rPr lang="en-US" dirty="0"/>
              <a:t>Learning,2014.</a:t>
            </a:r>
          </a:p>
          <a:p>
            <a:r>
              <a:rPr lang="en-US" dirty="0"/>
              <a:t>3. </a:t>
            </a:r>
            <a:r>
              <a:rPr lang="en-US" dirty="0" err="1"/>
              <a:t>Reema</a:t>
            </a:r>
            <a:r>
              <a:rPr lang="en-US" dirty="0"/>
              <a:t> </a:t>
            </a:r>
            <a:r>
              <a:rPr lang="en-US" dirty="0" err="1"/>
              <a:t>Thareja</a:t>
            </a:r>
            <a:r>
              <a:rPr lang="en-US" dirty="0"/>
              <a:t>, Data Structures using C, 3rd Ed, Oxford press, 2012.</a:t>
            </a:r>
          </a:p>
          <a:p>
            <a:r>
              <a:rPr lang="en-US" dirty="0"/>
              <a:t>4. Jean-Paul Tremblay &amp; Paul G. Sorenson, An Introduction to Data Structures with</a:t>
            </a:r>
          </a:p>
          <a:p>
            <a:r>
              <a:rPr lang="en-US" dirty="0"/>
              <a:t>Applications, 2nd Ed, McGraw Hill, 2013</a:t>
            </a:r>
          </a:p>
          <a:p>
            <a:r>
              <a:rPr lang="en-US" dirty="0"/>
              <a:t>5. A M </a:t>
            </a:r>
            <a:r>
              <a:rPr lang="en-US" dirty="0" err="1"/>
              <a:t>Tenenbaum</a:t>
            </a:r>
            <a:r>
              <a:rPr lang="en-US" dirty="0"/>
              <a:t>, Data Structures using C, PHI, 1989</a:t>
            </a:r>
          </a:p>
          <a:p>
            <a:r>
              <a:rPr lang="en-US" dirty="0"/>
              <a:t>6. Robert Kruse, Data Structures and Program Design in C, 2nd Ed, PHI, 1996.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4290"/>
            <a:ext cx="7772400" cy="714380"/>
          </a:xfrm>
        </p:spPr>
        <p:txBody>
          <a:bodyPr>
            <a:normAutofit fontScale="90000"/>
          </a:bodyPr>
          <a:lstStyle/>
          <a:p>
            <a:pPr algn="ctr"/>
            <a:r>
              <a:rPr lang="en-IN" sz="4400" dirty="0" err="1">
                <a:latin typeface="Algerian" pitchFamily="82" charset="0"/>
              </a:rPr>
              <a:t>TopICS</a:t>
            </a:r>
            <a:endParaRPr lang="en-US" sz="4400" dirty="0">
              <a:latin typeface="Algerian" pitchFamily="82" charset="0"/>
            </a:endParaRPr>
          </a:p>
        </p:txBody>
      </p:sp>
      <p:sp>
        <p:nvSpPr>
          <p:cNvPr id="5" name="Title 1"/>
          <p:cNvSpPr txBox="1">
            <a:spLocks/>
          </p:cNvSpPr>
          <p:nvPr/>
        </p:nvSpPr>
        <p:spPr>
          <a:xfrm>
            <a:off x="838200" y="1500174"/>
            <a:ext cx="7772400" cy="3429024"/>
          </a:xfrm>
          <a:prstGeom prst="rect">
            <a:avLst/>
          </a:prstGeom>
        </p:spPr>
        <p:txBody>
          <a:bodyPr vert="horz" anchor="b">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
        <p:nvSpPr>
          <p:cNvPr id="4" name="Title 1"/>
          <p:cNvSpPr txBox="1">
            <a:spLocks/>
          </p:cNvSpPr>
          <p:nvPr/>
        </p:nvSpPr>
        <p:spPr>
          <a:xfrm>
            <a:off x="642910" y="1357298"/>
            <a:ext cx="7915276" cy="4143404"/>
          </a:xfrm>
          <a:prstGeom prst="rect">
            <a:avLst/>
          </a:prstGeom>
        </p:spPr>
        <p:txBody>
          <a:bodyPr vert="horz" anchor="b">
            <a:normAutofit fontScale="97500"/>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
        <p:nvSpPr>
          <p:cNvPr id="7" name="Rectangle 6"/>
          <p:cNvSpPr/>
          <p:nvPr/>
        </p:nvSpPr>
        <p:spPr>
          <a:xfrm>
            <a:off x="714348" y="785794"/>
            <a:ext cx="7929618" cy="6001643"/>
          </a:xfrm>
          <a:prstGeom prst="rect">
            <a:avLst/>
          </a:prstGeom>
        </p:spPr>
        <p:txBody>
          <a:bodyPr wrap="square">
            <a:spAutoFit/>
          </a:bodyPr>
          <a:lstStyle/>
          <a:p>
            <a:r>
              <a:rPr lang="en-US" sz="2400" b="1" dirty="0">
                <a:effectLst>
                  <a:outerShdw blurRad="31750" dist="25400" dir="5400000" algn="tl" rotWithShape="0">
                    <a:srgbClr val="000000">
                      <a:alpha val="25000"/>
                    </a:srgbClr>
                  </a:outerShdw>
                </a:effectLst>
                <a:latin typeface="Times New Roman" pitchFamily="18" charset="0"/>
                <a:cs typeface="Times New Roman" pitchFamily="18" charset="0"/>
              </a:rPr>
              <a:t>INTRODUCTION TO DATA STRUCTURES</a:t>
            </a:r>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Data Structures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Classifications (Primitive &amp; Non-Primitive)</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Data structure Operations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Review of pointers and dynamic Memory Allocation</a:t>
            </a:r>
          </a:p>
          <a:p>
            <a:r>
              <a:rPr lang="en-US" sz="2400" b="1" dirty="0">
                <a:effectLst>
                  <a:outerShdw blurRad="31750" dist="25400" dir="5400000" algn="tl" rotWithShape="0">
                    <a:srgbClr val="000000">
                      <a:alpha val="25000"/>
                    </a:srgbClr>
                  </a:outerShdw>
                </a:effectLst>
                <a:latin typeface="Times New Roman" pitchFamily="18" charset="0"/>
                <a:cs typeface="Times New Roman" pitchFamily="18" charset="0"/>
              </a:rPr>
              <a:t>ARRAYS and STRUCTURES</a:t>
            </a:r>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Arrays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Dynamic Allocated Arrays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Structures and Unions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Polynomials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Sparse Matrices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representation of Multidimensional Arrays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Strings</a:t>
            </a:r>
          </a:p>
          <a:p>
            <a:pPr marL="342900" indent="-342900">
              <a:buFont typeface="Arial" panose="020B0604020202020204" pitchFamily="34" charset="0"/>
              <a:buChar char="•"/>
            </a:pPr>
            <a:r>
              <a:rPr lang="en-US" sz="2400" b="1" dirty="0">
                <a:effectLst>
                  <a:outerShdw blurRad="31750" dist="25400" dir="5400000" algn="tl" rotWithShape="0">
                    <a:srgbClr val="000000">
                      <a:alpha val="25000"/>
                    </a:srgbClr>
                  </a:outerShdw>
                </a:effectLst>
                <a:latin typeface="Times New Roman" pitchFamily="18" charset="0"/>
                <a:cs typeface="Times New Roman" pitchFamily="18" charset="0"/>
              </a:rPr>
              <a:t>STACKS</a:t>
            </a:r>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 Stacks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Stacks Using Dynamic Arrays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Evaluation and conversion of Expressions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902330"/>
            <a:ext cx="8072494" cy="2215991"/>
          </a:xfrm>
          <a:prstGeom prst="rect">
            <a:avLst/>
          </a:prstGeom>
          <a:noFill/>
        </p:spPr>
        <p:txBody>
          <a:bodyPr wrap="square" rtlCol="0">
            <a:spAutoFit/>
          </a:bodyPr>
          <a:lstStyle/>
          <a:p>
            <a:pPr algn="ctr">
              <a:spcBef>
                <a:spcPct val="0"/>
              </a:spcBef>
              <a:defRPr/>
            </a:pPr>
            <a:r>
              <a:rPr lang="en-IN" sz="28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STACKS </a:t>
            </a:r>
            <a:endParaRPr lang="en-US" sz="28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pPr>
              <a:spcBef>
                <a:spcPct val="0"/>
              </a:spcBef>
              <a:defRPr/>
            </a:pP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pPr>
              <a:spcBef>
                <a:spcPct val="0"/>
              </a:spcBef>
              <a:defRP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stack is an ordered list in which insertions (pushes) and deletions (pops) are made at one end called the top.” Given a stack S= (a0, ... ,an-1), where a0 is the bottom element, an-1 is the top element, and ai is on top of element ai-1, 0 &lt;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&lt; n.</a:t>
            </a:r>
          </a:p>
        </p:txBody>
      </p:sp>
      <p:pic>
        <p:nvPicPr>
          <p:cNvPr id="5" name="Picture 4">
            <a:extLst>
              <a:ext uri="{FF2B5EF4-FFF2-40B4-BE49-F238E27FC236}">
                <a16:creationId xmlns:a16="http://schemas.microsoft.com/office/drawing/2014/main" id="{56CBC236-1983-7DF7-29AE-6D6F9CA5AEB6}"/>
              </a:ext>
            </a:extLst>
          </p:cNvPr>
          <p:cNvPicPr>
            <a:picLocks noChangeAspect="1"/>
          </p:cNvPicPr>
          <p:nvPr/>
        </p:nvPicPr>
        <p:blipFill>
          <a:blip r:embed="rId2"/>
          <a:stretch>
            <a:fillRect/>
          </a:stretch>
        </p:blipFill>
        <p:spPr>
          <a:xfrm>
            <a:off x="755576" y="3286124"/>
            <a:ext cx="7704856" cy="1871068"/>
          </a:xfrm>
          <a:prstGeom prst="rect">
            <a:avLst/>
          </a:prstGeom>
        </p:spPr>
      </p:pic>
      <p:sp>
        <p:nvSpPr>
          <p:cNvPr id="7" name="TextBox 6">
            <a:extLst>
              <a:ext uri="{FF2B5EF4-FFF2-40B4-BE49-F238E27FC236}">
                <a16:creationId xmlns:a16="http://schemas.microsoft.com/office/drawing/2014/main" id="{05BD8F92-9AD2-B97C-FBC5-1489E85763DB}"/>
              </a:ext>
            </a:extLst>
          </p:cNvPr>
          <p:cNvSpPr txBox="1"/>
          <p:nvPr/>
        </p:nvSpPr>
        <p:spPr>
          <a:xfrm>
            <a:off x="246234" y="5301208"/>
            <a:ext cx="8358214" cy="769441"/>
          </a:xfrm>
          <a:prstGeom prst="rect">
            <a:avLst/>
          </a:prstGeom>
          <a:noFill/>
        </p:spPr>
        <p:txBody>
          <a:bodyPr wrap="square">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Since the last element inserted into a stack is the first element removed, a stack is also known as a Last-In-First-Out (LIFO) list.</a:t>
            </a:r>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a:spcBef>
                <a:spcPct val="0"/>
              </a:spcBef>
              <a:defRP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ARRAY REPRESENTATION OF STACKS </a:t>
            </a:r>
          </a:p>
          <a:p>
            <a:pPr>
              <a:spcBef>
                <a:spcPct val="0"/>
              </a:spcBef>
              <a:defRP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Stacks may be represented in the computer in various ways such as one-way linked list (Singly linked list) or linear array. </a:t>
            </a:r>
          </a:p>
          <a:p>
            <a:pPr>
              <a:spcBef>
                <a:spcPct val="0"/>
              </a:spcBef>
              <a:defRP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Stacks are maintained by the two variables such as TOP and MAX_STACK_ SIZE. </a:t>
            </a:r>
          </a:p>
          <a:p>
            <a:pPr>
              <a:spcBef>
                <a:spcPct val="0"/>
              </a:spcBef>
              <a:defRP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TOP which contains the location of the top element in the stack. If TOP= -1, then it indicates stack is empty. </a:t>
            </a:r>
          </a:p>
          <a:p>
            <a:pPr>
              <a:spcBef>
                <a:spcPct val="0"/>
              </a:spcBef>
              <a:defRP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MAX_STACK_SIZE which gives maximum number of elements that can be stored in stack.</a:t>
            </a:r>
          </a:p>
          <a:p>
            <a:pPr>
              <a:spcBef>
                <a:spcPct val="0"/>
              </a:spcBef>
              <a:defRPr/>
            </a:pP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pPr>
              <a:spcBef>
                <a:spcPct val="0"/>
              </a:spcBef>
              <a:defRPr/>
            </a:pP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5" name="Rectangle 4"/>
          <p:cNvSpPr/>
          <p:nvPr/>
        </p:nvSpPr>
        <p:spPr>
          <a:xfrm>
            <a:off x="285720" y="2380300"/>
            <a:ext cx="8286808" cy="646331"/>
          </a:xfrm>
          <a:prstGeom prst="rect">
            <a:avLst/>
          </a:prstGeom>
        </p:spPr>
        <p:txBody>
          <a:bodyPr wrap="square">
            <a:spAutoFit/>
          </a:bodyPr>
          <a:lstStyle/>
          <a:p>
            <a:endParaRPr lang="en-US" dirty="0"/>
          </a:p>
          <a:p>
            <a:endParaRPr lang="en-US" dirty="0"/>
          </a:p>
        </p:txBody>
      </p:sp>
      <p:pic>
        <p:nvPicPr>
          <p:cNvPr id="4" name="Picture 3">
            <a:extLst>
              <a:ext uri="{FF2B5EF4-FFF2-40B4-BE49-F238E27FC236}">
                <a16:creationId xmlns:a16="http://schemas.microsoft.com/office/drawing/2014/main" id="{EE594570-5F76-C3F4-1F6F-9123AB5DDEEE}"/>
              </a:ext>
            </a:extLst>
          </p:cNvPr>
          <p:cNvPicPr>
            <a:picLocks noChangeAspect="1"/>
          </p:cNvPicPr>
          <p:nvPr/>
        </p:nvPicPr>
        <p:blipFill>
          <a:blip r:embed="rId2"/>
          <a:stretch>
            <a:fillRect/>
          </a:stretch>
        </p:blipFill>
        <p:spPr>
          <a:xfrm>
            <a:off x="899592" y="3944517"/>
            <a:ext cx="7560840" cy="16447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OPERATIONS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Implementation of the stack operations as follows. </a:t>
            </a:r>
          </a:p>
          <a:p>
            <a:pPr marL="457200" indent="-457200">
              <a:buAutoNum type="arabicPeriod"/>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Create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CreateS</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maxStackSize</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#define MAX_STACK_ SIZE 100 /* maximum stack size*/ typedef struct { int key;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other fields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element;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element stack[MAX_STACK_SIZE]; int top = -1;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element which is used to insert or delete is specified as a structure that consists of only a key field.</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2. Boolean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IsEmpty</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top &lt; 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3. Boolean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IsFull</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top &gt;= MAX_STACK_SIZE-1; The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IsEmpty</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and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IsFull</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operations are simple, and is implemented directly in the program push and pop functions. Each of these functions assumes that the variables stack and top are global.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4. Push( ) Function push checks whether stack is full. If it is, it calls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stackFull</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which prints an error message and terminates execution. When the stack is not full, increment top and assign item to stack [top].</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void push(element item)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add an item to the global stack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(top &gt;= MAX_STACK_SIZE-1)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stackFull</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stack[++top] = item;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endParaRPr lang="en-US" sz="2200" b="1" dirty="0"/>
          </a:p>
        </p:txBody>
      </p:sp>
      <p:sp>
        <p:nvSpPr>
          <p:cNvPr id="4" name="TextBox 3"/>
          <p:cNvSpPr txBox="1"/>
          <p:nvPr/>
        </p:nvSpPr>
        <p:spPr>
          <a:xfrm>
            <a:off x="285720" y="857232"/>
            <a:ext cx="8072494" cy="4832092"/>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5. Pop( ) Deleting an element from the stack is called pop operation. The element is deleted only from the top of the stack and only one element is deleted at a time.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element pop (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/*delete and return the top element from the stack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(top == -1)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stackEmpty</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/*returns an error key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stack[top--];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6.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stackFull</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The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stackFull</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which prints an error message and terminates execution.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void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stackFull</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fprintf</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(stderr, "Stack is full, cannot add element"); exit(EXIT_FAILURE); } </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747856"/>
            <a:ext cx="8072494" cy="5201424"/>
          </a:xfrm>
          <a:prstGeom prst="rect">
            <a:avLst/>
          </a:prstGeom>
          <a:noFill/>
        </p:spPr>
        <p:txBody>
          <a:bodyPr wrap="square" rtlCol="0">
            <a:sp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STACKS USING DYNAMIC ARRAYS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array is used to implement stack, but the bound (MAX_STACK_ SIZE) should be known during compile time. The size of bound is impossible to alter during compilation hence this can be overcome by using dynamically allocated array for the elements and then increasing the size of array as needed. Stack Operations using dynamic array </a:t>
            </a:r>
          </a:p>
          <a:p>
            <a:pPr marL="457200" indent="-457200">
              <a:buAutoNum type="arabicPeriod"/>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CreateS</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typedef struct { int key; /* other fields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element; element *stack;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MALLOC(stack,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sizeof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int capacity= 1;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int top= -1;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706626"/>
            <a:ext cx="8072494" cy="5170646"/>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2. Boolean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IsEmpty</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top &lt; 0;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3. Boolean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IsFull</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top &gt;= capacity-1;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4. push()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Here the MAX_STACK_SIZE is replaced with capacity void push(element item) { /* add an item to the global stack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(top &gt;= capacity-1)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stackFull</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stack[++top] = item;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5. pop( ) In this function, no changes are made.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element pop (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delete and return the top element from the stack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(top == -1)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stackEmpty</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returns an error key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stack[top--]; }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00042"/>
            <a:ext cx="8072494" cy="4832092"/>
          </a:xfrm>
          <a:prstGeom prst="rect">
            <a:avLst/>
          </a:prstGeom>
          <a:noFill/>
        </p:spPr>
        <p:txBody>
          <a:bodyPr wrap="square" rtlCol="0">
            <a:spAutoFit/>
          </a:bodyPr>
          <a:lstStyle/>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6.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stackFull</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The new code shown below, attempts to increase the capacity of the array stack so that new element can be added into the stack. Before increasing the capacity of an array, decide what the new capacity should be. In array doubling, array capacity is doubled whenever it becomes necessary to increase the capacity of an array. void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stackFull</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REALLOC (stack, 2*capacity*</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sizeof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capacity *= 2;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00042"/>
            <a:ext cx="8072494" cy="5509200"/>
          </a:xfrm>
          <a:prstGeom prst="rect">
            <a:avLst/>
          </a:prstGeom>
          <a:noFill/>
        </p:spPr>
        <p:txBody>
          <a:bodyPr wrap="square" rtlCol="0">
            <a:sp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full with array doubling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Analysis In the worst case, the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function needs to allocate 2*capacity*</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sizeof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(*stack) bytes of memory and copy capacity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sizeof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(*stack)) bytes of memory from the old array into the new one. Under the assumptions that memory may be allocated in O(1) time and that a stack element can be copied in O(1) time, the time required by array doubling is O(capacity). Initially, capacity is 1.</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Suppose that, if all elements are pushed in stack and the capacity is 2k for some k, k&gt;O, then the total time spent over all array doublings is O(∑ 𝒌 𝟐𝒊 𝒊=𝟏 ) = O(2k+l) = O(2k). Since the total number of pushes is more than 2k-1, the total time spend in array doubling is O(n), where n is the total number of pushes. Hence, even with the time spent on array doubling added in, the total run time of push over all n pushes is O(n). </a:t>
            </a:r>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404664"/>
            <a:ext cx="8072494" cy="6032421"/>
          </a:xfrm>
          <a:prstGeom prst="rect">
            <a:avLst/>
          </a:prstGeom>
          <a:noFill/>
        </p:spPr>
        <p:txBody>
          <a:bodyPr wrap="square" rtlCol="0">
            <a:spAutoFit/>
          </a:bodyPr>
          <a:lstStyle/>
          <a:p>
            <a:endPar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 APPLICATIONS: POLISH NOTATION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Expressions: It is sequence of operators and operands that reduces to a single value after evaluation is called an expression.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Example Expression</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X = a / b – c + d * e – a * c</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Operators: +, –, /,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Operands: a, b, c, d, e</a:t>
            </a:r>
          </a:p>
          <a:p>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Real-time application usage:</a:t>
            </a:r>
          </a:p>
          <a:p>
            <a:pPr marL="342900" indent="-342900">
              <a:buFont typeface="Arial" panose="020B0604020202020204" pitchFamily="34" charset="0"/>
              <a:buChar char="•"/>
            </a:pP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Compilers and Interpreters</a:t>
            </a:r>
          </a:p>
          <a:p>
            <a:pPr marL="342900" indent="-342900">
              <a:buFont typeface="Arial" panose="020B0604020202020204" pitchFamily="34" charset="0"/>
              <a:buChar char="•"/>
            </a:pP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Expression Evaluation in Calculators</a:t>
            </a:r>
          </a:p>
          <a:p>
            <a:pPr marL="342900" indent="-342900">
              <a:buFont typeface="Arial" panose="020B0604020202020204" pitchFamily="34" charset="0"/>
              <a:buChar char="•"/>
            </a:pP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Virtual Machines &amp; Bytecode Execution</a:t>
            </a:r>
          </a:p>
          <a:p>
            <a:pPr marL="342900" indent="-342900">
              <a:buFont typeface="Arial" panose="020B0604020202020204" pitchFamily="34" charset="0"/>
              <a:buChar char="•"/>
            </a:pP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Syntax Parsing in Programming Languages</a:t>
            </a:r>
          </a:p>
          <a:p>
            <a:pPr marL="342900" indent="-342900">
              <a:buFont typeface="Arial" panose="020B0604020202020204" pitchFamily="34" charset="0"/>
              <a:buChar char="•"/>
            </a:pPr>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983625"/>
            <a:ext cx="8072494" cy="1169551"/>
          </a:xfrm>
          <a:prstGeom prst="rect">
            <a:avLst/>
          </a:prstGeom>
          <a:noFill/>
        </p:spPr>
        <p:txBody>
          <a:bodyPr wrap="square" rtlCol="0">
            <a:spAutoFit/>
          </a:bodyPr>
          <a:lstStyle/>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graphicFrame>
        <p:nvGraphicFramePr>
          <p:cNvPr id="5" name="Table 4">
            <a:extLst>
              <a:ext uri="{FF2B5EF4-FFF2-40B4-BE49-F238E27FC236}">
                <a16:creationId xmlns:a16="http://schemas.microsoft.com/office/drawing/2014/main" id="{80A4D0B9-7BA4-0612-8D6F-872E289A83EA}"/>
              </a:ext>
            </a:extLst>
          </p:cNvPr>
          <p:cNvGraphicFramePr>
            <a:graphicFrameLocks noGrp="1"/>
          </p:cNvGraphicFramePr>
          <p:nvPr>
            <p:extLst>
              <p:ext uri="{D42A27DB-BD31-4B8C-83A1-F6EECF244321}">
                <p14:modId xmlns:p14="http://schemas.microsoft.com/office/powerpoint/2010/main" val="2146778857"/>
              </p:ext>
            </p:extLst>
          </p:nvPr>
        </p:nvGraphicFramePr>
        <p:xfrm>
          <a:off x="323528" y="836712"/>
          <a:ext cx="8391876" cy="3737614"/>
        </p:xfrm>
        <a:graphic>
          <a:graphicData uri="http://schemas.openxmlformats.org/drawingml/2006/table">
            <a:tbl>
              <a:tblPr firstRow="1" bandRow="1">
                <a:tableStyleId>{93296810-A885-4BE3-A3E7-6D5BEEA58F35}</a:tableStyleId>
              </a:tblPr>
              <a:tblGrid>
                <a:gridCol w="2797292">
                  <a:extLst>
                    <a:ext uri="{9D8B030D-6E8A-4147-A177-3AD203B41FA5}">
                      <a16:colId xmlns:a16="http://schemas.microsoft.com/office/drawing/2014/main" val="1485032182"/>
                    </a:ext>
                  </a:extLst>
                </a:gridCol>
                <a:gridCol w="2797292">
                  <a:extLst>
                    <a:ext uri="{9D8B030D-6E8A-4147-A177-3AD203B41FA5}">
                      <a16:colId xmlns:a16="http://schemas.microsoft.com/office/drawing/2014/main" val="1652888006"/>
                    </a:ext>
                  </a:extLst>
                </a:gridCol>
                <a:gridCol w="2797292">
                  <a:extLst>
                    <a:ext uri="{9D8B030D-6E8A-4147-A177-3AD203B41FA5}">
                      <a16:colId xmlns:a16="http://schemas.microsoft.com/office/drawing/2014/main" val="2651035846"/>
                    </a:ext>
                  </a:extLst>
                </a:gridCol>
              </a:tblGrid>
              <a:tr h="432048">
                <a:tc gridSpan="3">
                  <a:txBody>
                    <a:bodyPr/>
                    <a:lstStyle/>
                    <a:p>
                      <a:pPr algn="ctr"/>
                      <a:r>
                        <a:rPr lang="en-US" dirty="0"/>
                        <a:t>Expression Formats</a:t>
                      </a:r>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3468091007"/>
                  </a:ext>
                </a:extLst>
              </a:tr>
              <a:tr h="1006041">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IN" b="1" dirty="0"/>
                        <a:t>Prefix (Polish)</a:t>
                      </a:r>
                    </a:p>
                  </a:txBody>
                  <a:tcPr anchor="ctr"/>
                </a:tc>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IN" b="1" dirty="0"/>
                        <a:t>    Infix</a:t>
                      </a:r>
                    </a:p>
                  </a:txBody>
                  <a:tcPr anchor="ctr"/>
                </a:tc>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IN" b="1" dirty="0"/>
                        <a:t>Postfix (Reverse Polish)</a:t>
                      </a:r>
                    </a:p>
                  </a:txBody>
                  <a:tcPr anchor="ctr"/>
                </a:tc>
                <a:extLst>
                  <a:ext uri="{0D108BD9-81ED-4DB2-BD59-A6C34878D82A}">
                    <a16:rowId xmlns:a16="http://schemas.microsoft.com/office/drawing/2014/main" val="3239611535"/>
                  </a:ext>
                </a:extLst>
              </a:tr>
              <a:tr h="22995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operator appears before its operands.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Example: + A B</a:t>
                      </a:r>
                    </a:p>
                    <a:p>
                      <a:endParaRPr lang="en-IN" dirty="0"/>
                    </a:p>
                  </a:txBody>
                  <a:tcPr/>
                </a:tc>
                <a:tc>
                  <a:txBody>
                    <a:bodyPr/>
                    <a:lstStyle/>
                    <a:p>
                      <a:r>
                        <a:rPr lang="en-US" dirty="0"/>
                        <a:t>The binary operator is placed in-between the operands.</a:t>
                      </a:r>
                    </a:p>
                    <a:p>
                      <a:r>
                        <a:rPr lang="en-US" dirty="0"/>
                        <a:t>Example: A + B</a:t>
                      </a:r>
                    </a:p>
                    <a:p>
                      <a:endParaRPr lang="en-IN" dirty="0"/>
                    </a:p>
                  </a:txBody>
                  <a:tcPr/>
                </a:tc>
                <a:tc>
                  <a:txBody>
                    <a:bodyPr/>
                    <a:lstStyle/>
                    <a:p>
                      <a:r>
                        <a:rPr lang="en-US" dirty="0"/>
                        <a:t>The operator appears after its operands.</a:t>
                      </a:r>
                    </a:p>
                    <a:p>
                      <a:r>
                        <a:rPr lang="en-US" dirty="0"/>
                        <a:t>Example: A B +</a:t>
                      </a:r>
                    </a:p>
                    <a:p>
                      <a:endParaRPr lang="en-IN" dirty="0"/>
                    </a:p>
                  </a:txBody>
                  <a:tcPr/>
                </a:tc>
                <a:extLst>
                  <a:ext uri="{0D108BD9-81ED-4DB2-BD59-A6C34878D82A}">
                    <a16:rowId xmlns:a16="http://schemas.microsoft.com/office/drawing/2014/main" val="4357006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571480"/>
            <a:ext cx="8072494" cy="5878532"/>
          </a:xfrm>
          <a:prstGeom prst="rect">
            <a:avLst/>
          </a:prstGeom>
          <a:noFill/>
        </p:spPr>
        <p:txBody>
          <a:bodyPr wrap="square" rtlCol="0">
            <a:sp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Problem of Precedence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first problem with understanding the meaning of expressions and statements is finding out the order in which the operations are performed.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Example: X = a / b – c + d * e – a * c</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Assume a=4, b=c=2, d=e=3. The result depends entirely on the evaluation order.</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With Standard Precedence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((4/2)-2) + (3*3) - (4*2)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0 + 9 - 8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1</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With Different Grouping</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(4 / (2-2+3)) * (3-4) * 2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(4/3) * -1 * 2 ≈ -2.67</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36512" y="-283483"/>
            <a:ext cx="8894792" cy="6617196"/>
          </a:xfrm>
          <a:prstGeom prst="rect">
            <a:avLst/>
          </a:prstGeom>
          <a:noFill/>
        </p:spPr>
        <p:txBody>
          <a:bodyPr wrap="square" rtlCol="0">
            <a:spAutoFit/>
          </a:bodyPr>
          <a:lstStyle/>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Infix to Postfix Conversion: A Simple Algorithm</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Step 1: Fully parenthesize the expression based on precedence.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Step 2: Move all binary operators so that they replace their corresponding right parentheses.</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Step 3: Delete all parentheses.</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Example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Infix: a/</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b-c+d</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*e-a*c</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Parenthesized: (((a/b)-c)+((d*e))-(a*c))</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Postfix: ab/c-de*+ac*-</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a:p>
            <a:endParaRPr lang="en-US" sz="2400" dirty="0">
              <a:solidFill>
                <a:schemeClr val="bg2">
                  <a:lumMod val="10000"/>
                </a:schemeClr>
              </a:solidFill>
              <a:latin typeface="Times New Roman" pitchFamily="18" charset="0"/>
              <a:cs typeface="Times New Roman" pitchFamily="18" charset="0"/>
            </a:endParaRPr>
          </a:p>
        </p:txBody>
      </p:sp>
      <p:sp>
        <p:nvSpPr>
          <p:cNvPr id="3" name="AutoShape 2" descr="Infix to Postfix using Stack - CodeCrucks">
            <a:extLst>
              <a:ext uri="{FF2B5EF4-FFF2-40B4-BE49-F238E27FC236}">
                <a16:creationId xmlns:a16="http://schemas.microsoft.com/office/drawing/2014/main" id="{8B453441-CED5-849B-C361-AC5D47BA8574}"/>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Infix to postfix conversion using stack">
            <a:extLst>
              <a:ext uri="{FF2B5EF4-FFF2-40B4-BE49-F238E27FC236}">
                <a16:creationId xmlns:a16="http://schemas.microsoft.com/office/drawing/2014/main" id="{96143647-7440-B41E-D9C2-004580A715E9}"/>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6DC40324-F4D5-FC09-3977-7350234576BF}"/>
              </a:ext>
            </a:extLst>
          </p:cNvPr>
          <p:cNvPicPr>
            <a:picLocks noChangeAspect="1"/>
          </p:cNvPicPr>
          <p:nvPr/>
        </p:nvPicPr>
        <p:blipFill>
          <a:blip r:embed="rId2"/>
          <a:stretch>
            <a:fillRect/>
          </a:stretch>
        </p:blipFill>
        <p:spPr>
          <a:xfrm>
            <a:off x="1043608" y="3527617"/>
            <a:ext cx="4892464" cy="275867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0042A-15F6-9FC4-80F0-59F094CBE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80F43-37F7-E7AC-5E47-CC04DE9E4FA5}"/>
              </a:ext>
            </a:extLst>
          </p:cNvPr>
          <p:cNvSpPr txBox="1">
            <a:spLocks/>
          </p:cNvSpPr>
          <p:nvPr/>
        </p:nvSpPr>
        <p:spPr>
          <a:xfrm>
            <a:off x="285720" y="428604"/>
            <a:ext cx="8429684" cy="571504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A39B1145-FCB4-8433-AC60-1A10DA5A1CC7}"/>
              </a:ext>
            </a:extLst>
          </p:cNvPr>
          <p:cNvSpPr txBox="1"/>
          <p:nvPr/>
        </p:nvSpPr>
        <p:spPr>
          <a:xfrm>
            <a:off x="285720" y="642918"/>
            <a:ext cx="8072494" cy="3570208"/>
          </a:xfrm>
          <a:prstGeom prst="rect">
            <a:avLst/>
          </a:prstGeom>
          <a:noFill/>
        </p:spPr>
        <p:txBody>
          <a:bodyPr wrap="square" rtlCol="0">
            <a:sp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More Robust Method: Stack-Based Conversion</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simple algorithm can be difficult. A more robust scheme uses a stack to handle operators and parentheses based on their precedence.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Scan the infix expression from left to right.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an operand is found, add it to the postfix string.</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an operator is found, push it to the stack after handling precedence.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Parentheses have special handling rules.</a:t>
            </a:r>
          </a:p>
          <a:p>
            <a:endParaRPr lang="en-US" sz="2400" dirty="0"/>
          </a:p>
          <a:p>
            <a:endParaRPr lang="en-US" sz="2400" dirty="0"/>
          </a:p>
          <a:p>
            <a:endParaRPr lang="en-US" sz="2400" dirty="0">
              <a:solidFill>
                <a:schemeClr val="bg2">
                  <a:lumMod val="10000"/>
                </a:schemeClr>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CC2D7DA0-92CA-A916-17F3-0E760D9B1E13}"/>
              </a:ext>
            </a:extLst>
          </p:cNvPr>
          <p:cNvPicPr>
            <a:picLocks noChangeAspect="1"/>
          </p:cNvPicPr>
          <p:nvPr/>
        </p:nvPicPr>
        <p:blipFill>
          <a:blip r:embed="rId2"/>
          <a:stretch>
            <a:fillRect/>
          </a:stretch>
        </p:blipFill>
        <p:spPr>
          <a:xfrm>
            <a:off x="294187" y="3501008"/>
            <a:ext cx="3444538" cy="2667231"/>
          </a:xfrm>
          <a:prstGeom prst="rect">
            <a:avLst/>
          </a:prstGeom>
        </p:spPr>
      </p:pic>
    </p:spTree>
    <p:extLst>
      <p:ext uri="{BB962C8B-B14F-4D97-AF65-F5344CB8AC3E}">
        <p14:creationId xmlns:p14="http://schemas.microsoft.com/office/powerpoint/2010/main" val="2852928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52B2F-71B5-3487-90D1-E90EFBA12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D088A-9D1B-8493-8922-83685D5804AE}"/>
              </a:ext>
            </a:extLst>
          </p:cNvPr>
          <p:cNvSpPr txBox="1">
            <a:spLocks/>
          </p:cNvSpPr>
          <p:nvPr/>
        </p:nvSpPr>
        <p:spPr>
          <a:xfrm>
            <a:off x="285720" y="428604"/>
            <a:ext cx="8429684" cy="571504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EFC286B1-3C31-A5F6-B733-05F7D3FB231A}"/>
              </a:ext>
            </a:extLst>
          </p:cNvPr>
          <p:cNvSpPr txBox="1"/>
          <p:nvPr/>
        </p:nvSpPr>
        <p:spPr>
          <a:xfrm>
            <a:off x="285720" y="642918"/>
            <a:ext cx="8072494" cy="2893100"/>
          </a:xfrm>
          <a:prstGeom prst="rect">
            <a:avLst/>
          </a:prstGeom>
          <a:noFill/>
        </p:spPr>
        <p:txBody>
          <a:bodyPr wrap="square" rtlCol="0">
            <a:spAutoFit/>
          </a:bodyPr>
          <a:lstStyle/>
          <a:p>
            <a:endParaRPr lang="en-US" sz="2400" b="1" dirty="0"/>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In-Stack vs. Incoming Precedence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To correctly manage the operator stack, we differentiate between the precedence of an operator already on the stack versus one we are about to add.</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400" dirty="0"/>
          </a:p>
          <a:p>
            <a:endParaRPr lang="en-US" sz="2400" dirty="0">
              <a:solidFill>
                <a:schemeClr val="bg2">
                  <a:lumMod val="10000"/>
                </a:schemeClr>
              </a:solidFill>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1E77B356-C883-7689-3E7F-217D5F897A93}"/>
              </a:ext>
            </a:extLst>
          </p:cNvPr>
          <p:cNvGraphicFramePr>
            <a:graphicFrameLocks noGrp="1"/>
          </p:cNvGraphicFramePr>
          <p:nvPr>
            <p:extLst>
              <p:ext uri="{D42A27DB-BD31-4B8C-83A1-F6EECF244321}">
                <p14:modId xmlns:p14="http://schemas.microsoft.com/office/powerpoint/2010/main" val="2871754346"/>
              </p:ext>
            </p:extLst>
          </p:nvPr>
        </p:nvGraphicFramePr>
        <p:xfrm>
          <a:off x="428596" y="2924944"/>
          <a:ext cx="8463884" cy="2011680"/>
        </p:xfrm>
        <a:graphic>
          <a:graphicData uri="http://schemas.openxmlformats.org/drawingml/2006/table">
            <a:tbl>
              <a:tblPr firstRow="1" bandRow="1">
                <a:tableStyleId>{46F890A9-2807-4EBB-B81D-B2AA78EC7F39}</a:tableStyleId>
              </a:tblPr>
              <a:tblGrid>
                <a:gridCol w="4231942">
                  <a:extLst>
                    <a:ext uri="{9D8B030D-6E8A-4147-A177-3AD203B41FA5}">
                      <a16:colId xmlns:a16="http://schemas.microsoft.com/office/drawing/2014/main" val="3461950629"/>
                    </a:ext>
                  </a:extLst>
                </a:gridCol>
                <a:gridCol w="4231942">
                  <a:extLst>
                    <a:ext uri="{9D8B030D-6E8A-4147-A177-3AD203B41FA5}">
                      <a16:colId xmlns:a16="http://schemas.microsoft.com/office/drawing/2014/main" val="1765528434"/>
                    </a:ext>
                  </a:extLst>
                </a:gridCol>
              </a:tblGrid>
              <a:tr h="1944216">
                <a:tc>
                  <a:txBody>
                    <a:bodyPr/>
                    <a:lstStyle/>
                    <a:p>
                      <a:r>
                        <a:rPr lang="en-US" b="1" dirty="0"/>
                        <a:t>In-Stack Precedence (isp)</a:t>
                      </a:r>
                    </a:p>
                    <a:p>
                      <a:r>
                        <a:rPr lang="en-US" dirty="0"/>
                        <a:t>The precedence of an operator that is already on the stack. A left parenthesis on the stack has very low precedence, so it isn't popped by other operators.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Incoming Precedence (</a:t>
                      </a:r>
                      <a:r>
                        <a:rPr lang="en-US" b="1" dirty="0" err="1"/>
                        <a:t>icp</a:t>
                      </a:r>
                      <a:r>
                        <a:rPr lang="en-US" b="1" dirty="0"/>
                        <a:t>)</a:t>
                      </a:r>
                    </a:p>
                    <a:p>
                      <a:r>
                        <a:rPr lang="en-US" dirty="0"/>
                        <a:t>The precedence of an operator from the input expression. An incoming left parenthesis has the highest precedence to ensure it's always pushed onto the stack.</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3963520"/>
                  </a:ext>
                </a:extLst>
              </a:tr>
            </a:tbl>
          </a:graphicData>
        </a:graphic>
      </p:graphicFrame>
    </p:spTree>
    <p:extLst>
      <p:ext uri="{BB962C8B-B14F-4D97-AF65-F5344CB8AC3E}">
        <p14:creationId xmlns:p14="http://schemas.microsoft.com/office/powerpoint/2010/main" val="344105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2A1DE-9471-6061-FEA6-9153889D1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82084-115E-4F7D-FE54-2370A48CD1A8}"/>
              </a:ext>
            </a:extLst>
          </p:cNvPr>
          <p:cNvSpPr txBox="1">
            <a:spLocks/>
          </p:cNvSpPr>
          <p:nvPr/>
        </p:nvSpPr>
        <p:spPr>
          <a:xfrm>
            <a:off x="285720" y="428604"/>
            <a:ext cx="8429684" cy="571504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39EE6265-FD76-4BE2-7105-42116B32732E}"/>
              </a:ext>
            </a:extLst>
          </p:cNvPr>
          <p:cNvSpPr txBox="1"/>
          <p:nvPr/>
        </p:nvSpPr>
        <p:spPr>
          <a:xfrm>
            <a:off x="285720" y="642918"/>
            <a:ext cx="8072494" cy="1938992"/>
          </a:xfrm>
          <a:prstGeom prst="rect">
            <a:avLst/>
          </a:prstGeom>
          <a:noFill/>
        </p:spPr>
        <p:txBody>
          <a:bodyPr wrap="square" rtlCol="0">
            <a:spAutoFit/>
          </a:bodyPr>
          <a:lstStyle/>
          <a:p>
            <a:endParaRPr lang="en-US" sz="2400" b="1" dirty="0"/>
          </a:p>
          <a:p>
            <a:r>
              <a:rPr lang="en-US" sz="2400" b="1" dirty="0"/>
              <a:t>In-Stack vs. Incoming Precedence</a:t>
            </a:r>
          </a:p>
          <a:p>
            <a:endParaRPr lang="en-US" sz="2400" b="1" dirty="0"/>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21EC7D9D-E64E-E25A-94F6-64BD13F3244D}"/>
              </a:ext>
            </a:extLst>
          </p:cNvPr>
          <p:cNvPicPr>
            <a:picLocks noChangeAspect="1"/>
          </p:cNvPicPr>
          <p:nvPr/>
        </p:nvPicPr>
        <p:blipFill>
          <a:blip r:embed="rId2"/>
          <a:stretch>
            <a:fillRect/>
          </a:stretch>
        </p:blipFill>
        <p:spPr>
          <a:xfrm>
            <a:off x="0" y="1484784"/>
            <a:ext cx="9144000" cy="4994865"/>
          </a:xfrm>
          <a:prstGeom prst="rect">
            <a:avLst/>
          </a:prstGeom>
        </p:spPr>
      </p:pic>
    </p:spTree>
    <p:extLst>
      <p:ext uri="{BB962C8B-B14F-4D97-AF65-F5344CB8AC3E}">
        <p14:creationId xmlns:p14="http://schemas.microsoft.com/office/powerpoint/2010/main" val="142672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B1B6E-92E5-FBAB-DDB8-8CFEA4E27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50618-CB92-89FA-8D4B-1D68CF200FC2}"/>
              </a:ext>
            </a:extLst>
          </p:cNvPr>
          <p:cNvSpPr txBox="1">
            <a:spLocks/>
          </p:cNvSpPr>
          <p:nvPr/>
        </p:nvSpPr>
        <p:spPr>
          <a:xfrm>
            <a:off x="285720" y="428604"/>
            <a:ext cx="8429684" cy="571504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1579452A-8359-6AC4-355E-AD7BD8E447F3}"/>
              </a:ext>
            </a:extLst>
          </p:cNvPr>
          <p:cNvSpPr txBox="1"/>
          <p:nvPr/>
        </p:nvSpPr>
        <p:spPr>
          <a:xfrm>
            <a:off x="107504" y="-27384"/>
            <a:ext cx="8072494" cy="1200329"/>
          </a:xfrm>
          <a:prstGeom prst="rect">
            <a:avLst/>
          </a:prstGeom>
          <a:noFill/>
        </p:spPr>
        <p:txBody>
          <a:bodyPr wrap="square" rtlCol="0">
            <a:spAutoFit/>
          </a:bodyPr>
          <a:lstStyle/>
          <a:p>
            <a:r>
              <a:rPr lang="en-US" sz="2400" b="1" dirty="0"/>
              <a:t>In-Stack vs. Incoming Precedence</a:t>
            </a:r>
          </a:p>
          <a:p>
            <a:endParaRPr lang="en-US" sz="2400" b="1" dirty="0"/>
          </a:p>
          <a:p>
            <a:endParaRPr lang="en-US" sz="2400" b="1" dirty="0"/>
          </a:p>
        </p:txBody>
      </p:sp>
      <p:pic>
        <p:nvPicPr>
          <p:cNvPr id="5" name="Picture 4">
            <a:extLst>
              <a:ext uri="{FF2B5EF4-FFF2-40B4-BE49-F238E27FC236}">
                <a16:creationId xmlns:a16="http://schemas.microsoft.com/office/drawing/2014/main" id="{915EFFAF-3043-258E-C44F-A6FA5F1E8D71}"/>
              </a:ext>
            </a:extLst>
          </p:cNvPr>
          <p:cNvPicPr>
            <a:picLocks noChangeAspect="1"/>
          </p:cNvPicPr>
          <p:nvPr/>
        </p:nvPicPr>
        <p:blipFill>
          <a:blip r:embed="rId2"/>
          <a:stretch>
            <a:fillRect/>
          </a:stretch>
        </p:blipFill>
        <p:spPr>
          <a:xfrm>
            <a:off x="257179" y="412627"/>
            <a:ext cx="8131245" cy="4168501"/>
          </a:xfrm>
          <a:prstGeom prst="rect">
            <a:avLst/>
          </a:prstGeom>
        </p:spPr>
      </p:pic>
      <p:sp>
        <p:nvSpPr>
          <p:cNvPr id="8" name="TextBox 7">
            <a:extLst>
              <a:ext uri="{FF2B5EF4-FFF2-40B4-BE49-F238E27FC236}">
                <a16:creationId xmlns:a16="http://schemas.microsoft.com/office/drawing/2014/main" id="{CAD33CBB-9C30-747C-9276-CDD1A73BDA52}"/>
              </a:ext>
            </a:extLst>
          </p:cNvPr>
          <p:cNvSpPr txBox="1"/>
          <p:nvPr/>
        </p:nvSpPr>
        <p:spPr>
          <a:xfrm>
            <a:off x="107504" y="4715852"/>
            <a:ext cx="7848872" cy="1200329"/>
          </a:xfrm>
          <a:prstGeom prst="rect">
            <a:avLst/>
          </a:prstGeom>
          <a:noFill/>
        </p:spPr>
        <p:txBody>
          <a:bodyPr wrap="square">
            <a:spAutoFit/>
          </a:bodyPr>
          <a:lstStyle/>
          <a:p>
            <a:r>
              <a:rPr lang="en-US" b="1" dirty="0"/>
              <a:t>Rule 1 </a:t>
            </a:r>
            <a:r>
              <a:rPr lang="en-US" dirty="0"/>
              <a:t>: if opening parenthesis, can directly </a:t>
            </a:r>
            <a:r>
              <a:rPr lang="en-US" b="1" dirty="0"/>
              <a:t>push</a:t>
            </a:r>
            <a:r>
              <a:rPr lang="en-US" dirty="0"/>
              <a:t> operator to the stack</a:t>
            </a:r>
          </a:p>
          <a:p>
            <a:r>
              <a:rPr lang="en-US" sz="1800" b="1" dirty="0"/>
              <a:t>Rule </a:t>
            </a:r>
            <a:r>
              <a:rPr lang="en-US" b="1" dirty="0"/>
              <a:t>2 </a:t>
            </a:r>
            <a:r>
              <a:rPr lang="en-US" dirty="0"/>
              <a:t>: if closing parenthesis, have to </a:t>
            </a:r>
            <a:r>
              <a:rPr lang="en-US" b="1" dirty="0"/>
              <a:t>pop</a:t>
            </a:r>
            <a:r>
              <a:rPr lang="en-US" dirty="0"/>
              <a:t> out all the operators one by one until we get opening parenthesis.</a:t>
            </a:r>
            <a:r>
              <a:rPr lang="en-US" sz="1800" dirty="0"/>
              <a:t> </a:t>
            </a:r>
            <a:endParaRPr lang="en-IN" dirty="0"/>
          </a:p>
        </p:txBody>
      </p:sp>
    </p:spTree>
    <p:extLst>
      <p:ext uri="{BB962C8B-B14F-4D97-AF65-F5344CB8AC3E}">
        <p14:creationId xmlns:p14="http://schemas.microsoft.com/office/powerpoint/2010/main" val="3313663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A2A75-AE4F-ACBD-91BE-FDFF69CBF1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EBD2D-A697-130E-FC04-48CBC7136A61}"/>
              </a:ext>
            </a:extLst>
          </p:cNvPr>
          <p:cNvSpPr txBox="1">
            <a:spLocks/>
          </p:cNvSpPr>
          <p:nvPr/>
        </p:nvSpPr>
        <p:spPr>
          <a:xfrm>
            <a:off x="285720" y="428604"/>
            <a:ext cx="8429684" cy="571504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7BC3C0EA-9BE1-B70D-4D84-B378ABAD534F}"/>
              </a:ext>
            </a:extLst>
          </p:cNvPr>
          <p:cNvSpPr txBox="1"/>
          <p:nvPr/>
        </p:nvSpPr>
        <p:spPr>
          <a:xfrm>
            <a:off x="107504" y="-27384"/>
            <a:ext cx="8072494" cy="830997"/>
          </a:xfrm>
          <a:prstGeom prst="rect">
            <a:avLst/>
          </a:prstGeom>
          <a:noFill/>
        </p:spPr>
        <p:txBody>
          <a:bodyPr wrap="square" rtlCol="0">
            <a:spAutoFit/>
          </a:bodyPr>
          <a:lstStyle/>
          <a:p>
            <a:endParaRPr lang="en-US" sz="2400" b="1" dirty="0"/>
          </a:p>
          <a:p>
            <a:endParaRPr lang="en-US" sz="2400" b="1" dirty="0"/>
          </a:p>
        </p:txBody>
      </p:sp>
      <p:sp>
        <p:nvSpPr>
          <p:cNvPr id="8" name="TextBox 7">
            <a:extLst>
              <a:ext uri="{FF2B5EF4-FFF2-40B4-BE49-F238E27FC236}">
                <a16:creationId xmlns:a16="http://schemas.microsoft.com/office/drawing/2014/main" id="{4853FBD1-527D-5D1A-AD43-E4AE8533332F}"/>
              </a:ext>
            </a:extLst>
          </p:cNvPr>
          <p:cNvSpPr txBox="1"/>
          <p:nvPr/>
        </p:nvSpPr>
        <p:spPr>
          <a:xfrm>
            <a:off x="285720" y="1052736"/>
            <a:ext cx="8280920" cy="3477875"/>
          </a:xfrm>
          <a:prstGeom prst="rect">
            <a:avLst/>
          </a:prstGeom>
          <a:noFill/>
        </p:spPr>
        <p:txBody>
          <a:bodyPr wrap="square">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Postfix Conversion Algorithm Logic</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algorithm processes each token from the infix expression:</a:t>
            </a:r>
          </a:p>
          <a:p>
            <a:pPr marL="285750" indent="-285750">
              <a:buFont typeface="Arial" panose="020B0604020202020204" pitchFamily="34"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token is an operand: output it.</a:t>
            </a:r>
          </a:p>
          <a:p>
            <a:pPr marL="285750" indent="-285750">
              <a:buFont typeface="Arial" panose="020B0604020202020204" pitchFamily="34"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token is a right parenthesis: pop from stack and output until a left parenthesis is found. Discard both parentheses.</a:t>
            </a:r>
          </a:p>
          <a:p>
            <a:pPr marL="285750" indent="-285750">
              <a:buFont typeface="Arial" panose="020B0604020202020204" pitchFamily="34"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token is an operator: while the top of the stack has `isp &gt;=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icp</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of the current token, pop and output. Then, push the current token onto the stack.</a:t>
            </a:r>
          </a:p>
          <a:p>
            <a:pPr marL="285750" indent="-285750">
              <a:buFont typeface="Arial" panose="020B0604020202020204" pitchFamily="34"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the end of the expression: pop and output all remaining items from the stack.</a:t>
            </a:r>
          </a:p>
        </p:txBody>
      </p:sp>
    </p:spTree>
    <p:extLst>
      <p:ext uri="{BB962C8B-B14F-4D97-AF65-F5344CB8AC3E}">
        <p14:creationId xmlns:p14="http://schemas.microsoft.com/office/powerpoint/2010/main" val="3184571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107504" y="-27384"/>
            <a:ext cx="8072494" cy="5847755"/>
          </a:xfrm>
          <a:prstGeom prst="rect">
            <a:avLst/>
          </a:prstGeom>
          <a:noFill/>
        </p:spPr>
        <p:txBody>
          <a:bodyPr wrap="square" rtlCol="0">
            <a:spAutoFit/>
          </a:bodyPr>
          <a:lstStyle/>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Precendence</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2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getToken</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(char *symbol, int *n)</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{/*get the next token, symbol is the character representation, which is returned, the token is represented by its enumerated value, which is returned in the function name*/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*symbol=expr[(*n)++];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switch(*symbol)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return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lparen</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return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rparen</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return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lparen</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return minus;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return divide;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return times;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return mod;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 return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eos</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default: return operand;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A27DB-C32B-11B2-37C7-EE6E3DCC5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F1B88-3689-8ADE-B8B2-20D8B32E40D3}"/>
              </a:ext>
            </a:extLst>
          </p:cNvPr>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5D36D738-05AB-0F73-7BF6-D52349C40D7E}"/>
              </a:ext>
            </a:extLst>
          </p:cNvPr>
          <p:cNvSpPr txBox="1"/>
          <p:nvPr/>
        </p:nvSpPr>
        <p:spPr>
          <a:xfrm>
            <a:off x="107504" y="481890"/>
            <a:ext cx="8072494" cy="5755422"/>
          </a:xfrm>
          <a:prstGeom prst="rect">
            <a:avLst/>
          </a:prstGeom>
          <a:noFill/>
        </p:spPr>
        <p:txBody>
          <a:bodyPr wrap="square" rtlCol="0">
            <a:spAutoFit/>
          </a:bodyPr>
          <a:lstStyle/>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declarations that establish the precedence’s are: /* isp and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icp</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arrays-index is value of precedence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lparen</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rparen</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plus, minus, times, divide, mod,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eos</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 isp[] = {0,19,12,12,13,13,13,0};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icp</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{20,19,12,12,13,13,13,0}; </a:t>
            </a:r>
          </a:p>
          <a:p>
            <a:r>
              <a:rPr lang="en-US" i="1" dirty="0">
                <a:solidFill>
                  <a:schemeClr val="accent2">
                    <a:lumMod val="60000"/>
                    <a:lumOff val="40000"/>
                  </a:schemeClr>
                </a:solidFill>
                <a:latin typeface="Times New Roman" panose="02020603050405020304" pitchFamily="18" charset="0"/>
                <a:cs typeface="Times New Roman" panose="02020603050405020304" pitchFamily="18" charset="0"/>
              </a:rPr>
              <a:t>isp: </a:t>
            </a:r>
            <a:r>
              <a:rPr lang="en-US" b="1" i="1" dirty="0">
                <a:solidFill>
                  <a:schemeClr val="accent2">
                    <a:lumMod val="60000"/>
                    <a:lumOff val="40000"/>
                  </a:schemeClr>
                </a:solidFill>
                <a:latin typeface="Times New Roman" panose="02020603050405020304" pitchFamily="18" charset="0"/>
                <a:cs typeface="Times New Roman" panose="02020603050405020304" pitchFamily="18" charset="0"/>
              </a:rPr>
              <a:t>in-stack precedence</a:t>
            </a:r>
            <a:r>
              <a:rPr lang="en-US" i="1" dirty="0">
                <a:solidFill>
                  <a:schemeClr val="accent2">
                    <a:lumMod val="60000"/>
                    <a:lumOff val="40000"/>
                  </a:schemeClr>
                </a:solidFill>
                <a:latin typeface="Times New Roman" panose="02020603050405020304" pitchFamily="18" charset="0"/>
                <a:cs typeface="Times New Roman" panose="02020603050405020304" pitchFamily="18" charset="0"/>
              </a:rPr>
              <a:t> — precedence of operators already on the stack.</a:t>
            </a:r>
          </a:p>
          <a:p>
            <a:r>
              <a:rPr lang="en-US" i="1" dirty="0" err="1">
                <a:solidFill>
                  <a:schemeClr val="accent2">
                    <a:lumMod val="60000"/>
                    <a:lumOff val="40000"/>
                  </a:schemeClr>
                </a:solidFill>
                <a:latin typeface="Times New Roman" panose="02020603050405020304" pitchFamily="18" charset="0"/>
                <a:cs typeface="Times New Roman" panose="02020603050405020304" pitchFamily="18" charset="0"/>
              </a:rPr>
              <a:t>icp</a:t>
            </a:r>
            <a:r>
              <a:rPr lang="en-US" i="1" dirty="0">
                <a:solidFill>
                  <a:schemeClr val="accent2">
                    <a:lumMod val="60000"/>
                    <a:lumOff val="40000"/>
                  </a:schemeClr>
                </a:solidFill>
                <a:latin typeface="Times New Roman" panose="02020603050405020304" pitchFamily="18" charset="0"/>
                <a:cs typeface="Times New Roman" panose="02020603050405020304" pitchFamily="18" charset="0"/>
              </a:rPr>
              <a:t>: </a:t>
            </a:r>
            <a:r>
              <a:rPr lang="en-US" b="1" i="1" dirty="0">
                <a:solidFill>
                  <a:schemeClr val="accent2">
                    <a:lumMod val="60000"/>
                    <a:lumOff val="40000"/>
                  </a:schemeClr>
                </a:solidFill>
                <a:latin typeface="Times New Roman" panose="02020603050405020304" pitchFamily="18" charset="0"/>
                <a:cs typeface="Times New Roman" panose="02020603050405020304" pitchFamily="18" charset="0"/>
              </a:rPr>
              <a:t>incoming precedence</a:t>
            </a:r>
            <a:r>
              <a:rPr lang="en-US" i="1" dirty="0">
                <a:solidFill>
                  <a:schemeClr val="accent2">
                    <a:lumMod val="60000"/>
                    <a:lumOff val="40000"/>
                  </a:schemeClr>
                </a:solidFill>
                <a:latin typeface="Times New Roman" panose="02020603050405020304" pitchFamily="18" charset="0"/>
                <a:cs typeface="Times New Roman" panose="02020603050405020304" pitchFamily="18" charset="0"/>
              </a:rPr>
              <a:t> — precedence of the current token being read.</a:t>
            </a:r>
            <a:endParaRPr lang="en-IN" sz="2200" dirty="0">
              <a:solidFill>
                <a:schemeClr val="accent2">
                  <a:lumMod val="60000"/>
                  <a:lumOff val="40000"/>
                </a:schemeClr>
              </a:solidFill>
              <a:effectLst>
                <a:outerShdw blurRad="31750" dist="25400" dir="5400000" algn="tl" rotWithShape="0">
                  <a:srgbClr val="000000">
                    <a:alpha val="25000"/>
                  </a:srgbClr>
                </a:outerShdw>
              </a:effectLst>
              <a:latin typeface="Times New Roman" panose="02020603050405020304" pitchFamily="18" charset="0"/>
              <a:cs typeface="Times New Roman" pitchFamily="18" charset="0"/>
            </a:endParaRP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void postfix(void)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char symbol; precedence token;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 n = 0,top = 0; /* place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eos</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on stack */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stack[0] =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eos</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i="1" dirty="0">
                <a:solidFill>
                  <a:schemeClr val="accent2">
                    <a:lumMod val="60000"/>
                    <a:lumOff val="40000"/>
                  </a:schemeClr>
                </a:solidFill>
                <a:latin typeface="Times New Roman" panose="02020603050405020304" pitchFamily="18" charset="0"/>
                <a:cs typeface="Times New Roman" panose="02020603050405020304" pitchFamily="18" charset="0"/>
              </a:rPr>
              <a:t>symbol: holds the current character from the expression.</a:t>
            </a:r>
          </a:p>
          <a:p>
            <a:r>
              <a:rPr lang="en-US" i="1" dirty="0">
                <a:solidFill>
                  <a:schemeClr val="accent2">
                    <a:lumMod val="60000"/>
                    <a:lumOff val="40000"/>
                  </a:schemeClr>
                </a:solidFill>
                <a:latin typeface="Times New Roman" panose="02020603050405020304" pitchFamily="18" charset="0"/>
                <a:cs typeface="Times New Roman" panose="02020603050405020304" pitchFamily="18" charset="0"/>
              </a:rPr>
              <a:t>token: holds the type of symbol (operand, operator, etc.).</a:t>
            </a:r>
          </a:p>
          <a:p>
            <a:r>
              <a:rPr lang="en-US" i="1" dirty="0">
                <a:solidFill>
                  <a:schemeClr val="accent2">
                    <a:lumMod val="60000"/>
                    <a:lumOff val="40000"/>
                  </a:schemeClr>
                </a:solidFill>
                <a:latin typeface="Times New Roman" panose="02020603050405020304" pitchFamily="18" charset="0"/>
                <a:cs typeface="Times New Roman" panose="02020603050405020304" pitchFamily="18" charset="0"/>
              </a:rPr>
              <a:t>n: index for reading the expression.</a:t>
            </a:r>
          </a:p>
          <a:p>
            <a:r>
              <a:rPr lang="en-US" i="1" dirty="0">
                <a:solidFill>
                  <a:schemeClr val="accent2">
                    <a:lumMod val="60000"/>
                    <a:lumOff val="40000"/>
                  </a:schemeClr>
                </a:solidFill>
                <a:latin typeface="Times New Roman" panose="02020603050405020304" pitchFamily="18" charset="0"/>
                <a:cs typeface="Times New Roman" panose="02020603050405020304" pitchFamily="18" charset="0"/>
              </a:rPr>
              <a:t>top: top of the stack.</a:t>
            </a:r>
          </a:p>
          <a:p>
            <a:r>
              <a:rPr lang="en-US" i="1" dirty="0">
                <a:solidFill>
                  <a:schemeClr val="accent2">
                    <a:lumMod val="60000"/>
                    <a:lumOff val="40000"/>
                  </a:schemeClr>
                </a:solidFill>
                <a:latin typeface="Times New Roman" panose="02020603050405020304" pitchFamily="18" charset="0"/>
                <a:cs typeface="Times New Roman" panose="02020603050405020304" pitchFamily="18" charset="0"/>
              </a:rPr>
              <a:t>stack[0] = </a:t>
            </a:r>
            <a:r>
              <a:rPr lang="en-US" i="1" dirty="0" err="1">
                <a:solidFill>
                  <a:schemeClr val="accent2">
                    <a:lumMod val="60000"/>
                    <a:lumOff val="40000"/>
                  </a:schemeClr>
                </a:solidFill>
                <a:latin typeface="Times New Roman" panose="02020603050405020304" pitchFamily="18" charset="0"/>
                <a:cs typeface="Times New Roman" panose="02020603050405020304" pitchFamily="18" charset="0"/>
              </a:rPr>
              <a:t>eos</a:t>
            </a:r>
            <a:r>
              <a:rPr lang="en-US" i="1" dirty="0">
                <a:solidFill>
                  <a:schemeClr val="accent2">
                    <a:lumMod val="60000"/>
                    <a:lumOff val="40000"/>
                  </a:schemeClr>
                </a:solidFill>
                <a:latin typeface="Times New Roman" panose="02020603050405020304" pitchFamily="18" charset="0"/>
                <a:cs typeface="Times New Roman" panose="02020603050405020304" pitchFamily="18" charset="0"/>
              </a:rPr>
              <a:t>: initialize stack with end-of-string marker.</a:t>
            </a:r>
          </a:p>
          <a:p>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2685665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05424-39B4-665E-F17E-3BC12973DC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41FC34-97C7-74F0-55DC-289BDC4FA544}"/>
              </a:ext>
            </a:extLst>
          </p:cNvPr>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74CADA0E-8D1C-1D69-54CC-B61432861697}"/>
              </a:ext>
            </a:extLst>
          </p:cNvPr>
          <p:cNvSpPr txBox="1"/>
          <p:nvPr/>
        </p:nvSpPr>
        <p:spPr>
          <a:xfrm>
            <a:off x="107504" y="-27384"/>
            <a:ext cx="8072494" cy="6863417"/>
          </a:xfrm>
          <a:prstGeom prst="rect">
            <a:avLst/>
          </a:prstGeom>
          <a:noFill/>
        </p:spPr>
        <p:txBody>
          <a:bodyPr wrap="square" rtlCol="0">
            <a:spAutoFit/>
          </a:bodyPr>
          <a:lstStyle/>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for (token =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getToken</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(&amp;symbol, &amp;n); token !=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eos</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token =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getToken</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(&amp;symbol,&amp; n)) </a:t>
            </a:r>
          </a:p>
          <a:p>
            <a:r>
              <a:rPr lang="en-IN" sz="2200" i="1" dirty="0">
                <a:solidFill>
                  <a:schemeClr val="accent2">
                    <a:lumMod val="60000"/>
                    <a:lumOff val="40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token is operand(A,B,C,D..) then just print it</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(token == operand)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 symbol);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else if (token ==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rparen</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while (stack[top] !=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lparen</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printToken</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(pop(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pop( ); }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else {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while(isp[stack[top]] &gt;=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icp</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[token]) </a:t>
            </a:r>
          </a:p>
          <a:p>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printToken</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(pop());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push(token);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while((token = pop ())!=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eos</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printToken</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(token); </a:t>
            </a:r>
          </a:p>
          <a:p>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589734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107504" y="44624"/>
            <a:ext cx="8072494" cy="5847755"/>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EVALUATION OF POSTFIX EXPRESSION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evaluation process of postfix expression is simpler than the evaluation of infix expressions because there are no parentheses to consider.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 evaluate an expression, make a single left-to-right scan of it. Place the operands on a stack until an operator is found. Then remove from the stack, the correct number of operands for the operator, perform the operation, and place the result back on the stack and continue this fashion until the end of the expression. We then remove the answer from the top of the stack.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57158" y="857232"/>
            <a:ext cx="8358246" cy="535785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179512" y="44624"/>
            <a:ext cx="8072494" cy="6524863"/>
          </a:xfrm>
          <a:prstGeom prst="rect">
            <a:avLst/>
          </a:prstGeom>
          <a:noFill/>
        </p:spPr>
        <p:txBody>
          <a:bodyPr wrap="square" rtlCol="0">
            <a:spAutoFit/>
          </a:bodyPr>
          <a:lstStyle/>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 eval(void)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precedence token;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char symbol;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 opl,op2, n=0;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 top= -1;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token =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getToken</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(&amp;symbol, &amp;n);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while(token! =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eos</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(token == operand)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push(symbol-'0'); /* stack insert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else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op2 = pop(); /* stack delete */                        </a:t>
            </a:r>
          </a:p>
          <a:p>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opl</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pop();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switch(token)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case plus: push(opl+op2);                          Ex : 3574-2^*+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break;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case minus: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push(opl-op2);                          3574-2^*+</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break; </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case times: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push(</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opl</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*op2);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break; </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E61A370D-E693-616F-0A04-FE2DDECFAB7E}"/>
              </a:ext>
            </a:extLst>
          </p:cNvPr>
          <p:cNvGraphicFramePr>
            <a:graphicFrameLocks noGrp="1"/>
          </p:cNvGraphicFramePr>
          <p:nvPr>
            <p:extLst>
              <p:ext uri="{D42A27DB-BD31-4B8C-83A1-F6EECF244321}">
                <p14:modId xmlns:p14="http://schemas.microsoft.com/office/powerpoint/2010/main" val="2847163479"/>
              </p:ext>
            </p:extLst>
          </p:nvPr>
        </p:nvGraphicFramePr>
        <p:xfrm>
          <a:off x="4788024" y="18296"/>
          <a:ext cx="4392488" cy="4821168"/>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1904891388"/>
                    </a:ext>
                  </a:extLst>
                </a:gridCol>
                <a:gridCol w="1944215">
                  <a:extLst>
                    <a:ext uri="{9D8B030D-6E8A-4147-A177-3AD203B41FA5}">
                      <a16:colId xmlns:a16="http://schemas.microsoft.com/office/drawing/2014/main" val="235825978"/>
                    </a:ext>
                  </a:extLst>
                </a:gridCol>
                <a:gridCol w="1368153">
                  <a:extLst>
                    <a:ext uri="{9D8B030D-6E8A-4147-A177-3AD203B41FA5}">
                      <a16:colId xmlns:a16="http://schemas.microsoft.com/office/drawing/2014/main" val="1318575822"/>
                    </a:ext>
                  </a:extLst>
                </a:gridCol>
              </a:tblGrid>
              <a:tr h="432048">
                <a:tc>
                  <a:txBody>
                    <a:bodyPr/>
                    <a:lstStyle/>
                    <a:p>
                      <a:pPr algn="ctr"/>
                      <a:r>
                        <a:rPr lang="en-US" dirty="0"/>
                        <a:t>Symbol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Action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Stack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134032"/>
                  </a:ext>
                </a:extLst>
              </a:tr>
              <a:tr h="360040">
                <a:tc>
                  <a:txBody>
                    <a:bodyPr/>
                    <a:lstStyle/>
                    <a:p>
                      <a:pPr algn="ctr"/>
                      <a:r>
                        <a:rPr lang="en-US" dirty="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Push 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3163630"/>
                  </a:ext>
                </a:extLst>
              </a:tr>
              <a:tr h="134848">
                <a:tc>
                  <a:txBody>
                    <a:bodyPr/>
                    <a:lstStyle/>
                    <a:p>
                      <a:pPr algn="ctr"/>
                      <a:r>
                        <a:rPr lang="en-US" dirty="0"/>
                        <a:t>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5322230"/>
                  </a:ext>
                </a:extLst>
              </a:tr>
              <a:tr h="348600">
                <a:tc>
                  <a:txBody>
                    <a:bodyPr/>
                    <a:lstStyle/>
                    <a:p>
                      <a:pPr algn="ctr"/>
                      <a:r>
                        <a:rPr lang="en-US" dirty="0"/>
                        <a:t>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Push 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3,5,7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9231891"/>
                  </a:ext>
                </a:extLst>
              </a:tr>
              <a:tr h="348600">
                <a:tc>
                  <a:txBody>
                    <a:bodyPr/>
                    <a:lstStyle/>
                    <a:p>
                      <a:pPr algn="ctr"/>
                      <a:r>
                        <a:rPr lang="en-US" dirty="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Push 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3,5,7,4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7862830"/>
                  </a:ext>
                </a:extLst>
              </a:tr>
              <a:tr h="348600">
                <a:tc>
                  <a:txBody>
                    <a:bodyPr/>
                    <a:lstStyle/>
                    <a:p>
                      <a:pPr algn="ctr"/>
                      <a:r>
                        <a:rPr lang="en-US"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Pop 4 and 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7487622"/>
                  </a:ext>
                </a:extLst>
              </a:tr>
              <a:tr h="34860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Push 7 – 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3,5,3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3397101"/>
                  </a:ext>
                </a:extLst>
              </a:tr>
              <a:tr h="348600">
                <a:tc>
                  <a:txBody>
                    <a:bodyPr/>
                    <a:lstStyle/>
                    <a:p>
                      <a:pPr algn="ctr"/>
                      <a:r>
                        <a:rPr lang="en-US"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Push 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3,5,3,2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969997"/>
                  </a:ext>
                </a:extLst>
              </a:tr>
              <a:tr h="348600">
                <a:tc>
                  <a:txBody>
                    <a:bodyPr/>
                    <a:lstStyle/>
                    <a:p>
                      <a:pPr algn="ctr"/>
                      <a:r>
                        <a:rPr lang="en-US"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Push 2 and 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3354174"/>
                  </a:ext>
                </a:extLst>
              </a:tr>
              <a:tr h="34860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Push 3 ^ 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3,5,9</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0908105"/>
                  </a:ext>
                </a:extLst>
              </a:tr>
              <a:tr h="348600">
                <a:tc>
                  <a:txBody>
                    <a:bodyPr/>
                    <a:lstStyle/>
                    <a:p>
                      <a:pPr algn="ctr"/>
                      <a:r>
                        <a:rPr lang="en-US"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Pop 9 and 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3010632"/>
                  </a:ext>
                </a:extLst>
              </a:tr>
              <a:tr h="34860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Push 5 * 9</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3,45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7935995"/>
                  </a:ext>
                </a:extLst>
              </a:tr>
              <a:tr h="348600">
                <a:tc>
                  <a:txBody>
                    <a:bodyPr/>
                    <a:lstStyle/>
                    <a:p>
                      <a:pPr algn="ctr"/>
                      <a:r>
                        <a:rPr lang="en-US"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Push 45,3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229902"/>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57158" y="857232"/>
            <a:ext cx="8358246" cy="535785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107504" y="44624"/>
            <a:ext cx="8072494" cy="7201972"/>
          </a:xfrm>
          <a:prstGeom prst="rect">
            <a:avLst/>
          </a:prstGeom>
          <a:noFill/>
        </p:spPr>
        <p:txBody>
          <a:bodyPr wrap="square" rtlCol="0">
            <a:spAutoFit/>
          </a:bodyPr>
          <a:lstStyle/>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case divide: push(</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opl</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/op2);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break;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case mod: push(opl%op2);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break;</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token =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getToken</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(&amp;symbol, &amp;n); }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pop(); /* return result */ } </a:t>
            </a:r>
          </a:p>
          <a:p>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Program: Function to get a token from the input string</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precedence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getToken</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(char *symbol, int *n)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*symbol = expr[(*n)++];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switch (*symbol)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case '(‘ :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lparen</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rparen</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plus; </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minus; </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divide; </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times;</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mod;</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case ' ‘ :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eos</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default: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operand; </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57158" y="357166"/>
            <a:ext cx="8358246" cy="535785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00042"/>
            <a:ext cx="8072494" cy="6524863"/>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function eval ( ) contains the code to evaluate a postfix expression. Since an operand (symbol) is initially a character, convert it into a single digit integer.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 convert use the statement, symbol-'0'. The statement takes the ASCII value of symbol and subtracts the ASCII value of '0', which is 48, from it. For example, suppose symbol = '1. The character '1' has an ASCII value of 49. Therefore, the statement symbol-'0' produces as result the number 1.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function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getToken</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obtain tokens from the expression string. If the token is an operand, convert it to a number and add it to the stack. Otherwise remove two operands from the stack, perform the specified operation, and place the result back on the stack. When the end of expression is reached, remove the result from the stack.</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5 6 2 + * 12 4 /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 :  Symbol = 3 then 51-48 = 3</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ASCII Values : 0 = 48, 1=49, 2=50…..</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57158" y="857232"/>
            <a:ext cx="8358246" cy="535785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889702"/>
            <a:ext cx="8072494" cy="3508653"/>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recursive procedure Suppose P is a procedure containing either a Call statement to itself or a Call statement to a second procedure that may eventually result in a Call statement back to the original procedure P. Then P is called a recursive procedure. So that the program will not continue to run indefinitely, a recursive procedure must have the following two properties: 1. There must be certain criteria, called base criteria, for which the procedure does not call itself. 2. Each time the procedure does call itself (directly or indirectly), it must be closer to the base criteria.</a:t>
            </a: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1809</TotalTime>
  <Words>3059</Words>
  <Application>Microsoft Office PowerPoint</Application>
  <PresentationFormat>On-screen Show (4:3)</PresentationFormat>
  <Paragraphs>343</Paragraphs>
  <Slides>29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Algerian</vt:lpstr>
      <vt:lpstr>Aptos</vt:lpstr>
      <vt:lpstr>Arial</vt:lpstr>
      <vt:lpstr>Lucida Sans Unicode</vt:lpstr>
      <vt:lpstr>Times New Roman</vt:lpstr>
      <vt:lpstr>Verdana</vt:lpstr>
      <vt:lpstr>Wingdings 2</vt:lpstr>
      <vt:lpstr>Wingdings 3</vt:lpstr>
      <vt:lpstr>Concourse</vt:lpstr>
      <vt:lpstr>DATA STRUCTURES AND APPLICATIONS</vt:lpstr>
      <vt:lpstr>TextBooks</vt:lpstr>
      <vt:lpstr>TopICS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Programming using C</dc:title>
  <dc:creator>Windows User</dc:creator>
  <cp:lastModifiedBy>Priya HN</cp:lastModifiedBy>
  <cp:revision>98</cp:revision>
  <dcterms:created xsi:type="dcterms:W3CDTF">2025-08-29T01:00:54Z</dcterms:created>
  <dcterms:modified xsi:type="dcterms:W3CDTF">2025-10-11T06:15:28Z</dcterms:modified>
</cp:coreProperties>
</file>